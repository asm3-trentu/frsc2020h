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91"/>
  </p:notesMasterIdLst>
  <p:sldIdLst>
    <p:sldId id="258" r:id="rId3"/>
    <p:sldId id="411" r:id="rId4"/>
    <p:sldId id="415" r:id="rId5"/>
    <p:sldId id="423" r:id="rId6"/>
    <p:sldId id="437" r:id="rId7"/>
    <p:sldId id="556" r:id="rId8"/>
    <p:sldId id="557" r:id="rId9"/>
    <p:sldId id="558" r:id="rId10"/>
    <p:sldId id="559" r:id="rId11"/>
    <p:sldId id="560" r:id="rId12"/>
    <p:sldId id="563" r:id="rId13"/>
    <p:sldId id="565" r:id="rId14"/>
    <p:sldId id="439" r:id="rId15"/>
    <p:sldId id="686" r:id="rId16"/>
    <p:sldId id="687" r:id="rId17"/>
    <p:sldId id="694" r:id="rId18"/>
    <p:sldId id="688" r:id="rId19"/>
    <p:sldId id="449" r:id="rId20"/>
    <p:sldId id="689" r:id="rId21"/>
    <p:sldId id="690" r:id="rId22"/>
    <p:sldId id="691" r:id="rId23"/>
    <p:sldId id="453" r:id="rId24"/>
    <p:sldId id="454" r:id="rId25"/>
    <p:sldId id="455" r:id="rId26"/>
    <p:sldId id="456" r:id="rId27"/>
    <p:sldId id="457" r:id="rId28"/>
    <p:sldId id="458" r:id="rId29"/>
    <p:sldId id="692" r:id="rId30"/>
    <p:sldId id="677" r:id="rId31"/>
    <p:sldId id="564" r:id="rId32"/>
    <p:sldId id="669" r:id="rId33"/>
    <p:sldId id="700" r:id="rId34"/>
    <p:sldId id="696" r:id="rId35"/>
    <p:sldId id="697" r:id="rId36"/>
    <p:sldId id="259" r:id="rId37"/>
    <p:sldId id="318" r:id="rId38"/>
    <p:sldId id="317" r:id="rId39"/>
    <p:sldId id="316" r:id="rId40"/>
    <p:sldId id="651" r:id="rId41"/>
    <p:sldId id="698" r:id="rId42"/>
    <p:sldId id="448" r:id="rId43"/>
    <p:sldId id="441" r:id="rId44"/>
    <p:sldId id="442" r:id="rId45"/>
    <p:sldId id="656" r:id="rId46"/>
    <p:sldId id="443" r:id="rId47"/>
    <p:sldId id="444" r:id="rId48"/>
    <p:sldId id="445" r:id="rId49"/>
    <p:sldId id="683" r:id="rId50"/>
    <p:sldId id="446" r:id="rId51"/>
    <p:sldId id="447" r:id="rId52"/>
    <p:sldId id="428" r:id="rId53"/>
    <p:sldId id="450" r:id="rId54"/>
    <p:sldId id="452" r:id="rId55"/>
    <p:sldId id="451" r:id="rId56"/>
    <p:sldId id="664" r:id="rId57"/>
    <p:sldId id="671" r:id="rId58"/>
    <p:sldId id="673" r:id="rId59"/>
    <p:sldId id="675" r:id="rId60"/>
    <p:sldId id="674" r:id="rId61"/>
    <p:sldId id="682" r:id="rId62"/>
    <p:sldId id="679" r:id="rId63"/>
    <p:sldId id="680" r:id="rId64"/>
    <p:sldId id="681" r:id="rId65"/>
    <p:sldId id="652" r:id="rId66"/>
    <p:sldId id="348" r:id="rId67"/>
    <p:sldId id="654" r:id="rId68"/>
    <p:sldId id="351" r:id="rId69"/>
    <p:sldId id="352" r:id="rId70"/>
    <p:sldId id="353" r:id="rId71"/>
    <p:sldId id="354" r:id="rId72"/>
    <p:sldId id="347" r:id="rId73"/>
    <p:sldId id="356" r:id="rId74"/>
    <p:sldId id="357" r:id="rId75"/>
    <p:sldId id="358" r:id="rId76"/>
    <p:sldId id="363" r:id="rId77"/>
    <p:sldId id="359" r:id="rId78"/>
    <p:sldId id="361" r:id="rId79"/>
    <p:sldId id="362" r:id="rId80"/>
    <p:sldId id="364" r:id="rId81"/>
    <p:sldId id="655" r:id="rId82"/>
    <p:sldId id="366" r:id="rId83"/>
    <p:sldId id="367" r:id="rId84"/>
    <p:sldId id="368" r:id="rId85"/>
    <p:sldId id="369" r:id="rId86"/>
    <p:sldId id="370" r:id="rId87"/>
    <p:sldId id="372" r:id="rId88"/>
    <p:sldId id="371" r:id="rId89"/>
    <p:sldId id="699"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E0B4"/>
    <a:srgbClr val="1857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CCE792-CD69-BE40-BC2D-4F82C618D3EA}" v="42" dt="2026-01-11T15:38:52.9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71027"/>
  </p:normalViewPr>
  <p:slideViewPr>
    <p:cSldViewPr snapToGrid="0">
      <p:cViewPr varScale="1">
        <p:scale>
          <a:sx n="84" d="100"/>
          <a:sy n="84" d="100"/>
        </p:scale>
        <p:origin x="10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tableStyles" Target="tableStyle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notesMaster" Target="notesMasters/notesMaster1.xml"/><Relationship Id="rId9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02836D-E5DE-5A4D-94ED-73FBAB7A471D}" type="datetimeFigureOut">
              <a:rPr lang="en-CA" smtClean="0"/>
              <a:t>2026-10-12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3F9C09-0E0B-E44E-B047-0A211555CE69}" type="slidenum">
              <a:rPr lang="en-CA" smtClean="0"/>
              <a:t>‹#›</a:t>
            </a:fld>
            <a:endParaRPr lang="en-CA"/>
          </a:p>
        </p:txBody>
      </p:sp>
    </p:spTree>
    <p:extLst>
      <p:ext uri="{BB962C8B-B14F-4D97-AF65-F5344CB8AC3E}">
        <p14:creationId xmlns:p14="http://schemas.microsoft.com/office/powerpoint/2010/main" val="1016247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533118-9A71-E146-ABAE-1207475BB8A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4325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highlight the word ”deeper” here is relative.. The depth of research I need to do to solve a problem may be different than you need to do to solve the same problem, just because of our different experience levels AND based on the complexity of the problem they are trying to solve or the importance of the decision they are trying to make</a:t>
            </a:r>
          </a:p>
        </p:txBody>
      </p:sp>
      <p:sp>
        <p:nvSpPr>
          <p:cNvPr id="4" name="Slide Number Placeholder 3"/>
          <p:cNvSpPr>
            <a:spLocks noGrp="1"/>
          </p:cNvSpPr>
          <p:nvPr>
            <p:ph type="sldNum" sz="quarter" idx="5"/>
          </p:nvPr>
        </p:nvSpPr>
        <p:spPr/>
        <p:txBody>
          <a:bodyPr/>
          <a:lstStyle/>
          <a:p>
            <a:fld id="{D23F9C09-0E0B-E44E-B047-0A211555CE69}" type="slidenum">
              <a:rPr lang="en-CA" smtClean="0"/>
              <a:t>3</a:t>
            </a:fld>
            <a:endParaRPr lang="en-CA"/>
          </a:p>
        </p:txBody>
      </p:sp>
    </p:spTree>
    <p:extLst>
      <p:ext uri="{BB962C8B-B14F-4D97-AF65-F5344CB8AC3E}">
        <p14:creationId xmlns:p14="http://schemas.microsoft.com/office/powerpoint/2010/main" val="1700460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rubric and template</a:t>
            </a:r>
          </a:p>
        </p:txBody>
      </p:sp>
      <p:sp>
        <p:nvSpPr>
          <p:cNvPr id="4" name="Slide Number Placeholder 3"/>
          <p:cNvSpPr>
            <a:spLocks noGrp="1"/>
          </p:cNvSpPr>
          <p:nvPr>
            <p:ph type="sldNum" sz="quarter" idx="5"/>
          </p:nvPr>
        </p:nvSpPr>
        <p:spPr/>
        <p:txBody>
          <a:bodyPr/>
          <a:lstStyle/>
          <a:p>
            <a:fld id="{D23F9C09-0E0B-E44E-B047-0A211555CE69}" type="slidenum">
              <a:rPr lang="en-CA" smtClean="0"/>
              <a:t>32</a:t>
            </a:fld>
            <a:endParaRPr lang="en-CA"/>
          </a:p>
        </p:txBody>
      </p:sp>
    </p:spTree>
    <p:extLst>
      <p:ext uri="{BB962C8B-B14F-4D97-AF65-F5344CB8AC3E}">
        <p14:creationId xmlns:p14="http://schemas.microsoft.com/office/powerpoint/2010/main" val="1522133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3F9C09-0E0B-E44E-B047-0A211555CE69}" type="slidenum">
              <a:rPr lang="en-CA" smtClean="0"/>
              <a:t>40</a:t>
            </a:fld>
            <a:endParaRPr lang="en-CA"/>
          </a:p>
        </p:txBody>
      </p:sp>
    </p:spTree>
    <p:extLst>
      <p:ext uri="{BB962C8B-B14F-4D97-AF65-F5344CB8AC3E}">
        <p14:creationId xmlns:p14="http://schemas.microsoft.com/office/powerpoint/2010/main" val="3629038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3F9C09-0E0B-E44E-B047-0A211555CE69}" type="slidenum">
              <a:rPr lang="en-CA" smtClean="0"/>
              <a:t>56</a:t>
            </a:fld>
            <a:endParaRPr lang="en-CA"/>
          </a:p>
        </p:txBody>
      </p:sp>
    </p:spTree>
    <p:extLst>
      <p:ext uri="{BB962C8B-B14F-4D97-AF65-F5344CB8AC3E}">
        <p14:creationId xmlns:p14="http://schemas.microsoft.com/office/powerpoint/2010/main" val="1095436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4C533118-9A71-E146-ABAE-1207475BB8A9}" type="slidenum">
              <a:rPr lang="en-US" smtClean="0"/>
              <a:t>68</a:t>
            </a:fld>
            <a:endParaRPr lang="en-US"/>
          </a:p>
        </p:txBody>
      </p:sp>
    </p:spTree>
    <p:extLst>
      <p:ext uri="{BB962C8B-B14F-4D97-AF65-F5344CB8AC3E}">
        <p14:creationId xmlns:p14="http://schemas.microsoft.com/office/powerpoint/2010/main" val="3271443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4C533118-9A71-E146-ABAE-1207475BB8A9}" type="slidenum">
              <a:rPr lang="en-US" smtClean="0"/>
              <a:t>81</a:t>
            </a:fld>
            <a:endParaRPr lang="en-US"/>
          </a:p>
        </p:txBody>
      </p:sp>
    </p:spTree>
    <p:extLst>
      <p:ext uri="{BB962C8B-B14F-4D97-AF65-F5344CB8AC3E}">
        <p14:creationId xmlns:p14="http://schemas.microsoft.com/office/powerpoint/2010/main" val="370970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4C533118-9A71-E146-ABAE-1207475BB8A9}" type="slidenum">
              <a:rPr lang="en-US" smtClean="0"/>
              <a:t>82</a:t>
            </a:fld>
            <a:endParaRPr lang="en-US"/>
          </a:p>
        </p:txBody>
      </p:sp>
    </p:spTree>
    <p:extLst>
      <p:ext uri="{BB962C8B-B14F-4D97-AF65-F5344CB8AC3E}">
        <p14:creationId xmlns:p14="http://schemas.microsoft.com/office/powerpoint/2010/main" val="22330610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4C533118-9A71-E146-ABAE-1207475BB8A9}" type="slidenum">
              <a:rPr lang="en-US" smtClean="0"/>
              <a:t>83</a:t>
            </a:fld>
            <a:endParaRPr lang="en-US"/>
          </a:p>
        </p:txBody>
      </p:sp>
    </p:spTree>
    <p:extLst>
      <p:ext uri="{BB962C8B-B14F-4D97-AF65-F5344CB8AC3E}">
        <p14:creationId xmlns:p14="http://schemas.microsoft.com/office/powerpoint/2010/main" val="2076821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4C533118-9A71-E146-ABAE-1207475BB8A9}" type="slidenum">
              <a:rPr lang="en-US" smtClean="0"/>
              <a:t>84</a:t>
            </a:fld>
            <a:endParaRPr lang="en-US"/>
          </a:p>
        </p:txBody>
      </p:sp>
    </p:spTree>
    <p:extLst>
      <p:ext uri="{BB962C8B-B14F-4D97-AF65-F5344CB8AC3E}">
        <p14:creationId xmlns:p14="http://schemas.microsoft.com/office/powerpoint/2010/main" val="26987715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4C533118-9A71-E146-ABAE-1207475BB8A9}" type="slidenum">
              <a:rPr lang="en-US" smtClean="0"/>
              <a:t>85</a:t>
            </a:fld>
            <a:endParaRPr lang="en-US"/>
          </a:p>
        </p:txBody>
      </p:sp>
    </p:spTree>
    <p:extLst>
      <p:ext uri="{BB962C8B-B14F-4D97-AF65-F5344CB8AC3E}">
        <p14:creationId xmlns:p14="http://schemas.microsoft.com/office/powerpoint/2010/main" val="3053849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4C533118-9A71-E146-ABAE-1207475BB8A9}" type="slidenum">
              <a:rPr lang="en-US" smtClean="0"/>
              <a:t>86</a:t>
            </a:fld>
            <a:endParaRPr lang="en-US"/>
          </a:p>
        </p:txBody>
      </p:sp>
    </p:spTree>
    <p:extLst>
      <p:ext uri="{BB962C8B-B14F-4D97-AF65-F5344CB8AC3E}">
        <p14:creationId xmlns:p14="http://schemas.microsoft.com/office/powerpoint/2010/main" val="27372819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3F9C09-0E0B-E44E-B047-0A211555CE69}" type="slidenum">
              <a:rPr lang="en-CA" smtClean="0"/>
              <a:t>87</a:t>
            </a:fld>
            <a:endParaRPr lang="en-CA"/>
          </a:p>
        </p:txBody>
      </p:sp>
    </p:spTree>
    <p:extLst>
      <p:ext uri="{BB962C8B-B14F-4D97-AF65-F5344CB8AC3E}">
        <p14:creationId xmlns:p14="http://schemas.microsoft.com/office/powerpoint/2010/main" val="1436641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91B61-BB7C-BDFE-61FC-6BE15DC41384}"/>
              </a:ext>
            </a:extLst>
          </p:cNvPr>
          <p:cNvSpPr>
            <a:spLocks noGrp="1"/>
          </p:cNvSpPr>
          <p:nvPr>
            <p:ph type="ctrTitle"/>
          </p:nvPr>
        </p:nvSpPr>
        <p:spPr>
          <a:xfrm>
            <a:off x="1524000" y="1122363"/>
            <a:ext cx="9144000" cy="2387600"/>
          </a:xfrm>
        </p:spPr>
        <p:txBody>
          <a:bodyPr anchor="b"/>
          <a:lstStyle>
            <a:lvl1pPr algn="ctr">
              <a:defRPr sz="6000" b="0" i="0">
                <a:latin typeface="Arial Nova Light" panose="020B03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885BA21A-6D58-6F15-CBA1-92F205DD5512}"/>
              </a:ext>
            </a:extLst>
          </p:cNvPr>
          <p:cNvSpPr>
            <a:spLocks noGrp="1"/>
          </p:cNvSpPr>
          <p:nvPr>
            <p:ph type="subTitle" idx="1"/>
          </p:nvPr>
        </p:nvSpPr>
        <p:spPr>
          <a:xfrm>
            <a:off x="1524000" y="3602038"/>
            <a:ext cx="9144000" cy="1655762"/>
          </a:xfrm>
        </p:spPr>
        <p:txBody>
          <a:bodyPr/>
          <a:lstStyle>
            <a:lvl1pPr marL="0" indent="0" algn="ctr">
              <a:buNone/>
              <a:defRPr sz="2400" b="0" i="0">
                <a:latin typeface="Arial Nova Light" panose="020B03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6B4406-0388-9126-992B-A30B7FCAC453}"/>
              </a:ext>
            </a:extLst>
          </p:cNvPr>
          <p:cNvSpPr>
            <a:spLocks noGrp="1"/>
          </p:cNvSpPr>
          <p:nvPr>
            <p:ph type="dt" sz="half" idx="10"/>
          </p:nvPr>
        </p:nvSpPr>
        <p:spPr/>
        <p:txBody>
          <a:bodyPr/>
          <a:lstStyle>
            <a:lvl1pPr>
              <a:defRPr b="0" i="0">
                <a:latin typeface="Arial Nova Light" panose="020B0304020202020204" pitchFamily="34" charset="0"/>
              </a:defRPr>
            </a:lvl1pPr>
          </a:lstStyle>
          <a:p>
            <a:fld id="{BF77DDD2-0D36-5A42-A68D-975F920B749B}" type="datetime1">
              <a:rPr lang="en-CA" smtClean="0"/>
              <a:t>2026-10-12</a:t>
            </a:fld>
            <a:endParaRPr lang="en-US"/>
          </a:p>
        </p:txBody>
      </p:sp>
      <p:sp>
        <p:nvSpPr>
          <p:cNvPr id="5" name="Footer Placeholder 4">
            <a:extLst>
              <a:ext uri="{FF2B5EF4-FFF2-40B4-BE49-F238E27FC236}">
                <a16:creationId xmlns:a16="http://schemas.microsoft.com/office/drawing/2014/main" id="{CAA15A63-E8B5-3E30-FDC6-B5802EA1AD52}"/>
              </a:ext>
            </a:extLst>
          </p:cNvPr>
          <p:cNvSpPr>
            <a:spLocks noGrp="1"/>
          </p:cNvSpPr>
          <p:nvPr>
            <p:ph type="ftr" sz="quarter" idx="11"/>
          </p:nvPr>
        </p:nvSpPr>
        <p:spPr/>
        <p:txBody>
          <a:bodyPr/>
          <a:lstStyle>
            <a:lvl1pPr>
              <a:defRPr b="0" i="0">
                <a:latin typeface="Arial Nova Light" panose="020B0304020202020204" pitchFamily="34" charset="0"/>
              </a:defRPr>
            </a:lvl1pPr>
          </a:lstStyle>
          <a:p>
            <a:r>
              <a:rPr lang="en-US"/>
              <a:t>FRSC 2020H – Copyright Arun S. Moorthy</a:t>
            </a:r>
          </a:p>
        </p:txBody>
      </p:sp>
      <p:sp>
        <p:nvSpPr>
          <p:cNvPr id="6" name="Slide Number Placeholder 5">
            <a:extLst>
              <a:ext uri="{FF2B5EF4-FFF2-40B4-BE49-F238E27FC236}">
                <a16:creationId xmlns:a16="http://schemas.microsoft.com/office/drawing/2014/main" id="{63E4ABDC-D1D4-0E07-57AD-724E7E118529}"/>
              </a:ext>
            </a:extLst>
          </p:cNvPr>
          <p:cNvSpPr>
            <a:spLocks noGrp="1"/>
          </p:cNvSpPr>
          <p:nvPr>
            <p:ph type="sldNum" sz="quarter" idx="12"/>
          </p:nvPr>
        </p:nvSpPr>
        <p:spPr/>
        <p:txBody>
          <a:bodyPr/>
          <a:lstStyle>
            <a:lvl1pPr>
              <a:defRPr b="0" i="0">
                <a:latin typeface="Arial Nova Light" panose="020B0304020202020204" pitchFamily="34" charset="0"/>
              </a:defRPr>
            </a:lvl1pPr>
          </a:lstStyle>
          <a:p>
            <a:fld id="{6DA4232D-B1A8-3545-B2AB-EFD66B74CB19}" type="slidenum">
              <a:rPr lang="en-US" smtClean="0"/>
              <a:pPr/>
              <a:t>‹#›</a:t>
            </a:fld>
            <a:endParaRPr lang="en-US"/>
          </a:p>
        </p:txBody>
      </p:sp>
    </p:spTree>
    <p:extLst>
      <p:ext uri="{BB962C8B-B14F-4D97-AF65-F5344CB8AC3E}">
        <p14:creationId xmlns:p14="http://schemas.microsoft.com/office/powerpoint/2010/main" val="2821516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97BB2-8ACC-6A57-39C0-BB70AAEEE124}"/>
              </a:ext>
            </a:extLst>
          </p:cNvPr>
          <p:cNvSpPr>
            <a:spLocks noGrp="1"/>
          </p:cNvSpPr>
          <p:nvPr>
            <p:ph type="title"/>
          </p:nvPr>
        </p:nvSpPr>
        <p:spPr/>
        <p:txBody>
          <a:bodyPr/>
          <a:lstStyle>
            <a:lvl1pPr>
              <a:defRPr b="0" i="0">
                <a:latin typeface="Arial Nova Light" panose="020B03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44A1D455-7A0E-B855-7A0C-BAA4B51C30DA}"/>
              </a:ext>
            </a:extLst>
          </p:cNvPr>
          <p:cNvSpPr>
            <a:spLocks noGrp="1"/>
          </p:cNvSpPr>
          <p:nvPr>
            <p:ph idx="1"/>
          </p:nvPr>
        </p:nvSpPr>
        <p:spPr/>
        <p:txBody>
          <a:bodyPr/>
          <a:lstStyle>
            <a:lvl1pPr>
              <a:defRPr b="0" i="0">
                <a:latin typeface="Arial Nova Light" panose="020B0304020202020204" pitchFamily="34" charset="0"/>
              </a:defRPr>
            </a:lvl1pPr>
            <a:lvl2pPr>
              <a:defRPr b="0" i="0">
                <a:latin typeface="Arial Nova Light" panose="020B0304020202020204" pitchFamily="34" charset="0"/>
              </a:defRPr>
            </a:lvl2pPr>
            <a:lvl3pPr>
              <a:defRPr b="0" i="0">
                <a:latin typeface="Arial Nova Light" panose="020B0304020202020204" pitchFamily="34" charset="0"/>
              </a:defRPr>
            </a:lvl3pPr>
            <a:lvl4pPr>
              <a:defRPr b="0" i="0">
                <a:latin typeface="Arial Nova Light" panose="020B0304020202020204" pitchFamily="34" charset="0"/>
              </a:defRPr>
            </a:lvl4pPr>
            <a:lvl5pPr>
              <a:defRPr b="0" i="0">
                <a:latin typeface="Arial Nova Light" panose="020B03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F0AEC-CFDE-33C3-3DCA-E564F5E03EBE}"/>
              </a:ext>
            </a:extLst>
          </p:cNvPr>
          <p:cNvSpPr>
            <a:spLocks noGrp="1"/>
          </p:cNvSpPr>
          <p:nvPr>
            <p:ph type="dt" sz="half" idx="10"/>
          </p:nvPr>
        </p:nvSpPr>
        <p:spPr/>
        <p:txBody>
          <a:bodyPr/>
          <a:lstStyle>
            <a:lvl1pPr>
              <a:defRPr b="0" i="0">
                <a:latin typeface="Arial Nova Light" panose="020B0304020202020204" pitchFamily="34" charset="0"/>
              </a:defRPr>
            </a:lvl1pPr>
          </a:lstStyle>
          <a:p>
            <a:fld id="{760E9B66-2478-B247-9710-D0A35A1BB57B}" type="datetime1">
              <a:rPr lang="en-CA" smtClean="0"/>
              <a:t>2026-10-12</a:t>
            </a:fld>
            <a:endParaRPr lang="en-US"/>
          </a:p>
        </p:txBody>
      </p:sp>
      <p:sp>
        <p:nvSpPr>
          <p:cNvPr id="5" name="Footer Placeholder 4">
            <a:extLst>
              <a:ext uri="{FF2B5EF4-FFF2-40B4-BE49-F238E27FC236}">
                <a16:creationId xmlns:a16="http://schemas.microsoft.com/office/drawing/2014/main" id="{57C33C79-9C2C-3D92-6ACD-4C0E64663FF3}"/>
              </a:ext>
            </a:extLst>
          </p:cNvPr>
          <p:cNvSpPr>
            <a:spLocks noGrp="1"/>
          </p:cNvSpPr>
          <p:nvPr>
            <p:ph type="ftr" sz="quarter" idx="11"/>
          </p:nvPr>
        </p:nvSpPr>
        <p:spPr/>
        <p:txBody>
          <a:bodyPr/>
          <a:lstStyle>
            <a:lvl1pPr>
              <a:defRPr b="0" i="0">
                <a:latin typeface="Arial Nova Light" panose="020B0304020202020204" pitchFamily="34" charset="0"/>
              </a:defRPr>
            </a:lvl1pPr>
          </a:lstStyle>
          <a:p>
            <a:r>
              <a:rPr lang="en-US"/>
              <a:t>FRSC 2020H – Copyright Arun S. Moorthy</a:t>
            </a:r>
          </a:p>
        </p:txBody>
      </p:sp>
      <p:sp>
        <p:nvSpPr>
          <p:cNvPr id="6" name="Slide Number Placeholder 5">
            <a:extLst>
              <a:ext uri="{FF2B5EF4-FFF2-40B4-BE49-F238E27FC236}">
                <a16:creationId xmlns:a16="http://schemas.microsoft.com/office/drawing/2014/main" id="{D34B242B-44A4-80A9-DEE1-FCD1B726F70B}"/>
              </a:ext>
            </a:extLst>
          </p:cNvPr>
          <p:cNvSpPr>
            <a:spLocks noGrp="1"/>
          </p:cNvSpPr>
          <p:nvPr>
            <p:ph type="sldNum" sz="quarter" idx="12"/>
          </p:nvPr>
        </p:nvSpPr>
        <p:spPr/>
        <p:txBody>
          <a:bodyPr/>
          <a:lstStyle>
            <a:lvl1pPr>
              <a:defRPr b="0" i="0">
                <a:latin typeface="Arial Nova Light" panose="020B0304020202020204" pitchFamily="34" charset="0"/>
              </a:defRPr>
            </a:lvl1pPr>
          </a:lstStyle>
          <a:p>
            <a:fld id="{6DA4232D-B1A8-3545-B2AB-EFD66B74CB19}" type="slidenum">
              <a:rPr lang="en-US" smtClean="0"/>
              <a:pPr/>
              <a:t>‹#›</a:t>
            </a:fld>
            <a:endParaRPr lang="en-US"/>
          </a:p>
        </p:txBody>
      </p:sp>
    </p:spTree>
    <p:extLst>
      <p:ext uri="{BB962C8B-B14F-4D97-AF65-F5344CB8AC3E}">
        <p14:creationId xmlns:p14="http://schemas.microsoft.com/office/powerpoint/2010/main" val="3232661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ECCAA-F692-BA88-7FA1-EF6FF6399A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51F40F1-58FB-B2C3-8F25-E4F7648E70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616D29-8E1F-3EF9-9782-6ED1EA9982D1}"/>
              </a:ext>
            </a:extLst>
          </p:cNvPr>
          <p:cNvSpPr>
            <a:spLocks noGrp="1"/>
          </p:cNvSpPr>
          <p:nvPr>
            <p:ph type="dt" sz="half" idx="10"/>
          </p:nvPr>
        </p:nvSpPr>
        <p:spPr/>
        <p:txBody>
          <a:bodyPr/>
          <a:lstStyle/>
          <a:p>
            <a:fld id="{B15F7141-B8C8-294F-B33C-6B2611ACF7A8}" type="datetime1">
              <a:rPr lang="en-CA" smtClean="0"/>
              <a:t>2026-10-12</a:t>
            </a:fld>
            <a:endParaRPr lang="en-US"/>
          </a:p>
        </p:txBody>
      </p:sp>
      <p:sp>
        <p:nvSpPr>
          <p:cNvPr id="5" name="Footer Placeholder 4">
            <a:extLst>
              <a:ext uri="{FF2B5EF4-FFF2-40B4-BE49-F238E27FC236}">
                <a16:creationId xmlns:a16="http://schemas.microsoft.com/office/drawing/2014/main" id="{1C96CA3F-8743-505F-F0E0-FAD5800466FC}"/>
              </a:ext>
            </a:extLst>
          </p:cNvPr>
          <p:cNvSpPr>
            <a:spLocks noGrp="1"/>
          </p:cNvSpPr>
          <p:nvPr>
            <p:ph type="ftr" sz="quarter" idx="11"/>
          </p:nvPr>
        </p:nvSpPr>
        <p:spPr/>
        <p:txBody>
          <a:bodyPr/>
          <a:lstStyle/>
          <a:p>
            <a:r>
              <a:rPr lang="en-US"/>
              <a:t>FRSC 2020H – Copyright Arun S. Moorthy</a:t>
            </a:r>
          </a:p>
        </p:txBody>
      </p:sp>
      <p:sp>
        <p:nvSpPr>
          <p:cNvPr id="6" name="Slide Number Placeholder 5">
            <a:extLst>
              <a:ext uri="{FF2B5EF4-FFF2-40B4-BE49-F238E27FC236}">
                <a16:creationId xmlns:a16="http://schemas.microsoft.com/office/drawing/2014/main" id="{97BE7363-55F5-A56D-17DD-4B4468855B08}"/>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2509826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3BDE2-9144-F1CC-94C3-E77B991EB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717007-1B98-152C-5881-A5AC6CB8D6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2C8399-656D-1A16-19D5-D9E183DA96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9D89B9-32ED-9A3B-CC3B-D4CD45DFE983}"/>
              </a:ext>
            </a:extLst>
          </p:cNvPr>
          <p:cNvSpPr>
            <a:spLocks noGrp="1"/>
          </p:cNvSpPr>
          <p:nvPr>
            <p:ph type="dt" sz="half" idx="10"/>
          </p:nvPr>
        </p:nvSpPr>
        <p:spPr/>
        <p:txBody>
          <a:bodyPr/>
          <a:lstStyle/>
          <a:p>
            <a:fld id="{32421CF9-09BF-5B47-984E-97BDFD566A28}" type="datetime1">
              <a:rPr lang="en-CA" smtClean="0"/>
              <a:t>2026-10-12</a:t>
            </a:fld>
            <a:endParaRPr lang="en-US"/>
          </a:p>
        </p:txBody>
      </p:sp>
      <p:sp>
        <p:nvSpPr>
          <p:cNvPr id="6" name="Footer Placeholder 5">
            <a:extLst>
              <a:ext uri="{FF2B5EF4-FFF2-40B4-BE49-F238E27FC236}">
                <a16:creationId xmlns:a16="http://schemas.microsoft.com/office/drawing/2014/main" id="{190BFDE2-3C9E-2AE7-DF89-C8E5CD129FC7}"/>
              </a:ext>
            </a:extLst>
          </p:cNvPr>
          <p:cNvSpPr>
            <a:spLocks noGrp="1"/>
          </p:cNvSpPr>
          <p:nvPr>
            <p:ph type="ftr" sz="quarter" idx="11"/>
          </p:nvPr>
        </p:nvSpPr>
        <p:spPr/>
        <p:txBody>
          <a:bodyPr/>
          <a:lstStyle/>
          <a:p>
            <a:r>
              <a:rPr lang="en-US"/>
              <a:t>FRSC 2020H – Copyright Arun S. Moorthy</a:t>
            </a:r>
          </a:p>
        </p:txBody>
      </p:sp>
      <p:sp>
        <p:nvSpPr>
          <p:cNvPr id="7" name="Slide Number Placeholder 6">
            <a:extLst>
              <a:ext uri="{FF2B5EF4-FFF2-40B4-BE49-F238E27FC236}">
                <a16:creationId xmlns:a16="http://schemas.microsoft.com/office/drawing/2014/main" id="{C6C3F53C-3A44-A23C-0311-24A411B8D8DF}"/>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237246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DE678-3948-9D1B-E9FB-21A3A388A5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EC2EC6-A79C-0C95-EF4B-50327E0506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61683B-A37D-9458-6072-F25E287F87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B51EB8E-FB8E-1956-627D-1187395482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E75B92-A96C-3C04-4CF3-2BF226B29A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1185B7-4EE6-36C4-052F-ADECD2DE0184}"/>
              </a:ext>
            </a:extLst>
          </p:cNvPr>
          <p:cNvSpPr>
            <a:spLocks noGrp="1"/>
          </p:cNvSpPr>
          <p:nvPr>
            <p:ph type="dt" sz="half" idx="10"/>
          </p:nvPr>
        </p:nvSpPr>
        <p:spPr/>
        <p:txBody>
          <a:bodyPr/>
          <a:lstStyle/>
          <a:p>
            <a:fld id="{5102E8C5-EB43-984A-8310-B3ECF700AD40}" type="datetime1">
              <a:rPr lang="en-CA" smtClean="0"/>
              <a:t>2026-10-12</a:t>
            </a:fld>
            <a:endParaRPr lang="en-US"/>
          </a:p>
        </p:txBody>
      </p:sp>
      <p:sp>
        <p:nvSpPr>
          <p:cNvPr id="8" name="Footer Placeholder 7">
            <a:extLst>
              <a:ext uri="{FF2B5EF4-FFF2-40B4-BE49-F238E27FC236}">
                <a16:creationId xmlns:a16="http://schemas.microsoft.com/office/drawing/2014/main" id="{D3ADCD9F-9A68-5C68-6DDC-1DB5DE61CA77}"/>
              </a:ext>
            </a:extLst>
          </p:cNvPr>
          <p:cNvSpPr>
            <a:spLocks noGrp="1"/>
          </p:cNvSpPr>
          <p:nvPr>
            <p:ph type="ftr" sz="quarter" idx="11"/>
          </p:nvPr>
        </p:nvSpPr>
        <p:spPr/>
        <p:txBody>
          <a:bodyPr/>
          <a:lstStyle/>
          <a:p>
            <a:r>
              <a:rPr lang="en-US"/>
              <a:t>FRSC 2020H – Copyright Arun S. Moorthy</a:t>
            </a:r>
          </a:p>
        </p:txBody>
      </p:sp>
      <p:sp>
        <p:nvSpPr>
          <p:cNvPr id="9" name="Slide Number Placeholder 8">
            <a:extLst>
              <a:ext uri="{FF2B5EF4-FFF2-40B4-BE49-F238E27FC236}">
                <a16:creationId xmlns:a16="http://schemas.microsoft.com/office/drawing/2014/main" id="{BF152788-4282-A4F5-8CFE-FA34E417C875}"/>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1417654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346DC-4A13-C9B4-0278-F2892BA72A1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9567CD3-0A33-A174-7D68-4FA2A50FCBD7}"/>
              </a:ext>
            </a:extLst>
          </p:cNvPr>
          <p:cNvSpPr>
            <a:spLocks noGrp="1"/>
          </p:cNvSpPr>
          <p:nvPr>
            <p:ph type="dt" sz="half" idx="10"/>
          </p:nvPr>
        </p:nvSpPr>
        <p:spPr/>
        <p:txBody>
          <a:bodyPr/>
          <a:lstStyle/>
          <a:p>
            <a:fld id="{48F069FB-9B2F-0349-B864-78A27492C366}" type="datetime1">
              <a:rPr lang="en-CA" smtClean="0"/>
              <a:t>2026-10-12</a:t>
            </a:fld>
            <a:endParaRPr lang="en-US"/>
          </a:p>
        </p:txBody>
      </p:sp>
      <p:sp>
        <p:nvSpPr>
          <p:cNvPr id="4" name="Footer Placeholder 3">
            <a:extLst>
              <a:ext uri="{FF2B5EF4-FFF2-40B4-BE49-F238E27FC236}">
                <a16:creationId xmlns:a16="http://schemas.microsoft.com/office/drawing/2014/main" id="{31BF2E82-5B4B-3586-A48E-5A6095651E3B}"/>
              </a:ext>
            </a:extLst>
          </p:cNvPr>
          <p:cNvSpPr>
            <a:spLocks noGrp="1"/>
          </p:cNvSpPr>
          <p:nvPr>
            <p:ph type="ftr" sz="quarter" idx="11"/>
          </p:nvPr>
        </p:nvSpPr>
        <p:spPr/>
        <p:txBody>
          <a:bodyPr/>
          <a:lstStyle/>
          <a:p>
            <a:r>
              <a:rPr lang="en-US"/>
              <a:t>FRSC 2020H – Copyright Arun S. Moorthy</a:t>
            </a:r>
          </a:p>
        </p:txBody>
      </p:sp>
      <p:sp>
        <p:nvSpPr>
          <p:cNvPr id="5" name="Slide Number Placeholder 4">
            <a:extLst>
              <a:ext uri="{FF2B5EF4-FFF2-40B4-BE49-F238E27FC236}">
                <a16:creationId xmlns:a16="http://schemas.microsoft.com/office/drawing/2014/main" id="{BC9C3A85-99F5-5319-F724-46AEEE06A6F5}"/>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33708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CB9D64-4EF4-ABA5-A9F8-8A1375193FAF}"/>
              </a:ext>
            </a:extLst>
          </p:cNvPr>
          <p:cNvSpPr>
            <a:spLocks noGrp="1"/>
          </p:cNvSpPr>
          <p:nvPr>
            <p:ph type="dt" sz="half" idx="10"/>
          </p:nvPr>
        </p:nvSpPr>
        <p:spPr/>
        <p:txBody>
          <a:bodyPr/>
          <a:lstStyle>
            <a:lvl1pPr>
              <a:defRPr b="0" i="0">
                <a:latin typeface="Arial Nova Light" panose="020B0304020202020204" pitchFamily="34" charset="0"/>
              </a:defRPr>
            </a:lvl1pPr>
          </a:lstStyle>
          <a:p>
            <a:fld id="{27B0EA4E-B504-5544-A62E-7DD1B4A82DEB}" type="datetime1">
              <a:rPr lang="en-CA" smtClean="0"/>
              <a:t>2026-10-12</a:t>
            </a:fld>
            <a:endParaRPr lang="en-US"/>
          </a:p>
        </p:txBody>
      </p:sp>
      <p:sp>
        <p:nvSpPr>
          <p:cNvPr id="3" name="Footer Placeholder 2">
            <a:extLst>
              <a:ext uri="{FF2B5EF4-FFF2-40B4-BE49-F238E27FC236}">
                <a16:creationId xmlns:a16="http://schemas.microsoft.com/office/drawing/2014/main" id="{45AFE3AA-9E5C-EAB2-A20A-83D472885269}"/>
              </a:ext>
            </a:extLst>
          </p:cNvPr>
          <p:cNvSpPr>
            <a:spLocks noGrp="1"/>
          </p:cNvSpPr>
          <p:nvPr>
            <p:ph type="ftr" sz="quarter" idx="11"/>
          </p:nvPr>
        </p:nvSpPr>
        <p:spPr/>
        <p:txBody>
          <a:bodyPr/>
          <a:lstStyle>
            <a:lvl1pPr>
              <a:defRPr b="0" i="0">
                <a:latin typeface="Arial Nova Light" panose="020B0304020202020204" pitchFamily="34" charset="0"/>
              </a:defRPr>
            </a:lvl1pPr>
          </a:lstStyle>
          <a:p>
            <a:r>
              <a:rPr lang="en-US"/>
              <a:t>FRSC 2020H – Copyright Arun S. Moorthy</a:t>
            </a:r>
          </a:p>
        </p:txBody>
      </p:sp>
      <p:sp>
        <p:nvSpPr>
          <p:cNvPr id="4" name="Slide Number Placeholder 3">
            <a:extLst>
              <a:ext uri="{FF2B5EF4-FFF2-40B4-BE49-F238E27FC236}">
                <a16:creationId xmlns:a16="http://schemas.microsoft.com/office/drawing/2014/main" id="{0BDC1E07-D90C-800B-9CD6-011D16A7B4BA}"/>
              </a:ext>
            </a:extLst>
          </p:cNvPr>
          <p:cNvSpPr>
            <a:spLocks noGrp="1"/>
          </p:cNvSpPr>
          <p:nvPr>
            <p:ph type="sldNum" sz="quarter" idx="12"/>
          </p:nvPr>
        </p:nvSpPr>
        <p:spPr/>
        <p:txBody>
          <a:bodyPr/>
          <a:lstStyle>
            <a:lvl1pPr>
              <a:defRPr b="0" i="0">
                <a:latin typeface="Arial Nova Light" panose="020B0304020202020204" pitchFamily="34" charset="0"/>
              </a:defRPr>
            </a:lvl1pPr>
          </a:lstStyle>
          <a:p>
            <a:fld id="{6DA4232D-B1A8-3545-B2AB-EFD66B74CB19}" type="slidenum">
              <a:rPr lang="en-US" smtClean="0"/>
              <a:pPr/>
              <a:t>‹#›</a:t>
            </a:fld>
            <a:endParaRPr lang="en-US"/>
          </a:p>
        </p:txBody>
      </p:sp>
    </p:spTree>
    <p:extLst>
      <p:ext uri="{BB962C8B-B14F-4D97-AF65-F5344CB8AC3E}">
        <p14:creationId xmlns:p14="http://schemas.microsoft.com/office/powerpoint/2010/main" val="3218232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C3D31-3236-662B-7EBA-A5B22BC6AF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2C65BC-054E-67AF-B0AD-8B71A8FB94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05EE51-67E1-285B-8867-66E870D703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C2325B-53AF-6609-314D-A26DB42010EB}"/>
              </a:ext>
            </a:extLst>
          </p:cNvPr>
          <p:cNvSpPr>
            <a:spLocks noGrp="1"/>
          </p:cNvSpPr>
          <p:nvPr>
            <p:ph type="dt" sz="half" idx="10"/>
          </p:nvPr>
        </p:nvSpPr>
        <p:spPr/>
        <p:txBody>
          <a:bodyPr/>
          <a:lstStyle/>
          <a:p>
            <a:fld id="{481A0C87-3C71-E74A-A2CA-88A8ACF53F74}" type="datetime1">
              <a:rPr lang="en-CA" smtClean="0"/>
              <a:t>2026-10-12</a:t>
            </a:fld>
            <a:endParaRPr lang="en-US"/>
          </a:p>
        </p:txBody>
      </p:sp>
      <p:sp>
        <p:nvSpPr>
          <p:cNvPr id="6" name="Footer Placeholder 5">
            <a:extLst>
              <a:ext uri="{FF2B5EF4-FFF2-40B4-BE49-F238E27FC236}">
                <a16:creationId xmlns:a16="http://schemas.microsoft.com/office/drawing/2014/main" id="{6A7D739A-5E7E-6430-6023-59BD88240C8D}"/>
              </a:ext>
            </a:extLst>
          </p:cNvPr>
          <p:cNvSpPr>
            <a:spLocks noGrp="1"/>
          </p:cNvSpPr>
          <p:nvPr>
            <p:ph type="ftr" sz="quarter" idx="11"/>
          </p:nvPr>
        </p:nvSpPr>
        <p:spPr/>
        <p:txBody>
          <a:bodyPr/>
          <a:lstStyle/>
          <a:p>
            <a:r>
              <a:rPr lang="en-US"/>
              <a:t>FRSC 2020H – Copyright Arun S. Moorthy</a:t>
            </a:r>
          </a:p>
        </p:txBody>
      </p:sp>
      <p:sp>
        <p:nvSpPr>
          <p:cNvPr id="7" name="Slide Number Placeholder 6">
            <a:extLst>
              <a:ext uri="{FF2B5EF4-FFF2-40B4-BE49-F238E27FC236}">
                <a16:creationId xmlns:a16="http://schemas.microsoft.com/office/drawing/2014/main" id="{1D91853D-927A-8EA8-6055-A8F85A5A947A}"/>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427658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99A75-21D7-596D-1DEB-4A5D01A0ED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C20F87-E901-B1D3-155D-615B2993D5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D580BE-11A6-5444-3689-9B65E779DA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C3B909-0CF3-0B10-6DB3-3FCB69A09942}"/>
              </a:ext>
            </a:extLst>
          </p:cNvPr>
          <p:cNvSpPr>
            <a:spLocks noGrp="1"/>
          </p:cNvSpPr>
          <p:nvPr>
            <p:ph type="dt" sz="half" idx="10"/>
          </p:nvPr>
        </p:nvSpPr>
        <p:spPr/>
        <p:txBody>
          <a:bodyPr/>
          <a:lstStyle/>
          <a:p>
            <a:fld id="{B70890EF-C542-A048-AF3D-EACA8F4EB7CF}" type="datetime1">
              <a:rPr lang="en-CA" smtClean="0"/>
              <a:t>2026-10-12</a:t>
            </a:fld>
            <a:endParaRPr lang="en-US"/>
          </a:p>
        </p:txBody>
      </p:sp>
      <p:sp>
        <p:nvSpPr>
          <p:cNvPr id="6" name="Footer Placeholder 5">
            <a:extLst>
              <a:ext uri="{FF2B5EF4-FFF2-40B4-BE49-F238E27FC236}">
                <a16:creationId xmlns:a16="http://schemas.microsoft.com/office/drawing/2014/main" id="{6BB1B826-6AAE-C725-82CA-37A90FD77277}"/>
              </a:ext>
            </a:extLst>
          </p:cNvPr>
          <p:cNvSpPr>
            <a:spLocks noGrp="1"/>
          </p:cNvSpPr>
          <p:nvPr>
            <p:ph type="ftr" sz="quarter" idx="11"/>
          </p:nvPr>
        </p:nvSpPr>
        <p:spPr/>
        <p:txBody>
          <a:bodyPr/>
          <a:lstStyle/>
          <a:p>
            <a:r>
              <a:rPr lang="en-US"/>
              <a:t>FRSC 2020H – Copyright Arun S. Moorthy</a:t>
            </a:r>
          </a:p>
        </p:txBody>
      </p:sp>
      <p:sp>
        <p:nvSpPr>
          <p:cNvPr id="7" name="Slide Number Placeholder 6">
            <a:extLst>
              <a:ext uri="{FF2B5EF4-FFF2-40B4-BE49-F238E27FC236}">
                <a16:creationId xmlns:a16="http://schemas.microsoft.com/office/drawing/2014/main" id="{3E4F52A5-1C47-8560-9E95-34E393B9FE2F}"/>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1752432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DE493-BD42-447D-789F-F86AD7F567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CA2000-9380-EA6D-6C29-1148B1700D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C81211-31FF-ECF9-7A1C-FBA663F6CB56}"/>
              </a:ext>
            </a:extLst>
          </p:cNvPr>
          <p:cNvSpPr>
            <a:spLocks noGrp="1"/>
          </p:cNvSpPr>
          <p:nvPr>
            <p:ph type="dt" sz="half" idx="10"/>
          </p:nvPr>
        </p:nvSpPr>
        <p:spPr/>
        <p:txBody>
          <a:bodyPr/>
          <a:lstStyle/>
          <a:p>
            <a:fld id="{23750395-F0DF-B343-8833-5B36A4299F03}" type="datetime1">
              <a:rPr lang="en-CA" smtClean="0"/>
              <a:t>2026-10-12</a:t>
            </a:fld>
            <a:endParaRPr lang="en-US"/>
          </a:p>
        </p:txBody>
      </p:sp>
      <p:sp>
        <p:nvSpPr>
          <p:cNvPr id="5" name="Footer Placeholder 4">
            <a:extLst>
              <a:ext uri="{FF2B5EF4-FFF2-40B4-BE49-F238E27FC236}">
                <a16:creationId xmlns:a16="http://schemas.microsoft.com/office/drawing/2014/main" id="{4D1B78B4-019C-9893-20A6-47E1AF9D9BB3}"/>
              </a:ext>
            </a:extLst>
          </p:cNvPr>
          <p:cNvSpPr>
            <a:spLocks noGrp="1"/>
          </p:cNvSpPr>
          <p:nvPr>
            <p:ph type="ftr" sz="quarter" idx="11"/>
          </p:nvPr>
        </p:nvSpPr>
        <p:spPr/>
        <p:txBody>
          <a:bodyPr/>
          <a:lstStyle/>
          <a:p>
            <a:r>
              <a:rPr lang="en-US"/>
              <a:t>FRSC 2020H – Copyright Arun S. Moorthy</a:t>
            </a:r>
          </a:p>
        </p:txBody>
      </p:sp>
      <p:sp>
        <p:nvSpPr>
          <p:cNvPr id="6" name="Slide Number Placeholder 5">
            <a:extLst>
              <a:ext uri="{FF2B5EF4-FFF2-40B4-BE49-F238E27FC236}">
                <a16:creationId xmlns:a16="http://schemas.microsoft.com/office/drawing/2014/main" id="{CAACA53B-FF01-EBEE-F0BC-1C5FFA30B240}"/>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3474068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854E32-5079-2117-3229-28212306D80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F81923-C0D0-FEA9-53DE-3FD217BC86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12D36F-6E38-FC85-E52C-7962958079C7}"/>
              </a:ext>
            </a:extLst>
          </p:cNvPr>
          <p:cNvSpPr>
            <a:spLocks noGrp="1"/>
          </p:cNvSpPr>
          <p:nvPr>
            <p:ph type="dt" sz="half" idx="10"/>
          </p:nvPr>
        </p:nvSpPr>
        <p:spPr/>
        <p:txBody>
          <a:bodyPr/>
          <a:lstStyle/>
          <a:p>
            <a:fld id="{5B1EBF04-D098-E745-A97A-4A84A1B3F2AC}" type="datetime1">
              <a:rPr lang="en-CA" smtClean="0"/>
              <a:t>2026-10-12</a:t>
            </a:fld>
            <a:endParaRPr lang="en-US"/>
          </a:p>
        </p:txBody>
      </p:sp>
      <p:sp>
        <p:nvSpPr>
          <p:cNvPr id="5" name="Footer Placeholder 4">
            <a:extLst>
              <a:ext uri="{FF2B5EF4-FFF2-40B4-BE49-F238E27FC236}">
                <a16:creationId xmlns:a16="http://schemas.microsoft.com/office/drawing/2014/main" id="{D4628CCD-51E7-D1F3-C113-6C5939946D6B}"/>
              </a:ext>
            </a:extLst>
          </p:cNvPr>
          <p:cNvSpPr>
            <a:spLocks noGrp="1"/>
          </p:cNvSpPr>
          <p:nvPr>
            <p:ph type="ftr" sz="quarter" idx="11"/>
          </p:nvPr>
        </p:nvSpPr>
        <p:spPr/>
        <p:txBody>
          <a:bodyPr/>
          <a:lstStyle/>
          <a:p>
            <a:r>
              <a:rPr lang="en-US"/>
              <a:t>FRSC 2020H – Copyright Arun S. Moorthy</a:t>
            </a:r>
          </a:p>
        </p:txBody>
      </p:sp>
      <p:sp>
        <p:nvSpPr>
          <p:cNvPr id="6" name="Slide Number Placeholder 5">
            <a:extLst>
              <a:ext uri="{FF2B5EF4-FFF2-40B4-BE49-F238E27FC236}">
                <a16:creationId xmlns:a16="http://schemas.microsoft.com/office/drawing/2014/main" id="{C5C7E020-7890-1959-F084-141B2CD8A5F9}"/>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6004382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91B61-BB7C-BDFE-61FC-6BE15DC413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BA21A-6D58-6F15-CBA1-92F205DD55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6B4406-0388-9126-992B-A30B7FCAC453}"/>
              </a:ext>
            </a:extLst>
          </p:cNvPr>
          <p:cNvSpPr>
            <a:spLocks noGrp="1"/>
          </p:cNvSpPr>
          <p:nvPr>
            <p:ph type="dt" sz="half" idx="10"/>
          </p:nvPr>
        </p:nvSpPr>
        <p:spPr/>
        <p:txBody>
          <a:bodyPr/>
          <a:lstStyle/>
          <a:p>
            <a:fld id="{7E8A4360-7296-FF47-B96D-F834C386389D}" type="datetime1">
              <a:rPr lang="en-CA" smtClean="0"/>
              <a:t>2026-10-12</a:t>
            </a:fld>
            <a:endParaRPr lang="en-US"/>
          </a:p>
        </p:txBody>
      </p:sp>
      <p:sp>
        <p:nvSpPr>
          <p:cNvPr id="5" name="Footer Placeholder 4">
            <a:extLst>
              <a:ext uri="{FF2B5EF4-FFF2-40B4-BE49-F238E27FC236}">
                <a16:creationId xmlns:a16="http://schemas.microsoft.com/office/drawing/2014/main" id="{CAA15A63-E8B5-3E30-FDC6-B5802EA1AD52}"/>
              </a:ext>
            </a:extLst>
          </p:cNvPr>
          <p:cNvSpPr>
            <a:spLocks noGrp="1"/>
          </p:cNvSpPr>
          <p:nvPr>
            <p:ph type="ftr" sz="quarter" idx="11"/>
          </p:nvPr>
        </p:nvSpPr>
        <p:spPr/>
        <p:txBody>
          <a:bodyPr/>
          <a:lstStyle/>
          <a:p>
            <a:r>
              <a:rPr lang="en-US"/>
              <a:t>FRSC 2020H – Copyright Arun S. Moorthy</a:t>
            </a:r>
          </a:p>
        </p:txBody>
      </p:sp>
      <p:sp>
        <p:nvSpPr>
          <p:cNvPr id="6" name="Slide Number Placeholder 5">
            <a:extLst>
              <a:ext uri="{FF2B5EF4-FFF2-40B4-BE49-F238E27FC236}">
                <a16:creationId xmlns:a16="http://schemas.microsoft.com/office/drawing/2014/main" id="{63E4ABDC-D1D4-0E07-57AD-724E7E118529}"/>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1682888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97BB2-8ACC-6A57-39C0-BB70AAEEE124}"/>
              </a:ext>
            </a:extLst>
          </p:cNvPr>
          <p:cNvSpPr>
            <a:spLocks noGrp="1"/>
          </p:cNvSpPr>
          <p:nvPr>
            <p:ph type="title"/>
          </p:nvPr>
        </p:nvSpPr>
        <p:spPr/>
        <p:txBody>
          <a:bodyPr/>
          <a:lstStyle>
            <a:lvl1pPr>
              <a:defRPr b="0" i="0">
                <a:latin typeface="Arial Nova Light" panose="020B03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44A1D455-7A0E-B855-7A0C-BAA4B51C30DA}"/>
              </a:ext>
            </a:extLst>
          </p:cNvPr>
          <p:cNvSpPr>
            <a:spLocks noGrp="1"/>
          </p:cNvSpPr>
          <p:nvPr>
            <p:ph idx="1"/>
          </p:nvPr>
        </p:nvSpPr>
        <p:spPr/>
        <p:txBody>
          <a:bodyPr/>
          <a:lstStyle>
            <a:lvl1pPr>
              <a:defRPr b="0" i="0">
                <a:latin typeface="Arial Nova Light" panose="020B0304020202020204" pitchFamily="34" charset="0"/>
              </a:defRPr>
            </a:lvl1pPr>
            <a:lvl2pPr>
              <a:defRPr b="0" i="0">
                <a:latin typeface="Arial Nova Light" panose="020B0304020202020204" pitchFamily="34" charset="0"/>
              </a:defRPr>
            </a:lvl2pPr>
            <a:lvl3pPr>
              <a:defRPr b="0" i="0">
                <a:latin typeface="Arial Nova Light" panose="020B0304020202020204" pitchFamily="34" charset="0"/>
              </a:defRPr>
            </a:lvl3pPr>
            <a:lvl4pPr>
              <a:defRPr b="0" i="0">
                <a:latin typeface="Arial Nova Light" panose="020B0304020202020204" pitchFamily="34" charset="0"/>
              </a:defRPr>
            </a:lvl4pPr>
            <a:lvl5pPr>
              <a:defRPr b="0" i="0">
                <a:latin typeface="Arial Nova Light" panose="020B03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F0AEC-CFDE-33C3-3DCA-E564F5E03EBE}"/>
              </a:ext>
            </a:extLst>
          </p:cNvPr>
          <p:cNvSpPr>
            <a:spLocks noGrp="1"/>
          </p:cNvSpPr>
          <p:nvPr>
            <p:ph type="dt" sz="half" idx="10"/>
          </p:nvPr>
        </p:nvSpPr>
        <p:spPr/>
        <p:txBody>
          <a:bodyPr/>
          <a:lstStyle>
            <a:lvl1pPr>
              <a:defRPr b="0" i="0">
                <a:latin typeface="Arial Nova Light" panose="020B0304020202020204" pitchFamily="34" charset="0"/>
              </a:defRPr>
            </a:lvl1pPr>
          </a:lstStyle>
          <a:p>
            <a:fld id="{513D4C18-095A-CA4C-B9DA-CEB883F335CC}" type="datetime1">
              <a:rPr lang="en-CA" smtClean="0"/>
              <a:t>2026-10-12</a:t>
            </a:fld>
            <a:endParaRPr lang="en-US"/>
          </a:p>
        </p:txBody>
      </p:sp>
      <p:sp>
        <p:nvSpPr>
          <p:cNvPr id="5" name="Footer Placeholder 4">
            <a:extLst>
              <a:ext uri="{FF2B5EF4-FFF2-40B4-BE49-F238E27FC236}">
                <a16:creationId xmlns:a16="http://schemas.microsoft.com/office/drawing/2014/main" id="{57C33C79-9C2C-3D92-6ACD-4C0E64663FF3}"/>
              </a:ext>
            </a:extLst>
          </p:cNvPr>
          <p:cNvSpPr>
            <a:spLocks noGrp="1"/>
          </p:cNvSpPr>
          <p:nvPr>
            <p:ph type="ftr" sz="quarter" idx="11"/>
          </p:nvPr>
        </p:nvSpPr>
        <p:spPr/>
        <p:txBody>
          <a:bodyPr/>
          <a:lstStyle>
            <a:lvl1pPr>
              <a:defRPr b="0" i="0">
                <a:latin typeface="Arial Nova Light" panose="020B0304020202020204" pitchFamily="34" charset="0"/>
              </a:defRPr>
            </a:lvl1pPr>
          </a:lstStyle>
          <a:p>
            <a:r>
              <a:rPr lang="en-US"/>
              <a:t>FRSC 2020H – Copyright Arun S. Moorthy</a:t>
            </a:r>
          </a:p>
        </p:txBody>
      </p:sp>
      <p:sp>
        <p:nvSpPr>
          <p:cNvPr id="6" name="Slide Number Placeholder 5">
            <a:extLst>
              <a:ext uri="{FF2B5EF4-FFF2-40B4-BE49-F238E27FC236}">
                <a16:creationId xmlns:a16="http://schemas.microsoft.com/office/drawing/2014/main" id="{D34B242B-44A4-80A9-DEE1-FCD1B726F70B}"/>
              </a:ext>
            </a:extLst>
          </p:cNvPr>
          <p:cNvSpPr>
            <a:spLocks noGrp="1"/>
          </p:cNvSpPr>
          <p:nvPr>
            <p:ph type="sldNum" sz="quarter" idx="12"/>
          </p:nvPr>
        </p:nvSpPr>
        <p:spPr/>
        <p:txBody>
          <a:bodyPr/>
          <a:lstStyle>
            <a:lvl1pPr>
              <a:defRPr b="0" i="0">
                <a:latin typeface="Arial Nova Light" panose="020B0304020202020204" pitchFamily="34" charset="0"/>
              </a:defRPr>
            </a:lvl1pPr>
          </a:lstStyle>
          <a:p>
            <a:fld id="{6DA4232D-B1A8-3545-B2AB-EFD66B74CB19}" type="slidenum">
              <a:rPr lang="en-US" smtClean="0"/>
              <a:pPr/>
              <a:t>‹#›</a:t>
            </a:fld>
            <a:endParaRPr lang="en-US"/>
          </a:p>
        </p:txBody>
      </p:sp>
    </p:spTree>
    <p:extLst>
      <p:ext uri="{BB962C8B-B14F-4D97-AF65-F5344CB8AC3E}">
        <p14:creationId xmlns:p14="http://schemas.microsoft.com/office/powerpoint/2010/main" val="4320196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ECCAA-F692-BA88-7FA1-EF6FF6399A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51F40F1-58FB-B2C3-8F25-E4F7648E70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616D29-8E1F-3EF9-9782-6ED1EA9982D1}"/>
              </a:ext>
            </a:extLst>
          </p:cNvPr>
          <p:cNvSpPr>
            <a:spLocks noGrp="1"/>
          </p:cNvSpPr>
          <p:nvPr>
            <p:ph type="dt" sz="half" idx="10"/>
          </p:nvPr>
        </p:nvSpPr>
        <p:spPr/>
        <p:txBody>
          <a:bodyPr/>
          <a:lstStyle/>
          <a:p>
            <a:fld id="{3EDB1078-FBC5-AC46-B7F4-B257C63E0F04}" type="datetime1">
              <a:rPr lang="en-CA" smtClean="0"/>
              <a:t>2026-10-12</a:t>
            </a:fld>
            <a:endParaRPr lang="en-US"/>
          </a:p>
        </p:txBody>
      </p:sp>
      <p:sp>
        <p:nvSpPr>
          <p:cNvPr id="5" name="Footer Placeholder 4">
            <a:extLst>
              <a:ext uri="{FF2B5EF4-FFF2-40B4-BE49-F238E27FC236}">
                <a16:creationId xmlns:a16="http://schemas.microsoft.com/office/drawing/2014/main" id="{1C96CA3F-8743-505F-F0E0-FAD5800466FC}"/>
              </a:ext>
            </a:extLst>
          </p:cNvPr>
          <p:cNvSpPr>
            <a:spLocks noGrp="1"/>
          </p:cNvSpPr>
          <p:nvPr>
            <p:ph type="ftr" sz="quarter" idx="11"/>
          </p:nvPr>
        </p:nvSpPr>
        <p:spPr/>
        <p:txBody>
          <a:bodyPr/>
          <a:lstStyle/>
          <a:p>
            <a:r>
              <a:rPr lang="en-US"/>
              <a:t>FRSC 2020H – Copyright Arun S. Moorthy</a:t>
            </a:r>
          </a:p>
        </p:txBody>
      </p:sp>
      <p:sp>
        <p:nvSpPr>
          <p:cNvPr id="6" name="Slide Number Placeholder 5">
            <a:extLst>
              <a:ext uri="{FF2B5EF4-FFF2-40B4-BE49-F238E27FC236}">
                <a16:creationId xmlns:a16="http://schemas.microsoft.com/office/drawing/2014/main" id="{97BE7363-55F5-A56D-17DD-4B4468855B08}"/>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644635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3BDE2-9144-F1CC-94C3-E77B991EB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717007-1B98-152C-5881-A5AC6CB8D6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2C8399-656D-1A16-19D5-D9E183DA96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9D89B9-32ED-9A3B-CC3B-D4CD45DFE983}"/>
              </a:ext>
            </a:extLst>
          </p:cNvPr>
          <p:cNvSpPr>
            <a:spLocks noGrp="1"/>
          </p:cNvSpPr>
          <p:nvPr>
            <p:ph type="dt" sz="half" idx="10"/>
          </p:nvPr>
        </p:nvSpPr>
        <p:spPr/>
        <p:txBody>
          <a:bodyPr/>
          <a:lstStyle/>
          <a:p>
            <a:fld id="{2C62AFFA-51F1-4D48-A185-9A20CE0F0F5D}" type="datetime1">
              <a:rPr lang="en-CA" smtClean="0"/>
              <a:t>2026-10-12</a:t>
            </a:fld>
            <a:endParaRPr lang="en-US"/>
          </a:p>
        </p:txBody>
      </p:sp>
      <p:sp>
        <p:nvSpPr>
          <p:cNvPr id="6" name="Footer Placeholder 5">
            <a:extLst>
              <a:ext uri="{FF2B5EF4-FFF2-40B4-BE49-F238E27FC236}">
                <a16:creationId xmlns:a16="http://schemas.microsoft.com/office/drawing/2014/main" id="{190BFDE2-3C9E-2AE7-DF89-C8E5CD129FC7}"/>
              </a:ext>
            </a:extLst>
          </p:cNvPr>
          <p:cNvSpPr>
            <a:spLocks noGrp="1"/>
          </p:cNvSpPr>
          <p:nvPr>
            <p:ph type="ftr" sz="quarter" idx="11"/>
          </p:nvPr>
        </p:nvSpPr>
        <p:spPr/>
        <p:txBody>
          <a:bodyPr/>
          <a:lstStyle/>
          <a:p>
            <a:r>
              <a:rPr lang="en-US"/>
              <a:t>FRSC 2020H – Copyright Arun S. Moorthy</a:t>
            </a:r>
          </a:p>
        </p:txBody>
      </p:sp>
      <p:sp>
        <p:nvSpPr>
          <p:cNvPr id="7" name="Slide Number Placeholder 6">
            <a:extLst>
              <a:ext uri="{FF2B5EF4-FFF2-40B4-BE49-F238E27FC236}">
                <a16:creationId xmlns:a16="http://schemas.microsoft.com/office/drawing/2014/main" id="{C6C3F53C-3A44-A23C-0311-24A411B8D8DF}"/>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2047737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DE678-3948-9D1B-E9FB-21A3A388A5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EC2EC6-A79C-0C95-EF4B-50327E0506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61683B-A37D-9458-6072-F25E287F87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B51EB8E-FB8E-1956-627D-1187395482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E75B92-A96C-3C04-4CF3-2BF226B29A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1185B7-4EE6-36C4-052F-ADECD2DE0184}"/>
              </a:ext>
            </a:extLst>
          </p:cNvPr>
          <p:cNvSpPr>
            <a:spLocks noGrp="1"/>
          </p:cNvSpPr>
          <p:nvPr>
            <p:ph type="dt" sz="half" idx="10"/>
          </p:nvPr>
        </p:nvSpPr>
        <p:spPr/>
        <p:txBody>
          <a:bodyPr/>
          <a:lstStyle/>
          <a:p>
            <a:fld id="{AE345600-DAF1-8245-950C-C8F242D88747}" type="datetime1">
              <a:rPr lang="en-CA" smtClean="0"/>
              <a:t>2026-10-12</a:t>
            </a:fld>
            <a:endParaRPr lang="en-US"/>
          </a:p>
        </p:txBody>
      </p:sp>
      <p:sp>
        <p:nvSpPr>
          <p:cNvPr id="8" name="Footer Placeholder 7">
            <a:extLst>
              <a:ext uri="{FF2B5EF4-FFF2-40B4-BE49-F238E27FC236}">
                <a16:creationId xmlns:a16="http://schemas.microsoft.com/office/drawing/2014/main" id="{D3ADCD9F-9A68-5C68-6DDC-1DB5DE61CA77}"/>
              </a:ext>
            </a:extLst>
          </p:cNvPr>
          <p:cNvSpPr>
            <a:spLocks noGrp="1"/>
          </p:cNvSpPr>
          <p:nvPr>
            <p:ph type="ftr" sz="quarter" idx="11"/>
          </p:nvPr>
        </p:nvSpPr>
        <p:spPr/>
        <p:txBody>
          <a:bodyPr/>
          <a:lstStyle/>
          <a:p>
            <a:r>
              <a:rPr lang="en-US"/>
              <a:t>FRSC 2020H – Copyright Arun S. Moorthy</a:t>
            </a:r>
          </a:p>
        </p:txBody>
      </p:sp>
      <p:sp>
        <p:nvSpPr>
          <p:cNvPr id="9" name="Slide Number Placeholder 8">
            <a:extLst>
              <a:ext uri="{FF2B5EF4-FFF2-40B4-BE49-F238E27FC236}">
                <a16:creationId xmlns:a16="http://schemas.microsoft.com/office/drawing/2014/main" id="{BF152788-4282-A4F5-8CFE-FA34E417C875}"/>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33851350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346DC-4A13-C9B4-0278-F2892BA72A1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9567CD3-0A33-A174-7D68-4FA2A50FCBD7}"/>
              </a:ext>
            </a:extLst>
          </p:cNvPr>
          <p:cNvSpPr>
            <a:spLocks noGrp="1"/>
          </p:cNvSpPr>
          <p:nvPr>
            <p:ph type="dt" sz="half" idx="10"/>
          </p:nvPr>
        </p:nvSpPr>
        <p:spPr/>
        <p:txBody>
          <a:bodyPr/>
          <a:lstStyle/>
          <a:p>
            <a:fld id="{3F106F88-3C7D-8848-991C-7F957A1B69E3}" type="datetime1">
              <a:rPr lang="en-CA" smtClean="0"/>
              <a:t>2026-10-12</a:t>
            </a:fld>
            <a:endParaRPr lang="en-US"/>
          </a:p>
        </p:txBody>
      </p:sp>
      <p:sp>
        <p:nvSpPr>
          <p:cNvPr id="4" name="Footer Placeholder 3">
            <a:extLst>
              <a:ext uri="{FF2B5EF4-FFF2-40B4-BE49-F238E27FC236}">
                <a16:creationId xmlns:a16="http://schemas.microsoft.com/office/drawing/2014/main" id="{31BF2E82-5B4B-3586-A48E-5A6095651E3B}"/>
              </a:ext>
            </a:extLst>
          </p:cNvPr>
          <p:cNvSpPr>
            <a:spLocks noGrp="1"/>
          </p:cNvSpPr>
          <p:nvPr>
            <p:ph type="ftr" sz="quarter" idx="11"/>
          </p:nvPr>
        </p:nvSpPr>
        <p:spPr/>
        <p:txBody>
          <a:bodyPr/>
          <a:lstStyle/>
          <a:p>
            <a:r>
              <a:rPr lang="en-US"/>
              <a:t>FRSC 2020H – Copyright Arun S. Moorthy</a:t>
            </a:r>
          </a:p>
        </p:txBody>
      </p:sp>
      <p:sp>
        <p:nvSpPr>
          <p:cNvPr id="5" name="Slide Number Placeholder 4">
            <a:extLst>
              <a:ext uri="{FF2B5EF4-FFF2-40B4-BE49-F238E27FC236}">
                <a16:creationId xmlns:a16="http://schemas.microsoft.com/office/drawing/2014/main" id="{BC9C3A85-99F5-5319-F724-46AEEE06A6F5}"/>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12797434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CB9D64-4EF4-ABA5-A9F8-8A1375193FAF}"/>
              </a:ext>
            </a:extLst>
          </p:cNvPr>
          <p:cNvSpPr>
            <a:spLocks noGrp="1"/>
          </p:cNvSpPr>
          <p:nvPr>
            <p:ph type="dt" sz="half" idx="10"/>
          </p:nvPr>
        </p:nvSpPr>
        <p:spPr/>
        <p:txBody>
          <a:bodyPr/>
          <a:lstStyle/>
          <a:p>
            <a:fld id="{E2D24DB2-15E0-6544-8D21-98C0EFC3BB2E}" type="datetime1">
              <a:rPr lang="en-CA" smtClean="0"/>
              <a:t>2026-10-12</a:t>
            </a:fld>
            <a:endParaRPr lang="en-US"/>
          </a:p>
        </p:txBody>
      </p:sp>
      <p:sp>
        <p:nvSpPr>
          <p:cNvPr id="3" name="Footer Placeholder 2">
            <a:extLst>
              <a:ext uri="{FF2B5EF4-FFF2-40B4-BE49-F238E27FC236}">
                <a16:creationId xmlns:a16="http://schemas.microsoft.com/office/drawing/2014/main" id="{45AFE3AA-9E5C-EAB2-A20A-83D472885269}"/>
              </a:ext>
            </a:extLst>
          </p:cNvPr>
          <p:cNvSpPr>
            <a:spLocks noGrp="1"/>
          </p:cNvSpPr>
          <p:nvPr>
            <p:ph type="ftr" sz="quarter" idx="11"/>
          </p:nvPr>
        </p:nvSpPr>
        <p:spPr/>
        <p:txBody>
          <a:bodyPr/>
          <a:lstStyle/>
          <a:p>
            <a:r>
              <a:rPr lang="en-US"/>
              <a:t>FRSC 2020H – Copyright Arun S. Moorthy</a:t>
            </a:r>
          </a:p>
        </p:txBody>
      </p:sp>
      <p:sp>
        <p:nvSpPr>
          <p:cNvPr id="4" name="Slide Number Placeholder 3">
            <a:extLst>
              <a:ext uri="{FF2B5EF4-FFF2-40B4-BE49-F238E27FC236}">
                <a16:creationId xmlns:a16="http://schemas.microsoft.com/office/drawing/2014/main" id="{0BDC1E07-D90C-800B-9CD6-011D16A7B4BA}"/>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16705537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C3D31-3236-662B-7EBA-A5B22BC6AF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2C65BC-054E-67AF-B0AD-8B71A8FB94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05EE51-67E1-285B-8867-66E870D703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C2325B-53AF-6609-314D-A26DB42010EB}"/>
              </a:ext>
            </a:extLst>
          </p:cNvPr>
          <p:cNvSpPr>
            <a:spLocks noGrp="1"/>
          </p:cNvSpPr>
          <p:nvPr>
            <p:ph type="dt" sz="half" idx="10"/>
          </p:nvPr>
        </p:nvSpPr>
        <p:spPr/>
        <p:txBody>
          <a:bodyPr/>
          <a:lstStyle/>
          <a:p>
            <a:fld id="{BA34DCBC-01B1-BF46-9A34-5B6BB3593B38}" type="datetime1">
              <a:rPr lang="en-CA" smtClean="0"/>
              <a:t>2026-10-12</a:t>
            </a:fld>
            <a:endParaRPr lang="en-US"/>
          </a:p>
        </p:txBody>
      </p:sp>
      <p:sp>
        <p:nvSpPr>
          <p:cNvPr id="6" name="Footer Placeholder 5">
            <a:extLst>
              <a:ext uri="{FF2B5EF4-FFF2-40B4-BE49-F238E27FC236}">
                <a16:creationId xmlns:a16="http://schemas.microsoft.com/office/drawing/2014/main" id="{6A7D739A-5E7E-6430-6023-59BD88240C8D}"/>
              </a:ext>
            </a:extLst>
          </p:cNvPr>
          <p:cNvSpPr>
            <a:spLocks noGrp="1"/>
          </p:cNvSpPr>
          <p:nvPr>
            <p:ph type="ftr" sz="quarter" idx="11"/>
          </p:nvPr>
        </p:nvSpPr>
        <p:spPr/>
        <p:txBody>
          <a:bodyPr/>
          <a:lstStyle/>
          <a:p>
            <a:r>
              <a:rPr lang="en-US"/>
              <a:t>FRSC 2020H – Copyright Arun S. Moorthy</a:t>
            </a:r>
          </a:p>
        </p:txBody>
      </p:sp>
      <p:sp>
        <p:nvSpPr>
          <p:cNvPr id="7" name="Slide Number Placeholder 6">
            <a:extLst>
              <a:ext uri="{FF2B5EF4-FFF2-40B4-BE49-F238E27FC236}">
                <a16:creationId xmlns:a16="http://schemas.microsoft.com/office/drawing/2014/main" id="{1D91853D-927A-8EA8-6055-A8F85A5A947A}"/>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2166706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99A75-21D7-596D-1DEB-4A5D01A0ED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C20F87-E901-B1D3-155D-615B2993D5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D580BE-11A6-5444-3689-9B65E779DA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C3B909-0CF3-0B10-6DB3-3FCB69A09942}"/>
              </a:ext>
            </a:extLst>
          </p:cNvPr>
          <p:cNvSpPr>
            <a:spLocks noGrp="1"/>
          </p:cNvSpPr>
          <p:nvPr>
            <p:ph type="dt" sz="half" idx="10"/>
          </p:nvPr>
        </p:nvSpPr>
        <p:spPr/>
        <p:txBody>
          <a:bodyPr/>
          <a:lstStyle/>
          <a:p>
            <a:fld id="{27B36853-14DC-D844-B3D1-F2B964F25F01}" type="datetime1">
              <a:rPr lang="en-CA" smtClean="0"/>
              <a:t>2026-10-12</a:t>
            </a:fld>
            <a:endParaRPr lang="en-US"/>
          </a:p>
        </p:txBody>
      </p:sp>
      <p:sp>
        <p:nvSpPr>
          <p:cNvPr id="6" name="Footer Placeholder 5">
            <a:extLst>
              <a:ext uri="{FF2B5EF4-FFF2-40B4-BE49-F238E27FC236}">
                <a16:creationId xmlns:a16="http://schemas.microsoft.com/office/drawing/2014/main" id="{6BB1B826-6AAE-C725-82CA-37A90FD77277}"/>
              </a:ext>
            </a:extLst>
          </p:cNvPr>
          <p:cNvSpPr>
            <a:spLocks noGrp="1"/>
          </p:cNvSpPr>
          <p:nvPr>
            <p:ph type="ftr" sz="quarter" idx="11"/>
          </p:nvPr>
        </p:nvSpPr>
        <p:spPr/>
        <p:txBody>
          <a:bodyPr/>
          <a:lstStyle/>
          <a:p>
            <a:r>
              <a:rPr lang="en-US"/>
              <a:t>FRSC 2020H – Copyright Arun S. Moorthy</a:t>
            </a:r>
          </a:p>
        </p:txBody>
      </p:sp>
      <p:sp>
        <p:nvSpPr>
          <p:cNvPr id="7" name="Slide Number Placeholder 6">
            <a:extLst>
              <a:ext uri="{FF2B5EF4-FFF2-40B4-BE49-F238E27FC236}">
                <a16:creationId xmlns:a16="http://schemas.microsoft.com/office/drawing/2014/main" id="{3E4F52A5-1C47-8560-9E95-34E393B9FE2F}"/>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28391287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DE493-BD42-447D-789F-F86AD7F567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CA2000-9380-EA6D-6C29-1148B1700D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C81211-31FF-ECF9-7A1C-FBA663F6CB56}"/>
              </a:ext>
            </a:extLst>
          </p:cNvPr>
          <p:cNvSpPr>
            <a:spLocks noGrp="1"/>
          </p:cNvSpPr>
          <p:nvPr>
            <p:ph type="dt" sz="half" idx="10"/>
          </p:nvPr>
        </p:nvSpPr>
        <p:spPr/>
        <p:txBody>
          <a:bodyPr/>
          <a:lstStyle/>
          <a:p>
            <a:fld id="{699AD939-1F69-784F-BC42-F8DB0FC153B8}" type="datetime1">
              <a:rPr lang="en-CA" smtClean="0"/>
              <a:t>2026-10-12</a:t>
            </a:fld>
            <a:endParaRPr lang="en-US"/>
          </a:p>
        </p:txBody>
      </p:sp>
      <p:sp>
        <p:nvSpPr>
          <p:cNvPr id="5" name="Footer Placeholder 4">
            <a:extLst>
              <a:ext uri="{FF2B5EF4-FFF2-40B4-BE49-F238E27FC236}">
                <a16:creationId xmlns:a16="http://schemas.microsoft.com/office/drawing/2014/main" id="{4D1B78B4-019C-9893-20A6-47E1AF9D9BB3}"/>
              </a:ext>
            </a:extLst>
          </p:cNvPr>
          <p:cNvSpPr>
            <a:spLocks noGrp="1"/>
          </p:cNvSpPr>
          <p:nvPr>
            <p:ph type="ftr" sz="quarter" idx="11"/>
          </p:nvPr>
        </p:nvSpPr>
        <p:spPr/>
        <p:txBody>
          <a:bodyPr/>
          <a:lstStyle/>
          <a:p>
            <a:r>
              <a:rPr lang="en-US"/>
              <a:t>FRSC 2020H – Copyright Arun S. Moorthy</a:t>
            </a:r>
          </a:p>
        </p:txBody>
      </p:sp>
      <p:sp>
        <p:nvSpPr>
          <p:cNvPr id="6" name="Slide Number Placeholder 5">
            <a:extLst>
              <a:ext uri="{FF2B5EF4-FFF2-40B4-BE49-F238E27FC236}">
                <a16:creationId xmlns:a16="http://schemas.microsoft.com/office/drawing/2014/main" id="{CAACA53B-FF01-EBEE-F0BC-1C5FFA30B240}"/>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2239876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854E32-5079-2117-3229-28212306D80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F81923-C0D0-FEA9-53DE-3FD217BC86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12D36F-6E38-FC85-E52C-7962958079C7}"/>
              </a:ext>
            </a:extLst>
          </p:cNvPr>
          <p:cNvSpPr>
            <a:spLocks noGrp="1"/>
          </p:cNvSpPr>
          <p:nvPr>
            <p:ph type="dt" sz="half" idx="10"/>
          </p:nvPr>
        </p:nvSpPr>
        <p:spPr/>
        <p:txBody>
          <a:bodyPr/>
          <a:lstStyle/>
          <a:p>
            <a:fld id="{7260E4A9-DEC0-1346-9236-F2BBBA730F2A}" type="datetime1">
              <a:rPr lang="en-CA" smtClean="0"/>
              <a:t>2026-10-12</a:t>
            </a:fld>
            <a:endParaRPr lang="en-US"/>
          </a:p>
        </p:txBody>
      </p:sp>
      <p:sp>
        <p:nvSpPr>
          <p:cNvPr id="5" name="Footer Placeholder 4">
            <a:extLst>
              <a:ext uri="{FF2B5EF4-FFF2-40B4-BE49-F238E27FC236}">
                <a16:creationId xmlns:a16="http://schemas.microsoft.com/office/drawing/2014/main" id="{D4628CCD-51E7-D1F3-C113-6C5939946D6B}"/>
              </a:ext>
            </a:extLst>
          </p:cNvPr>
          <p:cNvSpPr>
            <a:spLocks noGrp="1"/>
          </p:cNvSpPr>
          <p:nvPr>
            <p:ph type="ftr" sz="quarter" idx="11"/>
          </p:nvPr>
        </p:nvSpPr>
        <p:spPr/>
        <p:txBody>
          <a:bodyPr/>
          <a:lstStyle/>
          <a:p>
            <a:r>
              <a:rPr lang="en-US"/>
              <a:t>FRSC 2020H – Copyright Arun S. Moorthy</a:t>
            </a:r>
          </a:p>
        </p:txBody>
      </p:sp>
      <p:sp>
        <p:nvSpPr>
          <p:cNvPr id="6" name="Slide Number Placeholder 5">
            <a:extLst>
              <a:ext uri="{FF2B5EF4-FFF2-40B4-BE49-F238E27FC236}">
                <a16:creationId xmlns:a16="http://schemas.microsoft.com/office/drawing/2014/main" id="{C5C7E020-7890-1959-F084-141B2CD8A5F9}"/>
              </a:ext>
            </a:extLst>
          </p:cNvPr>
          <p:cNvSpPr>
            <a:spLocks noGrp="1"/>
          </p:cNvSpPr>
          <p:nvPr>
            <p:ph type="sldNum" sz="quarter" idx="12"/>
          </p:nvPr>
        </p:nvSpPr>
        <p:spPr/>
        <p:txBody>
          <a:bodyPr/>
          <a:lstStyle/>
          <a:p>
            <a:fld id="{6DA4232D-B1A8-3545-B2AB-EFD66B74CB19}" type="slidenum">
              <a:rPr lang="en-US" smtClean="0"/>
              <a:t>‹#›</a:t>
            </a:fld>
            <a:endParaRPr lang="en-US"/>
          </a:p>
        </p:txBody>
      </p:sp>
    </p:spTree>
    <p:extLst>
      <p:ext uri="{BB962C8B-B14F-4D97-AF65-F5344CB8AC3E}">
        <p14:creationId xmlns:p14="http://schemas.microsoft.com/office/powerpoint/2010/main" val="1863966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1A7F48-F688-5F6C-AECB-DE1E1F4D75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278F7B-981A-7665-3288-5EA2764F74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BAD70C-8497-33AF-8C3A-A7E0B89F6C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981BD5-BF4B-2040-A843-4F14074C16EC}" type="datetime1">
              <a:rPr lang="en-CA" smtClean="0"/>
              <a:t>2026-10-12</a:t>
            </a:fld>
            <a:endParaRPr lang="en-US"/>
          </a:p>
        </p:txBody>
      </p:sp>
      <p:sp>
        <p:nvSpPr>
          <p:cNvPr id="5" name="Footer Placeholder 4">
            <a:extLst>
              <a:ext uri="{FF2B5EF4-FFF2-40B4-BE49-F238E27FC236}">
                <a16:creationId xmlns:a16="http://schemas.microsoft.com/office/drawing/2014/main" id="{67DC6E17-455C-5B4C-A7ED-C20505CEC0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FRSC 2020H – Copyright Arun S. Moorthy</a:t>
            </a:r>
          </a:p>
        </p:txBody>
      </p:sp>
      <p:sp>
        <p:nvSpPr>
          <p:cNvPr id="6" name="Slide Number Placeholder 5">
            <a:extLst>
              <a:ext uri="{FF2B5EF4-FFF2-40B4-BE49-F238E27FC236}">
                <a16:creationId xmlns:a16="http://schemas.microsoft.com/office/drawing/2014/main" id="{142D67DB-8637-C689-B575-5064FB22C3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A4232D-B1A8-3545-B2AB-EFD66B74CB19}" type="slidenum">
              <a:rPr lang="en-US" smtClean="0"/>
              <a:t>‹#›</a:t>
            </a:fld>
            <a:endParaRPr lang="en-US"/>
          </a:p>
        </p:txBody>
      </p:sp>
    </p:spTree>
    <p:extLst>
      <p:ext uri="{BB962C8B-B14F-4D97-AF65-F5344CB8AC3E}">
        <p14:creationId xmlns:p14="http://schemas.microsoft.com/office/powerpoint/2010/main" val="660239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1A7F48-F688-5F6C-AECB-DE1E1F4D75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278F7B-981A-7665-3288-5EA2764F74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BAD70C-8497-33AF-8C3A-A7E0B89F6C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17D138-03D3-B341-A1FC-A776E7D3BE22}" type="datetime1">
              <a:rPr lang="en-CA" smtClean="0"/>
              <a:t>2026-10-12</a:t>
            </a:fld>
            <a:endParaRPr lang="en-US"/>
          </a:p>
        </p:txBody>
      </p:sp>
      <p:sp>
        <p:nvSpPr>
          <p:cNvPr id="5" name="Footer Placeholder 4">
            <a:extLst>
              <a:ext uri="{FF2B5EF4-FFF2-40B4-BE49-F238E27FC236}">
                <a16:creationId xmlns:a16="http://schemas.microsoft.com/office/drawing/2014/main" id="{67DC6E17-455C-5B4C-A7ED-C20505CEC0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FRSC 2020H – Copyright Arun S. Moorthy</a:t>
            </a:r>
          </a:p>
        </p:txBody>
      </p:sp>
      <p:sp>
        <p:nvSpPr>
          <p:cNvPr id="6" name="Slide Number Placeholder 5">
            <a:extLst>
              <a:ext uri="{FF2B5EF4-FFF2-40B4-BE49-F238E27FC236}">
                <a16:creationId xmlns:a16="http://schemas.microsoft.com/office/drawing/2014/main" id="{142D67DB-8637-C689-B575-5064FB22C3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A4232D-B1A8-3545-B2AB-EFD66B74CB19}" type="slidenum">
              <a:rPr lang="en-US" smtClean="0"/>
              <a:t>‹#›</a:t>
            </a:fld>
            <a:endParaRPr lang="en-US"/>
          </a:p>
        </p:txBody>
      </p:sp>
    </p:spTree>
    <p:extLst>
      <p:ext uri="{BB962C8B-B14F-4D97-AF65-F5344CB8AC3E}">
        <p14:creationId xmlns:p14="http://schemas.microsoft.com/office/powerpoint/2010/main" val="71252879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hyperlink" Target="https://www.cfr.org/in-brief/us-fentanyl-crisis-what-know" TargetMode="External"/><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trentu.ca/ori/funding/undergraduate-graduate-postdoctoral-fellow-funding-opportunities/nserc-undergraduate"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tracelab.ca/" TargetMode="External"/><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hyperlink" Target="mailto:maryclairebuell@trentu.ca"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mailto:joelcahn@trentu.ca"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mailto:baileyhewood@trentu.ca" TargetMode="External"/><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nrdpfc.ca/" TargetMode="External"/><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hyperlink" Target="mailto:christopherkyle@trentu.ca"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ites.google.com/trentu.ca/marticlab" TargetMode="External"/><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hyperlink" Target="mailto:sanelamartic@trentu.ca"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www.crafts-lab.ca/" TargetMode="External"/><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7.jpg"/><Relationship Id="rId4" Type="http://schemas.openxmlformats.org/officeDocument/2006/relationships/hyperlink" Target="mailto:arunmoorthy@trentu.ca"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s://www.trentu.ca/anthropology/faculty-research/trent-forensic-anthropology-bioarchaeology-fab-lab" TargetMode="External"/><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hyperlink" Target="mailto:amyscott@trentu.ca"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mailto:aaronshafer@trentu.ca" TargetMode="External"/><Relationship Id="rId2" Type="http://schemas.openxmlformats.org/officeDocument/2006/relationships/hyperlink" Target="http://www.aaronshafer.ca/" TargetMode="Externa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50.xml.rels><?xml version="1.0" encoding="UTF-8" standalone="yes"?>
<Relationships xmlns="http://schemas.openxmlformats.org/package/2006/relationships"><Relationship Id="rId3" Type="http://schemas.openxmlformats.org/officeDocument/2006/relationships/hyperlink" Target="mailto:rhondasmith@trentu.ca" TargetMode="External"/><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students.ubc.ca/career/career-resources/curricula-vitae/"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s://www.acfi.ca/our-commitment/code-of-professional-ethics-and-conduct/" TargetMode="External"/><Relationship Id="rId2" Type="http://schemas.openxmlformats.org/officeDocument/2006/relationships/hyperlink" Target="https://www.csfs.ca/become-a-member/code-of-conduct/" TargetMode="External"/><Relationship Id="rId1" Type="http://schemas.openxmlformats.org/officeDocument/2006/relationships/slideLayout" Target="../slideLayouts/slideLayout2.xml"/><Relationship Id="rId6" Type="http://schemas.openxmlformats.org/officeDocument/2006/relationships/hyperlink" Target="https://www.csofs.org/about-us/governance/code-of-conduct/" TargetMode="External"/><Relationship Id="rId5" Type="http://schemas.openxmlformats.org/officeDocument/2006/relationships/hyperlink" Target="https://www.wildlifeforensicscience.org/mission/ethical-guidelines/" TargetMode="External"/><Relationship Id="rId4" Type="http://schemas.openxmlformats.org/officeDocument/2006/relationships/hyperlink" Target="https://www.abft.org/code-of-ethics/" TargetMode="Externa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www.trentu.ca/ori/home/research-committees#REB" TargetMode="External"/><Relationship Id="rId7" Type="http://schemas.openxmlformats.org/officeDocument/2006/relationships/hyperlink" Target="https://tcps2core.ca/welcome"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www.nationalacademies.org/projects/PGA-POLICY-21-13/publication/29488" TargetMode="External"/><Relationship Id="rId5" Type="http://schemas.openxmlformats.org/officeDocument/2006/relationships/hyperlink" Target="https://nap.nationalacademies.org/catalog/12192/on-being-a-scientist-a-guide-to-responsible-conduct-in" TargetMode="External"/><Relationship Id="rId4" Type="http://schemas.openxmlformats.org/officeDocument/2006/relationships/hyperlink" Target="https://ethics.gc.ca/eng/policy-politique_tcps2-eptc2_2022.html"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B77F3F29-C0BB-5C5C-640E-E9518C2041C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l="32" r="32"/>
          <a:stretch/>
        </p:blipFill>
        <p:spPr>
          <a:xfrm>
            <a:off x="3523488" y="10"/>
            <a:ext cx="8668512" cy="6857990"/>
          </a:xfrm>
          <a:prstGeom prst="rect">
            <a:avLst/>
          </a:prstGeom>
        </p:spPr>
      </p:pic>
      <p:sp>
        <p:nvSpPr>
          <p:cNvPr id="19" name="Rectangle 18">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92A5084-C4EF-A29F-F43C-58BE4F4AF6EC}"/>
              </a:ext>
            </a:extLst>
          </p:cNvPr>
          <p:cNvSpPr>
            <a:spLocks noGrp="1"/>
          </p:cNvSpPr>
          <p:nvPr>
            <p:ph type="ctrTitle"/>
          </p:nvPr>
        </p:nvSpPr>
        <p:spPr>
          <a:xfrm>
            <a:off x="458169" y="1826933"/>
            <a:ext cx="4023360" cy="3204134"/>
          </a:xfrm>
        </p:spPr>
        <p:txBody>
          <a:bodyPr anchor="ctr">
            <a:normAutofit/>
          </a:bodyPr>
          <a:lstStyle/>
          <a:p>
            <a:pPr algn="l"/>
            <a:r>
              <a:rPr lang="en-US" sz="4400" b="1" dirty="0">
                <a:latin typeface="Arial Nova Light" panose="020F0302020204030204" pitchFamily="34" charset="0"/>
                <a:cs typeface="Arial Nova Light" panose="020F0302020204030204" pitchFamily="34" charset="0"/>
              </a:rPr>
              <a:t>Research 101</a:t>
            </a:r>
          </a:p>
        </p:txBody>
      </p:sp>
      <p:sp>
        <p:nvSpPr>
          <p:cNvPr id="21" name="Rectangle 2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0165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AE668-A962-AF0E-D38B-858A36BC23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A4A793-C606-4D8C-9D67-AB6C9E9EA0A6}"/>
              </a:ext>
            </a:extLst>
          </p:cNvPr>
          <p:cNvSpPr>
            <a:spLocks noGrp="1"/>
          </p:cNvSpPr>
          <p:nvPr>
            <p:ph type="title"/>
          </p:nvPr>
        </p:nvSpPr>
        <p:spPr/>
        <p:txBody>
          <a:bodyPr/>
          <a:lstStyle/>
          <a:p>
            <a:r>
              <a:rPr lang="en-US">
                <a:latin typeface="Arial Nova Light" panose="020B0304020202020204" pitchFamily="34" charset="0"/>
              </a:rPr>
              <a:t>What is research?</a:t>
            </a:r>
          </a:p>
        </p:txBody>
      </p:sp>
      <p:sp>
        <p:nvSpPr>
          <p:cNvPr id="3" name="Content Placeholder 2">
            <a:extLst>
              <a:ext uri="{FF2B5EF4-FFF2-40B4-BE49-F238E27FC236}">
                <a16:creationId xmlns:a16="http://schemas.microsoft.com/office/drawing/2014/main" id="{4C85287A-CCC1-A21E-DFFE-50480EFD9E6B}"/>
              </a:ext>
            </a:extLst>
          </p:cNvPr>
          <p:cNvSpPr>
            <a:spLocks noGrp="1"/>
          </p:cNvSpPr>
          <p:nvPr>
            <p:ph idx="1"/>
          </p:nvPr>
        </p:nvSpPr>
        <p:spPr/>
        <p:txBody>
          <a:bodyPr>
            <a:normAutofit lnSpcReduction="10000"/>
          </a:bodyPr>
          <a:lstStyle/>
          <a:p>
            <a:pPr>
              <a:lnSpc>
                <a:spcPct val="114000"/>
              </a:lnSpc>
            </a:pPr>
            <a:r>
              <a:rPr lang="en-US" sz="2400" dirty="0">
                <a:latin typeface="Arial Nova Light" panose="020B0304020202020204" pitchFamily="34" charset="0"/>
              </a:rPr>
              <a:t>Activities undertaken to help </a:t>
            </a:r>
            <a:r>
              <a:rPr lang="en-US" sz="2400" i="1" dirty="0">
                <a:latin typeface="Arial Nova Light" panose="020B0304020202020204" pitchFamily="34" charset="0"/>
              </a:rPr>
              <a:t>update</a:t>
            </a:r>
            <a:r>
              <a:rPr lang="en-US" sz="2400" dirty="0">
                <a:latin typeface="Arial Nova Light" panose="020B0304020202020204" pitchFamily="34" charset="0"/>
              </a:rPr>
              <a:t> our knowledge and/or improve our understanding of a subject. </a:t>
            </a:r>
          </a:p>
          <a:p>
            <a:pPr>
              <a:lnSpc>
                <a:spcPct val="114000"/>
              </a:lnSpc>
            </a:pPr>
            <a:endParaRPr lang="en-US" sz="2000" dirty="0">
              <a:latin typeface="Arial Nova Light" panose="020B0304020202020204" pitchFamily="34" charset="0"/>
            </a:endParaRPr>
          </a:p>
          <a:p>
            <a:pPr lvl="1">
              <a:lnSpc>
                <a:spcPct val="114000"/>
              </a:lnSpc>
            </a:pPr>
            <a:r>
              <a:rPr lang="en-US" sz="2000" b="1" dirty="0">
                <a:latin typeface="Arial Nova Light" panose="020B0304020202020204" pitchFamily="34" charset="0"/>
              </a:rPr>
              <a:t>Learning is personal</a:t>
            </a:r>
            <a:r>
              <a:rPr lang="en-US" sz="2000" dirty="0">
                <a:latin typeface="Arial Nova Light" panose="020B0304020202020204" pitchFamily="34" charset="0"/>
              </a:rPr>
              <a:t>: we carry out learning activities (e.g., taking classes, reading) to extend or improve our personal understanding of a subject.</a:t>
            </a:r>
          </a:p>
          <a:p>
            <a:pPr lvl="2">
              <a:lnSpc>
                <a:spcPct val="114000"/>
              </a:lnSpc>
            </a:pPr>
            <a:r>
              <a:rPr lang="en-US" sz="1600" dirty="0"/>
              <a:t>Assumption: Knowledge is known to someone</a:t>
            </a:r>
            <a:endParaRPr lang="en-US" sz="1600" dirty="0">
              <a:latin typeface="Arial Nova Light" panose="020B0304020202020204" pitchFamily="34" charset="0"/>
            </a:endParaRPr>
          </a:p>
          <a:p>
            <a:pPr lvl="1">
              <a:lnSpc>
                <a:spcPct val="114000"/>
              </a:lnSpc>
            </a:pPr>
            <a:endParaRPr lang="en-US" sz="2000" dirty="0">
              <a:latin typeface="Arial Nova Light" panose="020B0304020202020204" pitchFamily="34" charset="0"/>
            </a:endParaRPr>
          </a:p>
          <a:p>
            <a:pPr lvl="1">
              <a:lnSpc>
                <a:spcPct val="114000"/>
              </a:lnSpc>
            </a:pPr>
            <a:r>
              <a:rPr lang="en-US" sz="2000" b="1" dirty="0">
                <a:latin typeface="Arial Nova Light" panose="020B0304020202020204" pitchFamily="34" charset="0"/>
              </a:rPr>
              <a:t>Research is social</a:t>
            </a:r>
            <a:r>
              <a:rPr lang="en-US" sz="2000" dirty="0">
                <a:latin typeface="Arial Nova Light" panose="020B0304020202020204" pitchFamily="34" charset="0"/>
              </a:rPr>
              <a:t>: We carry out research activities (e.g., designing models and experiments, publish papers) to extend or improve our communities understanding of a subject.</a:t>
            </a:r>
          </a:p>
          <a:p>
            <a:pPr lvl="2">
              <a:lnSpc>
                <a:spcPct val="114000"/>
              </a:lnSpc>
            </a:pPr>
            <a:r>
              <a:rPr lang="en-US" sz="1600" dirty="0"/>
              <a:t>Assumption: Knowledge is not known to someone</a:t>
            </a:r>
            <a:endParaRPr lang="en-US" sz="1600" dirty="0">
              <a:latin typeface="Arial Nova Light" panose="020B0304020202020204" pitchFamily="34" charset="0"/>
            </a:endParaRPr>
          </a:p>
          <a:p>
            <a:endParaRPr lang="en-US" sz="2400" dirty="0">
              <a:latin typeface="Arial Nova Light" panose="020B0304020202020204" pitchFamily="34" charset="0"/>
            </a:endParaRPr>
          </a:p>
          <a:p>
            <a:endParaRPr lang="en-US" sz="2400" dirty="0">
              <a:latin typeface="Arial Nova Light" panose="020B0304020202020204" pitchFamily="34" charset="0"/>
            </a:endParaRPr>
          </a:p>
          <a:p>
            <a:endParaRPr lang="en-US" sz="2400" dirty="0">
              <a:latin typeface="Arial Nova Light" panose="020B0304020202020204" pitchFamily="34" charset="0"/>
            </a:endParaRPr>
          </a:p>
          <a:p>
            <a:endParaRPr lang="en-US" sz="2400" dirty="0">
              <a:latin typeface="Arial Nova Light" panose="020B0304020202020204" pitchFamily="34" charset="0"/>
            </a:endParaRPr>
          </a:p>
          <a:p>
            <a:pPr lvl="1"/>
            <a:endParaRPr lang="en-US" sz="2000" dirty="0">
              <a:latin typeface="Arial Nova Light" panose="020B0304020202020204" pitchFamily="34" charset="0"/>
            </a:endParaRPr>
          </a:p>
        </p:txBody>
      </p:sp>
    </p:spTree>
    <p:extLst>
      <p:ext uri="{BB962C8B-B14F-4D97-AF65-F5344CB8AC3E}">
        <p14:creationId xmlns:p14="http://schemas.microsoft.com/office/powerpoint/2010/main" val="68952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B43D8-C383-445E-EB78-AFA76B86E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0C69F3-01B2-DCBE-BD6A-1197985CB738}"/>
              </a:ext>
            </a:extLst>
          </p:cNvPr>
          <p:cNvSpPr>
            <a:spLocks noGrp="1"/>
          </p:cNvSpPr>
          <p:nvPr>
            <p:ph type="title"/>
          </p:nvPr>
        </p:nvSpPr>
        <p:spPr/>
        <p:txBody>
          <a:bodyPr/>
          <a:lstStyle/>
          <a:p>
            <a:r>
              <a:rPr lang="en-US">
                <a:latin typeface="Arial Nova Light" panose="020B0304020202020204" pitchFamily="34" charset="0"/>
              </a:rPr>
              <a:t>Reasons people conduct research</a:t>
            </a:r>
          </a:p>
        </p:txBody>
      </p:sp>
      <p:sp>
        <p:nvSpPr>
          <p:cNvPr id="3" name="Content Placeholder 2">
            <a:extLst>
              <a:ext uri="{FF2B5EF4-FFF2-40B4-BE49-F238E27FC236}">
                <a16:creationId xmlns:a16="http://schemas.microsoft.com/office/drawing/2014/main" id="{A9079B17-0820-118E-DDDD-6827B2A03F2E}"/>
              </a:ext>
            </a:extLst>
          </p:cNvPr>
          <p:cNvSpPr>
            <a:spLocks noGrp="1"/>
          </p:cNvSpPr>
          <p:nvPr>
            <p:ph idx="1"/>
          </p:nvPr>
        </p:nvSpPr>
        <p:spPr/>
        <p:txBody>
          <a:bodyPr>
            <a:normAutofit/>
          </a:bodyPr>
          <a:lstStyle/>
          <a:p>
            <a:pPr>
              <a:lnSpc>
                <a:spcPct val="114000"/>
              </a:lnSpc>
            </a:pPr>
            <a:r>
              <a:rPr lang="en-US" sz="2400" b="1" dirty="0">
                <a:latin typeface="Arial Nova Light" panose="020B0304020202020204" pitchFamily="34" charset="0"/>
              </a:rPr>
              <a:t>Depth of knowledge: </a:t>
            </a:r>
            <a:r>
              <a:rPr lang="en-US" sz="2400" dirty="0">
                <a:latin typeface="Arial Nova Light" panose="020B0304020202020204" pitchFamily="34" charset="0"/>
              </a:rPr>
              <a:t>Need </a:t>
            </a:r>
            <a:r>
              <a:rPr lang="en-US" sz="2400" i="1" dirty="0">
                <a:latin typeface="Arial Nova Light" panose="020B0304020202020204" pitchFamily="34" charset="0"/>
              </a:rPr>
              <a:t>cutting-edge</a:t>
            </a:r>
            <a:r>
              <a:rPr lang="en-US" sz="2400" dirty="0">
                <a:latin typeface="Arial Nova Light" panose="020B0304020202020204" pitchFamily="34" charset="0"/>
              </a:rPr>
              <a:t> understanding of a subject matter (e.g., to be an expert) </a:t>
            </a:r>
          </a:p>
          <a:p>
            <a:pPr>
              <a:lnSpc>
                <a:spcPct val="114000"/>
              </a:lnSpc>
            </a:pPr>
            <a:endParaRPr lang="en-US" sz="1000" b="1" dirty="0">
              <a:latin typeface="Arial Nova Light" panose="020B0304020202020204" pitchFamily="34" charset="0"/>
            </a:endParaRPr>
          </a:p>
          <a:p>
            <a:pPr>
              <a:lnSpc>
                <a:spcPct val="114000"/>
              </a:lnSpc>
            </a:pPr>
            <a:r>
              <a:rPr lang="en-US" sz="2400" b="1" dirty="0">
                <a:latin typeface="Arial Nova Light" panose="020B0304020202020204" pitchFamily="34" charset="0"/>
              </a:rPr>
              <a:t>Solving problems: </a:t>
            </a:r>
            <a:r>
              <a:rPr lang="en-US" sz="2400" dirty="0">
                <a:latin typeface="Arial Nova Light" panose="020B0304020202020204" pitchFamily="34" charset="0"/>
              </a:rPr>
              <a:t>Need </a:t>
            </a:r>
            <a:r>
              <a:rPr lang="en-US" sz="2400" i="1" dirty="0">
                <a:latin typeface="Arial Nova Light" panose="020B0304020202020204" pitchFamily="34" charset="0"/>
              </a:rPr>
              <a:t>deeper</a:t>
            </a:r>
            <a:r>
              <a:rPr lang="en-US" sz="2400" dirty="0">
                <a:latin typeface="Arial Nova Light" panose="020B0304020202020204" pitchFamily="34" charset="0"/>
              </a:rPr>
              <a:t> understanding of a subject matter (and its limitations) to solve a problem</a:t>
            </a:r>
          </a:p>
          <a:p>
            <a:pPr>
              <a:lnSpc>
                <a:spcPct val="114000"/>
              </a:lnSpc>
            </a:pPr>
            <a:endParaRPr lang="en-US" sz="1000" b="1" dirty="0">
              <a:latin typeface="Arial Nova Light" panose="020B0304020202020204" pitchFamily="34" charset="0"/>
            </a:endParaRPr>
          </a:p>
          <a:p>
            <a:pPr>
              <a:lnSpc>
                <a:spcPct val="114000"/>
              </a:lnSpc>
            </a:pPr>
            <a:r>
              <a:rPr lang="en-US" sz="2400" b="1" dirty="0">
                <a:latin typeface="Arial Nova Light" panose="020B0304020202020204" pitchFamily="34" charset="0"/>
              </a:rPr>
              <a:t>Making decisions: </a:t>
            </a:r>
            <a:r>
              <a:rPr lang="en-US" sz="2400" dirty="0">
                <a:latin typeface="Arial Nova Light" panose="020B0304020202020204" pitchFamily="34" charset="0"/>
              </a:rPr>
              <a:t>Need </a:t>
            </a:r>
            <a:r>
              <a:rPr lang="en-US" sz="2400" i="1" dirty="0">
                <a:latin typeface="Arial Nova Light" panose="020B0304020202020204" pitchFamily="34" charset="0"/>
              </a:rPr>
              <a:t>deeper</a:t>
            </a:r>
            <a:r>
              <a:rPr lang="en-US" sz="2400" dirty="0">
                <a:latin typeface="Arial Nova Light" panose="020B0304020202020204" pitchFamily="34" charset="0"/>
              </a:rPr>
              <a:t> understanding of a subject matter (and its limitations) to create an effective strategy</a:t>
            </a:r>
            <a:endParaRPr lang="en-US" dirty="0">
              <a:latin typeface="Arial Nova Light" panose="020B0304020202020204" pitchFamily="34" charset="0"/>
            </a:endParaRPr>
          </a:p>
          <a:p>
            <a:pPr lvl="1"/>
            <a:endParaRPr lang="en-US" dirty="0">
              <a:latin typeface="Arial Nova Light" panose="020B0304020202020204" pitchFamily="34" charset="0"/>
            </a:endParaRPr>
          </a:p>
        </p:txBody>
      </p:sp>
    </p:spTree>
    <p:extLst>
      <p:ext uri="{BB962C8B-B14F-4D97-AF65-F5344CB8AC3E}">
        <p14:creationId xmlns:p14="http://schemas.microsoft.com/office/powerpoint/2010/main" val="860257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63C11-9409-BBA3-026B-9A8A4885A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B73082-3C88-313B-2EB4-46DA1DA6629B}"/>
              </a:ext>
            </a:extLst>
          </p:cNvPr>
          <p:cNvSpPr>
            <a:spLocks noGrp="1"/>
          </p:cNvSpPr>
          <p:nvPr>
            <p:ph type="title"/>
          </p:nvPr>
        </p:nvSpPr>
        <p:spPr/>
        <p:txBody>
          <a:bodyPr/>
          <a:lstStyle/>
          <a:p>
            <a:r>
              <a:rPr lang="en-US">
                <a:latin typeface="Arial Nova Light" panose="020B0304020202020204" pitchFamily="34" charset="0"/>
              </a:rPr>
              <a:t>Methods vs Methodology</a:t>
            </a:r>
          </a:p>
        </p:txBody>
      </p:sp>
      <p:sp>
        <p:nvSpPr>
          <p:cNvPr id="3" name="Content Placeholder 2">
            <a:extLst>
              <a:ext uri="{FF2B5EF4-FFF2-40B4-BE49-F238E27FC236}">
                <a16:creationId xmlns:a16="http://schemas.microsoft.com/office/drawing/2014/main" id="{C862BD1E-6976-1FBC-2874-3A8ECDBE6494}"/>
              </a:ext>
            </a:extLst>
          </p:cNvPr>
          <p:cNvSpPr>
            <a:spLocks noGrp="1"/>
          </p:cNvSpPr>
          <p:nvPr>
            <p:ph idx="1"/>
          </p:nvPr>
        </p:nvSpPr>
        <p:spPr/>
        <p:txBody>
          <a:bodyPr>
            <a:normAutofit/>
          </a:bodyPr>
          <a:lstStyle/>
          <a:p>
            <a:r>
              <a:rPr lang="en-US" sz="2400" b="1" dirty="0">
                <a:latin typeface="Arial Nova Light" panose="020B0304020202020204" pitchFamily="34" charset="0"/>
              </a:rPr>
              <a:t>Research Methods: </a:t>
            </a:r>
            <a:r>
              <a:rPr lang="en-US" sz="2400" dirty="0">
                <a:latin typeface="Arial Nova Light" panose="020B0304020202020204" pitchFamily="34" charset="0"/>
              </a:rPr>
              <a:t>the specific tools and approaches used to complete a research project</a:t>
            </a:r>
          </a:p>
          <a:p>
            <a:pPr lvl="1"/>
            <a:r>
              <a:rPr lang="en-US" sz="2000" dirty="0">
                <a:latin typeface="Arial Nova Light" panose="020B0304020202020204" pitchFamily="34" charset="0"/>
              </a:rPr>
              <a:t>An important part of a research paper, thesis, case report, etc.</a:t>
            </a:r>
          </a:p>
          <a:p>
            <a:pPr lvl="1"/>
            <a:r>
              <a:rPr lang="en-US" sz="2000" dirty="0">
                <a:latin typeface="Arial Nova Light" panose="020B0304020202020204" pitchFamily="34" charset="0"/>
              </a:rPr>
              <a:t>Needed for reproducibility</a:t>
            </a:r>
          </a:p>
          <a:p>
            <a:pPr marL="0" indent="0">
              <a:buNone/>
            </a:pPr>
            <a:endParaRPr lang="en-US" sz="2400" dirty="0">
              <a:latin typeface="Arial Nova Light" panose="020B0304020202020204" pitchFamily="34" charset="0"/>
            </a:endParaRPr>
          </a:p>
          <a:p>
            <a:r>
              <a:rPr lang="en-US" sz="2400" b="1" dirty="0">
                <a:latin typeface="Arial Nova Light" panose="020B0304020202020204" pitchFamily="34" charset="0"/>
              </a:rPr>
              <a:t>Research Methodology: </a:t>
            </a:r>
            <a:r>
              <a:rPr lang="en-US" sz="2400" dirty="0"/>
              <a:t>the study of methods; the </a:t>
            </a:r>
            <a:r>
              <a:rPr lang="en-US" sz="2400" i="1" dirty="0">
                <a:latin typeface="Arial Nova Light" panose="020B0304020202020204" pitchFamily="34" charset="0"/>
              </a:rPr>
              <a:t>general strategies</a:t>
            </a:r>
            <a:r>
              <a:rPr lang="en-US" sz="2400" dirty="0">
                <a:latin typeface="Arial Nova Light" panose="020B0304020202020204" pitchFamily="34" charset="0"/>
              </a:rPr>
              <a:t> and approaches for approaching/conducting a research project</a:t>
            </a:r>
          </a:p>
          <a:p>
            <a:pPr lvl="1"/>
            <a:r>
              <a:rPr lang="en-US" sz="2000" dirty="0">
                <a:latin typeface="Arial Nova Light" panose="020B0304020202020204" pitchFamily="34" charset="0"/>
              </a:rPr>
              <a:t>“the craft of research”</a:t>
            </a:r>
          </a:p>
          <a:p>
            <a:pPr marL="457200" lvl="1" indent="0">
              <a:buNone/>
            </a:pPr>
            <a:endParaRPr lang="en-US" sz="2000" dirty="0">
              <a:latin typeface="Arial Nova Light" panose="020B0304020202020204" pitchFamily="34" charset="0"/>
            </a:endParaRPr>
          </a:p>
          <a:p>
            <a:pPr marL="457200" lvl="1" indent="0">
              <a:buNone/>
            </a:pPr>
            <a:endParaRPr lang="en-US" sz="2000" dirty="0">
              <a:latin typeface="Arial Nova Light" panose="020B0304020202020204" pitchFamily="34" charset="0"/>
            </a:endParaRPr>
          </a:p>
          <a:p>
            <a:endParaRPr lang="en-US" sz="2400" dirty="0">
              <a:latin typeface="Arial Nova Light" panose="020B0304020202020204" pitchFamily="34" charset="0"/>
            </a:endParaRPr>
          </a:p>
          <a:p>
            <a:pPr lvl="1"/>
            <a:endParaRPr lang="en-US" sz="2000" dirty="0">
              <a:latin typeface="Arial Nova Light" panose="020B0304020202020204" pitchFamily="34" charset="0"/>
            </a:endParaRPr>
          </a:p>
        </p:txBody>
      </p:sp>
    </p:spTree>
    <p:extLst>
      <p:ext uri="{BB962C8B-B14F-4D97-AF65-F5344CB8AC3E}">
        <p14:creationId xmlns:p14="http://schemas.microsoft.com/office/powerpoint/2010/main" val="1388807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63C11-9409-BBA3-026B-9A8A4885A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B73082-3C88-313B-2EB4-46DA1DA6629B}"/>
              </a:ext>
            </a:extLst>
          </p:cNvPr>
          <p:cNvSpPr>
            <a:spLocks noGrp="1"/>
          </p:cNvSpPr>
          <p:nvPr>
            <p:ph type="title"/>
          </p:nvPr>
        </p:nvSpPr>
        <p:spPr/>
        <p:txBody>
          <a:bodyPr/>
          <a:lstStyle/>
          <a:p>
            <a:r>
              <a:rPr lang="en-US" dirty="0">
                <a:latin typeface="Arial Nova Light" panose="020B0304020202020204" pitchFamily="34" charset="0"/>
              </a:rPr>
              <a:t>General steps in the craft of research</a:t>
            </a:r>
          </a:p>
        </p:txBody>
      </p:sp>
      <p:sp>
        <p:nvSpPr>
          <p:cNvPr id="3" name="Content Placeholder 2">
            <a:extLst>
              <a:ext uri="{FF2B5EF4-FFF2-40B4-BE49-F238E27FC236}">
                <a16:creationId xmlns:a16="http://schemas.microsoft.com/office/drawing/2014/main" id="{C862BD1E-6976-1FBC-2874-3A8ECDBE6494}"/>
              </a:ext>
            </a:extLst>
          </p:cNvPr>
          <p:cNvSpPr>
            <a:spLocks noGrp="1"/>
          </p:cNvSpPr>
          <p:nvPr>
            <p:ph idx="1"/>
          </p:nvPr>
        </p:nvSpPr>
        <p:spPr/>
        <p:txBody>
          <a:bodyPr>
            <a:normAutofit lnSpcReduction="10000"/>
          </a:bodyPr>
          <a:lstStyle/>
          <a:p>
            <a:pPr marL="0" indent="0">
              <a:lnSpc>
                <a:spcPct val="114000"/>
              </a:lnSpc>
              <a:buNone/>
            </a:pPr>
            <a:r>
              <a:rPr lang="en-US" sz="2000" b="1" dirty="0">
                <a:latin typeface="Arial Nova Light" panose="020B0304020202020204" pitchFamily="34" charset="0"/>
              </a:rPr>
              <a:t>Problem formulation:</a:t>
            </a:r>
            <a:r>
              <a:rPr lang="en-US" sz="2000" dirty="0">
                <a:latin typeface="Arial Nova Light" panose="020B0304020202020204" pitchFamily="34" charset="0"/>
              </a:rPr>
              <a:t> The goal in this step is to identify one or more “robust” (tractable, feasible) research questions that are </a:t>
            </a:r>
            <a:r>
              <a:rPr lang="en-US" sz="2000" i="1" dirty="0">
                <a:latin typeface="Arial Nova Light" panose="020B0304020202020204" pitchFamily="34" charset="0"/>
              </a:rPr>
              <a:t>worth</a:t>
            </a:r>
            <a:r>
              <a:rPr lang="en-US" sz="2000" dirty="0">
                <a:latin typeface="Arial Nova Light" panose="020B0304020202020204" pitchFamily="34" charset="0"/>
              </a:rPr>
              <a:t> pursuing. </a:t>
            </a:r>
          </a:p>
          <a:p>
            <a:pPr lvl="1">
              <a:lnSpc>
                <a:spcPct val="114000"/>
              </a:lnSpc>
            </a:pPr>
            <a:r>
              <a:rPr lang="en-US" sz="1800" dirty="0">
                <a:latin typeface="Arial Nova Light" panose="020B0304020202020204" pitchFamily="34" charset="0"/>
              </a:rPr>
              <a:t>critical thinking, literature review</a:t>
            </a:r>
          </a:p>
          <a:p>
            <a:pPr marL="514350" indent="-514350">
              <a:lnSpc>
                <a:spcPct val="114000"/>
              </a:lnSpc>
              <a:buAutoNum type="arabicPeriod"/>
            </a:pPr>
            <a:endParaRPr lang="en-US" sz="2000" dirty="0">
              <a:latin typeface="Arial Nova Light" panose="020B0304020202020204" pitchFamily="34" charset="0"/>
            </a:endParaRPr>
          </a:p>
          <a:p>
            <a:pPr marL="0" indent="0">
              <a:lnSpc>
                <a:spcPct val="114000"/>
              </a:lnSpc>
              <a:buNone/>
            </a:pPr>
            <a:r>
              <a:rPr lang="en-US" sz="2000" b="1" dirty="0">
                <a:latin typeface="Arial Nova Light" panose="020B0304020202020204" pitchFamily="34" charset="0"/>
              </a:rPr>
              <a:t>Experimentation and analysis: </a:t>
            </a:r>
            <a:r>
              <a:rPr lang="en-US" sz="2000" dirty="0">
                <a:latin typeface="Arial Nova Light" panose="020B0304020202020204" pitchFamily="34" charset="0"/>
              </a:rPr>
              <a:t>The goal in this step is to design specific experiments and analytical methods that </a:t>
            </a:r>
            <a:r>
              <a:rPr lang="en-US" sz="2000" i="1" dirty="0">
                <a:latin typeface="Arial Nova Light" panose="020B0304020202020204" pitchFamily="34" charset="0"/>
              </a:rPr>
              <a:t>best</a:t>
            </a:r>
            <a:r>
              <a:rPr lang="en-US" sz="2000" dirty="0">
                <a:latin typeface="Arial Nova Light" panose="020B0304020202020204" pitchFamily="34" charset="0"/>
              </a:rPr>
              <a:t> answer research questions. </a:t>
            </a:r>
          </a:p>
          <a:p>
            <a:pPr lvl="1">
              <a:lnSpc>
                <a:spcPct val="114000"/>
              </a:lnSpc>
            </a:pPr>
            <a:r>
              <a:rPr lang="en-US" sz="1800" dirty="0">
                <a:latin typeface="Arial Nova Light" panose="020B0304020202020204" pitchFamily="34" charset="0"/>
              </a:rPr>
              <a:t>critical thinking, literature review, models and experimentation, data analysis</a:t>
            </a:r>
          </a:p>
          <a:p>
            <a:pPr marL="0" indent="0">
              <a:lnSpc>
                <a:spcPct val="114000"/>
              </a:lnSpc>
              <a:buNone/>
            </a:pPr>
            <a:endParaRPr lang="en-US" sz="2000" dirty="0">
              <a:latin typeface="Arial Nova Light" panose="020B0304020202020204" pitchFamily="34" charset="0"/>
            </a:endParaRPr>
          </a:p>
          <a:p>
            <a:pPr marL="0" indent="0">
              <a:lnSpc>
                <a:spcPct val="114000"/>
              </a:lnSpc>
              <a:buNone/>
            </a:pPr>
            <a:r>
              <a:rPr lang="en-US" sz="2000" b="1" dirty="0">
                <a:latin typeface="Arial Nova Light" panose="020B0304020202020204" pitchFamily="34" charset="0"/>
              </a:rPr>
              <a:t>Dissemination: </a:t>
            </a:r>
            <a:r>
              <a:rPr lang="en-US" sz="2000" dirty="0">
                <a:latin typeface="Arial Nova Light" panose="020B0304020202020204" pitchFamily="34" charset="0"/>
              </a:rPr>
              <a:t>The goal in this step is to present your findings so that others in the community can benefit from the work. </a:t>
            </a:r>
          </a:p>
          <a:p>
            <a:pPr lvl="1">
              <a:lnSpc>
                <a:spcPct val="114000"/>
              </a:lnSpc>
            </a:pPr>
            <a:r>
              <a:rPr lang="en-US" sz="1800" dirty="0">
                <a:latin typeface="Arial Nova Light" panose="020B0304020202020204" pitchFamily="34" charset="0"/>
              </a:rPr>
              <a:t>Publishing papers, dissertations, technical reports … podcasts, blog posts, videos</a:t>
            </a:r>
          </a:p>
        </p:txBody>
      </p:sp>
    </p:spTree>
    <p:extLst>
      <p:ext uri="{BB962C8B-B14F-4D97-AF65-F5344CB8AC3E}">
        <p14:creationId xmlns:p14="http://schemas.microsoft.com/office/powerpoint/2010/main" val="1399471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Research Methodology Concept Map">
            <a:extLst>
              <a:ext uri="{FF2B5EF4-FFF2-40B4-BE49-F238E27FC236}">
                <a16:creationId xmlns:a16="http://schemas.microsoft.com/office/drawing/2014/main" id="{A8B0D1E1-E63A-FE22-35CB-5F69607B72CC}"/>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1" y="-1"/>
            <a:ext cx="12192002" cy="6858001"/>
          </a:xfrm>
          <a:prstGeom prst="rect">
            <a:avLst/>
          </a:prstGeom>
        </p:spPr>
      </p:pic>
    </p:spTree>
    <p:extLst>
      <p:ext uri="{BB962C8B-B14F-4D97-AF65-F5344CB8AC3E}">
        <p14:creationId xmlns:p14="http://schemas.microsoft.com/office/powerpoint/2010/main" val="3743316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3D23A-37E1-2B30-99F0-4AD46D333BC5}"/>
            </a:ext>
          </a:extLst>
        </p:cNvPr>
        <p:cNvGrpSpPr/>
        <p:nvPr/>
      </p:nvGrpSpPr>
      <p:grpSpPr>
        <a:xfrm>
          <a:off x="0" y="0"/>
          <a:ext cx="0" cy="0"/>
          <a:chOff x="0" y="0"/>
          <a:chExt cx="0" cy="0"/>
        </a:xfrm>
      </p:grpSpPr>
      <p:pic>
        <p:nvPicPr>
          <p:cNvPr id="4" name="Picture 3" descr="Research Methodology Concept Map">
            <a:extLst>
              <a:ext uri="{FF2B5EF4-FFF2-40B4-BE49-F238E27FC236}">
                <a16:creationId xmlns:a16="http://schemas.microsoft.com/office/drawing/2014/main" id="{07726D74-1FC2-A94A-6127-B25C4F7ECCFA}"/>
              </a:ext>
            </a:extLst>
          </p:cNvPr>
          <p:cNvPicPr>
            <a:picLocks noChangeAspect="1"/>
          </p:cNvPicPr>
          <p:nvPr/>
        </p:nvPicPr>
        <p:blipFill>
          <a:blip r:embed="rId2"/>
          <a:stretch>
            <a:fillRect/>
          </a:stretch>
        </p:blipFill>
        <p:spPr>
          <a:xfrm>
            <a:off x="-8297055" y="-11550315"/>
            <a:ext cx="28786109" cy="16192186"/>
          </a:xfrm>
          <a:prstGeom prst="rect">
            <a:avLst/>
          </a:prstGeom>
        </p:spPr>
      </p:pic>
    </p:spTree>
    <p:extLst>
      <p:ext uri="{BB962C8B-B14F-4D97-AF65-F5344CB8AC3E}">
        <p14:creationId xmlns:p14="http://schemas.microsoft.com/office/powerpoint/2010/main" val="10512897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2226C-EA3A-A5FC-19D8-E3AEC2D67ECA}"/>
            </a:ext>
          </a:extLst>
        </p:cNvPr>
        <p:cNvGrpSpPr/>
        <p:nvPr/>
      </p:nvGrpSpPr>
      <p:grpSpPr>
        <a:xfrm>
          <a:off x="0" y="0"/>
          <a:ext cx="0" cy="0"/>
          <a:chOff x="0" y="0"/>
          <a:chExt cx="0" cy="0"/>
        </a:xfrm>
      </p:grpSpPr>
      <p:pic>
        <p:nvPicPr>
          <p:cNvPr id="4" name="Picture 3" descr="Research Methodology Concept Map">
            <a:extLst>
              <a:ext uri="{FF2B5EF4-FFF2-40B4-BE49-F238E27FC236}">
                <a16:creationId xmlns:a16="http://schemas.microsoft.com/office/drawing/2014/main" id="{20A25C56-B384-9410-2A63-505B62CF6C1D}"/>
              </a:ext>
            </a:extLst>
          </p:cNvPr>
          <p:cNvPicPr>
            <a:picLocks noChangeAspect="1"/>
          </p:cNvPicPr>
          <p:nvPr/>
        </p:nvPicPr>
        <p:blipFill>
          <a:blip r:embed="rId2"/>
          <a:stretch>
            <a:fillRect/>
          </a:stretch>
        </p:blipFill>
        <p:spPr>
          <a:xfrm>
            <a:off x="-612887" y="-625643"/>
            <a:ext cx="19802530" cy="11138923"/>
          </a:xfrm>
          <a:prstGeom prst="rect">
            <a:avLst/>
          </a:prstGeom>
        </p:spPr>
      </p:pic>
    </p:spTree>
    <p:extLst>
      <p:ext uri="{BB962C8B-B14F-4D97-AF65-F5344CB8AC3E}">
        <p14:creationId xmlns:p14="http://schemas.microsoft.com/office/powerpoint/2010/main" val="3606309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9F2C9-FADE-F66D-49EB-668BD88017A4}"/>
            </a:ext>
          </a:extLst>
        </p:cNvPr>
        <p:cNvGrpSpPr/>
        <p:nvPr/>
      </p:nvGrpSpPr>
      <p:grpSpPr>
        <a:xfrm>
          <a:off x="0" y="0"/>
          <a:ext cx="0" cy="0"/>
          <a:chOff x="0" y="0"/>
          <a:chExt cx="0" cy="0"/>
        </a:xfrm>
      </p:grpSpPr>
      <p:pic>
        <p:nvPicPr>
          <p:cNvPr id="4" name="Picture 3" descr="Research Methodology Concept Map">
            <a:extLst>
              <a:ext uri="{FF2B5EF4-FFF2-40B4-BE49-F238E27FC236}">
                <a16:creationId xmlns:a16="http://schemas.microsoft.com/office/drawing/2014/main" id="{916CABBE-806C-DCA9-2C4F-5029D50A3DD0}"/>
              </a:ext>
            </a:extLst>
          </p:cNvPr>
          <p:cNvPicPr>
            <a:picLocks noChangeAspect="1"/>
          </p:cNvPicPr>
          <p:nvPr/>
        </p:nvPicPr>
        <p:blipFill>
          <a:blip r:embed="rId2"/>
          <a:stretch>
            <a:fillRect/>
          </a:stretch>
        </p:blipFill>
        <p:spPr>
          <a:xfrm>
            <a:off x="0" y="-2500248"/>
            <a:ext cx="16636886" cy="9358248"/>
          </a:xfrm>
          <a:prstGeom prst="rect">
            <a:avLst/>
          </a:prstGeom>
        </p:spPr>
      </p:pic>
    </p:spTree>
    <p:extLst>
      <p:ext uri="{BB962C8B-B14F-4D97-AF65-F5344CB8AC3E}">
        <p14:creationId xmlns:p14="http://schemas.microsoft.com/office/powerpoint/2010/main" val="2521977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3DE7E-3D02-1D11-4661-5CB80E3DDCDA}"/>
            </a:ext>
          </a:extLst>
        </p:cNvPr>
        <p:cNvGrpSpPr/>
        <p:nvPr/>
      </p:nvGrpSpPr>
      <p:grpSpPr>
        <a:xfrm>
          <a:off x="0" y="0"/>
          <a:ext cx="0" cy="0"/>
          <a:chOff x="0" y="0"/>
          <a:chExt cx="0" cy="0"/>
        </a:xfrm>
      </p:grpSpPr>
      <p:pic>
        <p:nvPicPr>
          <p:cNvPr id="4" name="Picture 3" descr="Research Methodology Concept Map">
            <a:extLst>
              <a:ext uri="{FF2B5EF4-FFF2-40B4-BE49-F238E27FC236}">
                <a16:creationId xmlns:a16="http://schemas.microsoft.com/office/drawing/2014/main" id="{29A1F374-A6B6-D6A1-CCF1-E5F82568AFF3}"/>
              </a:ext>
            </a:extLst>
          </p:cNvPr>
          <p:cNvPicPr>
            <a:picLocks noChangeAspect="1"/>
          </p:cNvPicPr>
          <p:nvPr/>
        </p:nvPicPr>
        <p:blipFill>
          <a:blip r:embed="rId2"/>
          <a:stretch>
            <a:fillRect/>
          </a:stretch>
        </p:blipFill>
        <p:spPr>
          <a:xfrm>
            <a:off x="-8318443" y="-4280922"/>
            <a:ext cx="16636886" cy="9358248"/>
          </a:xfrm>
          <a:prstGeom prst="rect">
            <a:avLst/>
          </a:prstGeom>
        </p:spPr>
      </p:pic>
    </p:spTree>
    <p:extLst>
      <p:ext uri="{BB962C8B-B14F-4D97-AF65-F5344CB8AC3E}">
        <p14:creationId xmlns:p14="http://schemas.microsoft.com/office/powerpoint/2010/main" val="11325126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CC81B-475A-7234-7F1E-57E27BBE6C2B}"/>
            </a:ext>
          </a:extLst>
        </p:cNvPr>
        <p:cNvGrpSpPr/>
        <p:nvPr/>
      </p:nvGrpSpPr>
      <p:grpSpPr>
        <a:xfrm>
          <a:off x="0" y="0"/>
          <a:ext cx="0" cy="0"/>
          <a:chOff x="0" y="0"/>
          <a:chExt cx="0" cy="0"/>
        </a:xfrm>
      </p:grpSpPr>
      <p:pic>
        <p:nvPicPr>
          <p:cNvPr id="4" name="Picture 3" descr="Research Methodology Concept Map">
            <a:extLst>
              <a:ext uri="{FF2B5EF4-FFF2-40B4-BE49-F238E27FC236}">
                <a16:creationId xmlns:a16="http://schemas.microsoft.com/office/drawing/2014/main" id="{B6F4BE35-95DF-CF2C-96BE-9945C13BDB7F}"/>
              </a:ext>
            </a:extLst>
          </p:cNvPr>
          <p:cNvPicPr>
            <a:picLocks noChangeAspect="1"/>
          </p:cNvPicPr>
          <p:nvPr/>
        </p:nvPicPr>
        <p:blipFill>
          <a:blip r:embed="rId2"/>
          <a:stretch>
            <a:fillRect/>
          </a:stretch>
        </p:blipFill>
        <p:spPr>
          <a:xfrm>
            <a:off x="-1" y="-1"/>
            <a:ext cx="12192002" cy="6858001"/>
          </a:xfrm>
          <a:prstGeom prst="rect">
            <a:avLst/>
          </a:prstGeom>
        </p:spPr>
      </p:pic>
    </p:spTree>
    <p:extLst>
      <p:ext uri="{BB962C8B-B14F-4D97-AF65-F5344CB8AC3E}">
        <p14:creationId xmlns:p14="http://schemas.microsoft.com/office/powerpoint/2010/main" val="22563877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Research Methodology Concept Map">
            <a:extLst>
              <a:ext uri="{FF2B5EF4-FFF2-40B4-BE49-F238E27FC236}">
                <a16:creationId xmlns:a16="http://schemas.microsoft.com/office/drawing/2014/main" id="{1D18EC96-47A4-836C-080E-056B6A0E2CDB}"/>
              </a:ext>
            </a:extLst>
          </p:cNvPr>
          <p:cNvPicPr>
            <a:picLocks noChangeAspect="1"/>
          </p:cNvPicPr>
          <p:nvPr/>
        </p:nvPicPr>
        <p:blipFill>
          <a:blip r:embed="rId2"/>
          <a:stretch>
            <a:fillRect/>
          </a:stretch>
        </p:blipFill>
        <p:spPr>
          <a:xfrm>
            <a:off x="-1" y="0"/>
            <a:ext cx="12191999" cy="6858000"/>
          </a:xfrm>
          <a:prstGeom prst="rect">
            <a:avLst/>
          </a:prstGeom>
        </p:spPr>
      </p:pic>
      <p:sp>
        <p:nvSpPr>
          <p:cNvPr id="3" name="Oval 2">
            <a:extLst>
              <a:ext uri="{FF2B5EF4-FFF2-40B4-BE49-F238E27FC236}">
                <a16:creationId xmlns:a16="http://schemas.microsoft.com/office/drawing/2014/main" id="{DE661971-C35D-1F3A-F3AC-E42C7869AEF4}"/>
              </a:ext>
            </a:extLst>
          </p:cNvPr>
          <p:cNvSpPr/>
          <p:nvPr/>
        </p:nvSpPr>
        <p:spPr>
          <a:xfrm>
            <a:off x="274320" y="731520"/>
            <a:ext cx="7559040" cy="2255520"/>
          </a:xfrm>
          <a:prstGeom prst="ellipse">
            <a:avLst/>
          </a:prstGeom>
          <a:solidFill>
            <a:srgbClr val="C5E0B4">
              <a:alpha val="1451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538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C55F1-58B1-14CF-F29F-8979587AD9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E5BFA-34C4-71CC-BA2D-D73933FA0AF3}"/>
              </a:ext>
            </a:extLst>
          </p:cNvPr>
          <p:cNvSpPr>
            <a:spLocks noGrp="1"/>
          </p:cNvSpPr>
          <p:nvPr>
            <p:ph type="title"/>
          </p:nvPr>
        </p:nvSpPr>
        <p:spPr/>
        <p:txBody>
          <a:bodyPr/>
          <a:lstStyle/>
          <a:p>
            <a:r>
              <a:rPr lang="en-US" dirty="0">
                <a:latin typeface="Arial Nova Light" panose="020B0304020202020204" pitchFamily="34" charset="0"/>
              </a:rPr>
              <a:t>Opioid Epidemic </a:t>
            </a:r>
          </a:p>
        </p:txBody>
      </p:sp>
      <p:sp>
        <p:nvSpPr>
          <p:cNvPr id="3" name="Content Placeholder 2">
            <a:extLst>
              <a:ext uri="{FF2B5EF4-FFF2-40B4-BE49-F238E27FC236}">
                <a16:creationId xmlns:a16="http://schemas.microsoft.com/office/drawing/2014/main" id="{408BBBD3-428B-E468-A3BC-6ECBE1606661}"/>
              </a:ext>
            </a:extLst>
          </p:cNvPr>
          <p:cNvSpPr>
            <a:spLocks noGrp="1"/>
          </p:cNvSpPr>
          <p:nvPr>
            <p:ph idx="1"/>
          </p:nvPr>
        </p:nvSpPr>
        <p:spPr>
          <a:xfrm>
            <a:off x="838200" y="1825624"/>
            <a:ext cx="6040272" cy="4793539"/>
          </a:xfrm>
        </p:spPr>
        <p:txBody>
          <a:bodyPr>
            <a:normAutofit/>
          </a:bodyPr>
          <a:lstStyle/>
          <a:p>
            <a:r>
              <a:rPr lang="en-US" sz="2400" dirty="0">
                <a:latin typeface="Arial Nova Light" panose="020B0304020202020204" pitchFamily="34" charset="0"/>
              </a:rPr>
              <a:t>In 2016, I was assigned the task </a:t>
            </a:r>
          </a:p>
          <a:p>
            <a:pPr marL="0" indent="0">
              <a:buNone/>
            </a:pPr>
            <a:r>
              <a:rPr lang="en-US" sz="2400" dirty="0"/>
              <a:t>	</a:t>
            </a:r>
            <a:r>
              <a:rPr lang="en-US" sz="2400" dirty="0">
                <a:latin typeface="Arial Nova Light" panose="020B0304020202020204" pitchFamily="34" charset="0"/>
              </a:rPr>
              <a:t>“help law enforcement (forensic 	  	 science labs) identify fentanyl 		 analogs”</a:t>
            </a:r>
          </a:p>
          <a:p>
            <a:endParaRPr lang="en-US" sz="2400" dirty="0">
              <a:latin typeface="Arial Nova Light" panose="020B0304020202020204" pitchFamily="34" charset="0"/>
            </a:endParaRPr>
          </a:p>
          <a:p>
            <a:r>
              <a:rPr lang="en-US" sz="2400" b="1" dirty="0">
                <a:latin typeface="Arial Nova Light" panose="020B0304020202020204" pitchFamily="34" charset="0"/>
              </a:rPr>
              <a:t>Challenge 1: </a:t>
            </a:r>
            <a:r>
              <a:rPr lang="en-US" sz="2400" dirty="0">
                <a:latin typeface="Arial Nova Light" panose="020B0304020202020204" pitchFamily="34" charset="0"/>
              </a:rPr>
              <a:t>Figure out why forensic science labs were unable to identify fentanyl analogs.</a:t>
            </a:r>
          </a:p>
          <a:p>
            <a:endParaRPr lang="en-US" sz="2400" dirty="0">
              <a:latin typeface="Arial Nova Light" panose="020B0304020202020204" pitchFamily="34" charset="0"/>
            </a:endParaRPr>
          </a:p>
          <a:p>
            <a:r>
              <a:rPr lang="en-US" sz="2400" b="1" dirty="0">
                <a:latin typeface="Arial Nova Light" panose="020B0304020202020204" pitchFamily="34" charset="0"/>
              </a:rPr>
              <a:t>Challenge 0: </a:t>
            </a:r>
            <a:r>
              <a:rPr lang="en-US" sz="2400" dirty="0">
                <a:latin typeface="Arial Nova Light" panose="020B0304020202020204" pitchFamily="34" charset="0"/>
              </a:rPr>
              <a:t>Figure out how forensic science labs identify any drugs.</a:t>
            </a:r>
          </a:p>
        </p:txBody>
      </p:sp>
      <p:pic>
        <p:nvPicPr>
          <p:cNvPr id="4" name="Picture 3" descr="Graph of fentanyl overdose deaths in the US">
            <a:extLst>
              <a:ext uri="{FF2B5EF4-FFF2-40B4-BE49-F238E27FC236}">
                <a16:creationId xmlns:a16="http://schemas.microsoft.com/office/drawing/2014/main" id="{4E35E183-4EFE-E15A-8B27-8C08B580E6CA}"/>
              </a:ext>
            </a:extLst>
          </p:cNvPr>
          <p:cNvPicPr>
            <a:picLocks noChangeAspect="1"/>
          </p:cNvPicPr>
          <p:nvPr/>
        </p:nvPicPr>
        <p:blipFill rotWithShape="1">
          <a:blip r:embed="rId2"/>
          <a:srcRect l="24501" t="30112" r="34956" b="22397"/>
          <a:stretch/>
        </p:blipFill>
        <p:spPr>
          <a:xfrm>
            <a:off x="7043321" y="1851540"/>
            <a:ext cx="4703989" cy="3443796"/>
          </a:xfrm>
          <a:prstGeom prst="rect">
            <a:avLst/>
          </a:prstGeom>
        </p:spPr>
      </p:pic>
      <p:sp>
        <p:nvSpPr>
          <p:cNvPr id="5" name="TextBox 4">
            <a:extLst>
              <a:ext uri="{FF2B5EF4-FFF2-40B4-BE49-F238E27FC236}">
                <a16:creationId xmlns:a16="http://schemas.microsoft.com/office/drawing/2014/main" id="{B46407B8-A1AE-458A-3814-B2BF5D98495C}"/>
              </a:ext>
            </a:extLst>
          </p:cNvPr>
          <p:cNvSpPr txBox="1"/>
          <p:nvPr/>
        </p:nvSpPr>
        <p:spPr>
          <a:xfrm>
            <a:off x="7174173" y="5185069"/>
            <a:ext cx="3985146" cy="461665"/>
          </a:xfrm>
          <a:prstGeom prst="rect">
            <a:avLst/>
          </a:prstGeom>
          <a:noFill/>
        </p:spPr>
        <p:txBody>
          <a:bodyPr wrap="square">
            <a:spAutoFit/>
          </a:bodyPr>
          <a:lstStyle/>
          <a:p>
            <a:r>
              <a:rPr lang="en-US" sz="1200" dirty="0">
                <a:latin typeface="Arial Nova Light" panose="020B0304020202020204" pitchFamily="34" charset="0"/>
              </a:rPr>
              <a:t>References:</a:t>
            </a:r>
          </a:p>
          <a:p>
            <a:r>
              <a:rPr lang="en-US" sz="1200" dirty="0">
                <a:latin typeface="Arial Nova Light" panose="020B0304020202020204" pitchFamily="34" charset="0"/>
                <a:hlinkClick r:id="rId3"/>
              </a:rPr>
              <a:t>https://www.cfr.org/in-brief/us-fentanyl-crisis-what-know</a:t>
            </a:r>
            <a:r>
              <a:rPr lang="en-US" sz="1200" dirty="0">
                <a:latin typeface="Arial Nova Light" panose="020B0304020202020204" pitchFamily="34" charset="0"/>
              </a:rPr>
              <a:t> </a:t>
            </a:r>
          </a:p>
        </p:txBody>
      </p:sp>
    </p:spTree>
    <p:extLst>
      <p:ext uri="{BB962C8B-B14F-4D97-AF65-F5344CB8AC3E}">
        <p14:creationId xmlns:p14="http://schemas.microsoft.com/office/powerpoint/2010/main" val="334851071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BED28-F532-69F8-01ED-EAB8C37487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B7B3C-669F-E714-584A-7FB26A9D882D}"/>
              </a:ext>
            </a:extLst>
          </p:cNvPr>
          <p:cNvSpPr>
            <a:spLocks noGrp="1"/>
          </p:cNvSpPr>
          <p:nvPr>
            <p:ph type="title"/>
          </p:nvPr>
        </p:nvSpPr>
        <p:spPr/>
        <p:txBody>
          <a:bodyPr/>
          <a:lstStyle/>
          <a:p>
            <a:r>
              <a:rPr lang="en-US" dirty="0">
                <a:latin typeface="Arial Nova Light" panose="020B0304020202020204" pitchFamily="34" charset="0"/>
              </a:rPr>
              <a:t>How forensic science labs identify drugs</a:t>
            </a:r>
          </a:p>
        </p:txBody>
      </p:sp>
      <p:pic>
        <p:nvPicPr>
          <p:cNvPr id="15" name="Picture 14" descr="Process of seized drug analysis">
            <a:extLst>
              <a:ext uri="{FF2B5EF4-FFF2-40B4-BE49-F238E27FC236}">
                <a16:creationId xmlns:a16="http://schemas.microsoft.com/office/drawing/2014/main" id="{EE95E2E9-AD42-6793-10C3-AF92E3DE3557}"/>
              </a:ext>
            </a:extLst>
          </p:cNvPr>
          <p:cNvPicPr>
            <a:picLocks noChangeAspect="1"/>
          </p:cNvPicPr>
          <p:nvPr/>
        </p:nvPicPr>
        <p:blipFill>
          <a:blip r:embed="rId2"/>
          <a:stretch>
            <a:fillRect/>
          </a:stretch>
        </p:blipFill>
        <p:spPr>
          <a:xfrm>
            <a:off x="2721189" y="2194560"/>
            <a:ext cx="14522022" cy="2468880"/>
          </a:xfrm>
          <a:prstGeom prst="rect">
            <a:avLst/>
          </a:prstGeom>
        </p:spPr>
      </p:pic>
    </p:spTree>
    <p:extLst>
      <p:ext uri="{BB962C8B-B14F-4D97-AF65-F5344CB8AC3E}">
        <p14:creationId xmlns:p14="http://schemas.microsoft.com/office/powerpoint/2010/main" val="1366411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F878E-769F-F922-CAB6-616108B7D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9906C3-4556-F2E4-D9C0-ADE8A5452B97}"/>
              </a:ext>
            </a:extLst>
          </p:cNvPr>
          <p:cNvSpPr>
            <a:spLocks noGrp="1"/>
          </p:cNvSpPr>
          <p:nvPr>
            <p:ph type="title"/>
          </p:nvPr>
        </p:nvSpPr>
        <p:spPr/>
        <p:txBody>
          <a:bodyPr/>
          <a:lstStyle/>
          <a:p>
            <a:r>
              <a:rPr lang="en-US" dirty="0">
                <a:latin typeface="Arial Nova Light" panose="020B0304020202020204" pitchFamily="34" charset="0"/>
              </a:rPr>
              <a:t>How forensic science labs identify drugs</a:t>
            </a:r>
          </a:p>
        </p:txBody>
      </p:sp>
      <p:pic>
        <p:nvPicPr>
          <p:cNvPr id="5" name="Picture 4" descr="process of seized drug analysis">
            <a:extLst>
              <a:ext uri="{FF2B5EF4-FFF2-40B4-BE49-F238E27FC236}">
                <a16:creationId xmlns:a16="http://schemas.microsoft.com/office/drawing/2014/main" id="{FE02976B-4FA3-C4BE-75FB-E7BF7F1E5CE5}"/>
              </a:ext>
            </a:extLst>
          </p:cNvPr>
          <p:cNvPicPr>
            <a:picLocks noChangeAspect="1"/>
          </p:cNvPicPr>
          <p:nvPr/>
        </p:nvPicPr>
        <p:blipFill>
          <a:blip r:embed="rId2"/>
          <a:stretch>
            <a:fillRect/>
          </a:stretch>
        </p:blipFill>
        <p:spPr>
          <a:xfrm>
            <a:off x="-2772437" y="2194560"/>
            <a:ext cx="14522022" cy="2468880"/>
          </a:xfrm>
          <a:prstGeom prst="rect">
            <a:avLst/>
          </a:prstGeom>
        </p:spPr>
      </p:pic>
      <p:sp>
        <p:nvSpPr>
          <p:cNvPr id="6" name="TextBox 5">
            <a:extLst>
              <a:ext uri="{FF2B5EF4-FFF2-40B4-BE49-F238E27FC236}">
                <a16:creationId xmlns:a16="http://schemas.microsoft.com/office/drawing/2014/main" id="{52B8744E-EEB5-80B7-4D80-DC7DF5499CFC}"/>
              </a:ext>
            </a:extLst>
          </p:cNvPr>
          <p:cNvSpPr txBox="1"/>
          <p:nvPr/>
        </p:nvSpPr>
        <p:spPr>
          <a:xfrm>
            <a:off x="1585415" y="4967785"/>
            <a:ext cx="9021169" cy="830997"/>
          </a:xfrm>
          <a:prstGeom prst="rect">
            <a:avLst/>
          </a:prstGeom>
          <a:noFill/>
        </p:spPr>
        <p:txBody>
          <a:bodyPr wrap="square" rtlCol="0">
            <a:spAutoFit/>
          </a:bodyPr>
          <a:lstStyle/>
          <a:p>
            <a:pPr algn="ctr"/>
            <a:r>
              <a:rPr lang="en-US" sz="2400" dirty="0">
                <a:solidFill>
                  <a:srgbClr val="FF0000"/>
                </a:solidFill>
                <a:latin typeface="Arial Nova Light" panose="020B0304020202020204" pitchFamily="34" charset="0"/>
              </a:rPr>
              <a:t>Mass spectral library searching only works if you have a representative reference spectrum of your analyte.</a:t>
            </a:r>
          </a:p>
        </p:txBody>
      </p:sp>
    </p:spTree>
    <p:extLst>
      <p:ext uri="{BB962C8B-B14F-4D97-AF65-F5344CB8AC3E}">
        <p14:creationId xmlns:p14="http://schemas.microsoft.com/office/powerpoint/2010/main" val="13208046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4B345-93E7-ED76-DDE1-49343A349877}"/>
            </a:ext>
          </a:extLst>
        </p:cNvPr>
        <p:cNvGrpSpPr/>
        <p:nvPr/>
      </p:nvGrpSpPr>
      <p:grpSpPr>
        <a:xfrm>
          <a:off x="0" y="0"/>
          <a:ext cx="0" cy="0"/>
          <a:chOff x="0" y="0"/>
          <a:chExt cx="0" cy="0"/>
        </a:xfrm>
      </p:grpSpPr>
      <p:pic>
        <p:nvPicPr>
          <p:cNvPr id="4" name="Picture 3" descr="Research Methodology Concept Map">
            <a:extLst>
              <a:ext uri="{FF2B5EF4-FFF2-40B4-BE49-F238E27FC236}">
                <a16:creationId xmlns:a16="http://schemas.microsoft.com/office/drawing/2014/main" id="{D1A3529A-94D1-98FA-EBF2-0515996FDE54}"/>
              </a:ext>
            </a:extLst>
          </p:cNvPr>
          <p:cNvPicPr>
            <a:picLocks noChangeAspect="1"/>
          </p:cNvPicPr>
          <p:nvPr/>
        </p:nvPicPr>
        <p:blipFill>
          <a:blip r:embed="rId2"/>
          <a:stretch>
            <a:fillRect/>
          </a:stretch>
        </p:blipFill>
        <p:spPr>
          <a:xfrm>
            <a:off x="-1" y="0"/>
            <a:ext cx="12191999" cy="6858000"/>
          </a:xfrm>
          <a:prstGeom prst="rect">
            <a:avLst/>
          </a:prstGeom>
        </p:spPr>
      </p:pic>
      <p:sp>
        <p:nvSpPr>
          <p:cNvPr id="3" name="Oval 2">
            <a:extLst>
              <a:ext uri="{FF2B5EF4-FFF2-40B4-BE49-F238E27FC236}">
                <a16:creationId xmlns:a16="http://schemas.microsoft.com/office/drawing/2014/main" id="{DC8C8D5A-6A81-D07D-FA4F-C48FF2964D5E}"/>
              </a:ext>
            </a:extLst>
          </p:cNvPr>
          <p:cNvSpPr/>
          <p:nvPr/>
        </p:nvSpPr>
        <p:spPr>
          <a:xfrm>
            <a:off x="487680" y="2667000"/>
            <a:ext cx="7559040" cy="2255520"/>
          </a:xfrm>
          <a:prstGeom prst="ellipse">
            <a:avLst/>
          </a:prstGeom>
          <a:solidFill>
            <a:srgbClr val="C5E0B4">
              <a:alpha val="1451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6468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ncept map">
            <a:extLst>
              <a:ext uri="{FF2B5EF4-FFF2-40B4-BE49-F238E27FC236}">
                <a16:creationId xmlns:a16="http://schemas.microsoft.com/office/drawing/2014/main" id="{3B095B13-D6FF-6DEF-8594-187CACF4F22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350520"/>
            <a:ext cx="12050050" cy="6156960"/>
          </a:xfrm>
          <a:prstGeom prst="rect">
            <a:avLst/>
          </a:prstGeom>
        </p:spPr>
      </p:pic>
    </p:spTree>
    <p:extLst>
      <p:ext uri="{BB962C8B-B14F-4D97-AF65-F5344CB8AC3E}">
        <p14:creationId xmlns:p14="http://schemas.microsoft.com/office/powerpoint/2010/main" val="2809579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1C347-A294-A013-DECD-A807A0EE9832}"/>
            </a:ext>
          </a:extLst>
        </p:cNvPr>
        <p:cNvGrpSpPr/>
        <p:nvPr/>
      </p:nvGrpSpPr>
      <p:grpSpPr>
        <a:xfrm>
          <a:off x="0" y="0"/>
          <a:ext cx="0" cy="0"/>
          <a:chOff x="0" y="0"/>
          <a:chExt cx="0" cy="0"/>
        </a:xfrm>
      </p:grpSpPr>
      <p:pic>
        <p:nvPicPr>
          <p:cNvPr id="2" name="Picture 1" descr="Concept map.">
            <a:extLst>
              <a:ext uri="{FF2B5EF4-FFF2-40B4-BE49-F238E27FC236}">
                <a16:creationId xmlns:a16="http://schemas.microsoft.com/office/drawing/2014/main" id="{893BC7F4-94F5-7654-DE09-84EF4E5D348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9283825" y="-9753600"/>
            <a:ext cx="43069981" cy="22006560"/>
          </a:xfrm>
          <a:prstGeom prst="rect">
            <a:avLst/>
          </a:prstGeom>
        </p:spPr>
      </p:pic>
    </p:spTree>
    <p:extLst>
      <p:ext uri="{BB962C8B-B14F-4D97-AF65-F5344CB8AC3E}">
        <p14:creationId xmlns:p14="http://schemas.microsoft.com/office/powerpoint/2010/main" val="1932809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0A7EC-26DF-B186-ADAD-A4CE8254C397}"/>
            </a:ext>
          </a:extLst>
        </p:cNvPr>
        <p:cNvGrpSpPr/>
        <p:nvPr/>
      </p:nvGrpSpPr>
      <p:grpSpPr>
        <a:xfrm>
          <a:off x="0" y="0"/>
          <a:ext cx="0" cy="0"/>
          <a:chOff x="0" y="0"/>
          <a:chExt cx="0" cy="0"/>
        </a:xfrm>
      </p:grpSpPr>
      <p:pic>
        <p:nvPicPr>
          <p:cNvPr id="2" name="Picture 1" descr="concept map&#10;">
            <a:extLst>
              <a:ext uri="{FF2B5EF4-FFF2-40B4-BE49-F238E27FC236}">
                <a16:creationId xmlns:a16="http://schemas.microsoft.com/office/drawing/2014/main" id="{B84579BD-1ED6-68A5-EE2B-9648503CBF15}"/>
              </a:ext>
            </a:extLst>
          </p:cNvPr>
          <p:cNvPicPr>
            <a:picLocks noChangeAspect="1"/>
          </p:cNvPicPr>
          <p:nvPr/>
        </p:nvPicPr>
        <p:blipFill>
          <a:blip r:embed="rId2"/>
          <a:stretch>
            <a:fillRect/>
          </a:stretch>
        </p:blipFill>
        <p:spPr>
          <a:xfrm>
            <a:off x="-19344788" y="-17190720"/>
            <a:ext cx="43069987" cy="22006560"/>
          </a:xfrm>
          <a:prstGeom prst="rect">
            <a:avLst/>
          </a:prstGeom>
        </p:spPr>
      </p:pic>
    </p:spTree>
    <p:extLst>
      <p:ext uri="{BB962C8B-B14F-4D97-AF65-F5344CB8AC3E}">
        <p14:creationId xmlns:p14="http://schemas.microsoft.com/office/powerpoint/2010/main" val="9072646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89AE9-5DC5-8BE4-5172-FB264D4F1C6C}"/>
            </a:ext>
          </a:extLst>
        </p:cNvPr>
        <p:cNvGrpSpPr/>
        <p:nvPr/>
      </p:nvGrpSpPr>
      <p:grpSpPr>
        <a:xfrm>
          <a:off x="0" y="0"/>
          <a:ext cx="0" cy="0"/>
          <a:chOff x="0" y="0"/>
          <a:chExt cx="0" cy="0"/>
        </a:xfrm>
      </p:grpSpPr>
      <p:pic>
        <p:nvPicPr>
          <p:cNvPr id="2" name="Picture 1" descr="concept map">
            <a:extLst>
              <a:ext uri="{FF2B5EF4-FFF2-40B4-BE49-F238E27FC236}">
                <a16:creationId xmlns:a16="http://schemas.microsoft.com/office/drawing/2014/main" id="{EA4D454F-F713-3352-BA72-46721931C35F}"/>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4587345" y="-10119360"/>
            <a:ext cx="43069981" cy="22006560"/>
          </a:xfrm>
          <a:prstGeom prst="rect">
            <a:avLst/>
          </a:prstGeom>
        </p:spPr>
      </p:pic>
    </p:spTree>
    <p:extLst>
      <p:ext uri="{BB962C8B-B14F-4D97-AF65-F5344CB8AC3E}">
        <p14:creationId xmlns:p14="http://schemas.microsoft.com/office/powerpoint/2010/main" val="31356868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DA549-3647-CBFD-74D6-7E9C1425C217}"/>
            </a:ext>
          </a:extLst>
        </p:cNvPr>
        <p:cNvGrpSpPr/>
        <p:nvPr/>
      </p:nvGrpSpPr>
      <p:grpSpPr>
        <a:xfrm>
          <a:off x="0" y="0"/>
          <a:ext cx="0" cy="0"/>
          <a:chOff x="0" y="0"/>
          <a:chExt cx="0" cy="0"/>
        </a:xfrm>
      </p:grpSpPr>
      <p:pic>
        <p:nvPicPr>
          <p:cNvPr id="2" name="Picture 1" descr="Concept map.">
            <a:extLst>
              <a:ext uri="{FF2B5EF4-FFF2-40B4-BE49-F238E27FC236}">
                <a16:creationId xmlns:a16="http://schemas.microsoft.com/office/drawing/2014/main" id="{65B51162-FF02-875B-1690-1FAE40C06FC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8793585" y="-12984480"/>
            <a:ext cx="43069981" cy="22006560"/>
          </a:xfrm>
          <a:prstGeom prst="rect">
            <a:avLst/>
          </a:prstGeom>
        </p:spPr>
      </p:pic>
    </p:spTree>
    <p:extLst>
      <p:ext uri="{BB962C8B-B14F-4D97-AF65-F5344CB8AC3E}">
        <p14:creationId xmlns:p14="http://schemas.microsoft.com/office/powerpoint/2010/main" val="20917208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64057-BA41-3788-B490-B7C69EF5D2FF}"/>
            </a:ext>
          </a:extLst>
        </p:cNvPr>
        <p:cNvGrpSpPr/>
        <p:nvPr/>
      </p:nvGrpSpPr>
      <p:grpSpPr>
        <a:xfrm>
          <a:off x="0" y="0"/>
          <a:ext cx="0" cy="0"/>
          <a:chOff x="0" y="0"/>
          <a:chExt cx="0" cy="0"/>
        </a:xfrm>
      </p:grpSpPr>
      <p:pic>
        <p:nvPicPr>
          <p:cNvPr id="2" name="Picture 1" descr="Concept map.">
            <a:extLst>
              <a:ext uri="{FF2B5EF4-FFF2-40B4-BE49-F238E27FC236}">
                <a16:creationId xmlns:a16="http://schemas.microsoft.com/office/drawing/2014/main" id="{DDD01F29-6190-EBD8-3C49-5D820B1497A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9707985" y="-10302240"/>
            <a:ext cx="43069981" cy="22006560"/>
          </a:xfrm>
          <a:prstGeom prst="rect">
            <a:avLst/>
          </a:prstGeom>
        </p:spPr>
      </p:pic>
    </p:spTree>
    <p:extLst>
      <p:ext uri="{BB962C8B-B14F-4D97-AF65-F5344CB8AC3E}">
        <p14:creationId xmlns:p14="http://schemas.microsoft.com/office/powerpoint/2010/main" val="960056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DE78-3E47-B45A-D045-9CB7FA89F01D}"/>
            </a:ext>
          </a:extLst>
        </p:cNvPr>
        <p:cNvGrpSpPr/>
        <p:nvPr/>
      </p:nvGrpSpPr>
      <p:grpSpPr>
        <a:xfrm>
          <a:off x="0" y="0"/>
          <a:ext cx="0" cy="0"/>
          <a:chOff x="0" y="0"/>
          <a:chExt cx="0" cy="0"/>
        </a:xfrm>
      </p:grpSpPr>
      <p:pic>
        <p:nvPicPr>
          <p:cNvPr id="2" name="Picture 1" descr="Concept map.">
            <a:extLst>
              <a:ext uri="{FF2B5EF4-FFF2-40B4-BE49-F238E27FC236}">
                <a16:creationId xmlns:a16="http://schemas.microsoft.com/office/drawing/2014/main" id="{83FBA1EA-ED91-37AA-6499-5A65A1DC0516}"/>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1860342" y="-6217920"/>
            <a:ext cx="43069981" cy="22006560"/>
          </a:xfrm>
          <a:prstGeom prst="rect">
            <a:avLst/>
          </a:prstGeom>
        </p:spPr>
      </p:pic>
    </p:spTree>
    <p:extLst>
      <p:ext uri="{BB962C8B-B14F-4D97-AF65-F5344CB8AC3E}">
        <p14:creationId xmlns:p14="http://schemas.microsoft.com/office/powerpoint/2010/main" val="3935870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9C98E-0985-7D51-AB2F-3E971D0A4B4F}"/>
            </a:ext>
          </a:extLst>
        </p:cNvPr>
        <p:cNvGrpSpPr/>
        <p:nvPr/>
      </p:nvGrpSpPr>
      <p:grpSpPr>
        <a:xfrm>
          <a:off x="0" y="0"/>
          <a:ext cx="0" cy="0"/>
          <a:chOff x="0" y="0"/>
          <a:chExt cx="0" cy="0"/>
        </a:xfrm>
      </p:grpSpPr>
      <p:pic>
        <p:nvPicPr>
          <p:cNvPr id="2" name="Picture 1" descr="Concept map.">
            <a:extLst>
              <a:ext uri="{FF2B5EF4-FFF2-40B4-BE49-F238E27FC236}">
                <a16:creationId xmlns:a16="http://schemas.microsoft.com/office/drawing/2014/main" id="{6084C8BF-477D-FFA6-DBAD-2F53DC8B41A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5199074" y="-2893256"/>
            <a:ext cx="43069981" cy="22006560"/>
          </a:xfrm>
          <a:prstGeom prst="rect">
            <a:avLst/>
          </a:prstGeom>
        </p:spPr>
      </p:pic>
    </p:spTree>
    <p:extLst>
      <p:ext uri="{BB962C8B-B14F-4D97-AF65-F5344CB8AC3E}">
        <p14:creationId xmlns:p14="http://schemas.microsoft.com/office/powerpoint/2010/main" val="2841829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47268-7891-D4DA-82FD-1740D4F5ACD6}"/>
            </a:ext>
          </a:extLst>
        </p:cNvPr>
        <p:cNvGrpSpPr/>
        <p:nvPr/>
      </p:nvGrpSpPr>
      <p:grpSpPr>
        <a:xfrm>
          <a:off x="0" y="0"/>
          <a:ext cx="0" cy="0"/>
          <a:chOff x="0" y="0"/>
          <a:chExt cx="0" cy="0"/>
        </a:xfrm>
      </p:grpSpPr>
      <p:pic>
        <p:nvPicPr>
          <p:cNvPr id="2" name="Picture 1" descr="Concept map.">
            <a:extLst>
              <a:ext uri="{FF2B5EF4-FFF2-40B4-BE49-F238E27FC236}">
                <a16:creationId xmlns:a16="http://schemas.microsoft.com/office/drawing/2014/main" id="{08131945-70C8-BDD7-45D1-D93E28DB4AE6}"/>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7515985" y="-5181600"/>
            <a:ext cx="43069981" cy="22006560"/>
          </a:xfrm>
          <a:prstGeom prst="rect">
            <a:avLst/>
          </a:prstGeom>
        </p:spPr>
      </p:pic>
    </p:spTree>
    <p:extLst>
      <p:ext uri="{BB962C8B-B14F-4D97-AF65-F5344CB8AC3E}">
        <p14:creationId xmlns:p14="http://schemas.microsoft.com/office/powerpoint/2010/main" val="18733958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AFDFD-68BB-2488-BD1A-BE08CE759F6A}"/>
            </a:ext>
          </a:extLst>
        </p:cNvPr>
        <p:cNvGrpSpPr/>
        <p:nvPr/>
      </p:nvGrpSpPr>
      <p:grpSpPr>
        <a:xfrm>
          <a:off x="0" y="0"/>
          <a:ext cx="0" cy="0"/>
          <a:chOff x="0" y="0"/>
          <a:chExt cx="0" cy="0"/>
        </a:xfrm>
      </p:grpSpPr>
      <p:pic>
        <p:nvPicPr>
          <p:cNvPr id="2" name="Picture 1" descr="Concept map.">
            <a:extLst>
              <a:ext uri="{FF2B5EF4-FFF2-40B4-BE49-F238E27FC236}">
                <a16:creationId xmlns:a16="http://schemas.microsoft.com/office/drawing/2014/main" id="{544999E5-3830-9631-0994-16CE088157B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3797425" y="-1341120"/>
            <a:ext cx="43069981" cy="22006560"/>
          </a:xfrm>
          <a:prstGeom prst="rect">
            <a:avLst/>
          </a:prstGeom>
        </p:spPr>
      </p:pic>
    </p:spTree>
    <p:extLst>
      <p:ext uri="{BB962C8B-B14F-4D97-AF65-F5344CB8AC3E}">
        <p14:creationId xmlns:p14="http://schemas.microsoft.com/office/powerpoint/2010/main" val="39073863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68430-BDEC-5585-E9E6-A6593D3848B6}"/>
            </a:ext>
          </a:extLst>
        </p:cNvPr>
        <p:cNvGrpSpPr/>
        <p:nvPr/>
      </p:nvGrpSpPr>
      <p:grpSpPr>
        <a:xfrm>
          <a:off x="0" y="0"/>
          <a:ext cx="0" cy="0"/>
          <a:chOff x="0" y="0"/>
          <a:chExt cx="0" cy="0"/>
        </a:xfrm>
      </p:grpSpPr>
      <p:pic>
        <p:nvPicPr>
          <p:cNvPr id="2" name="Picture 1" descr="Concept map.">
            <a:extLst>
              <a:ext uri="{FF2B5EF4-FFF2-40B4-BE49-F238E27FC236}">
                <a16:creationId xmlns:a16="http://schemas.microsoft.com/office/drawing/2014/main" id="{7A6AA03A-1296-5F56-1AE9-6AD51BA22BE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906385" y="1950720"/>
            <a:ext cx="43069981" cy="22006560"/>
          </a:xfrm>
          <a:prstGeom prst="rect">
            <a:avLst/>
          </a:prstGeom>
        </p:spPr>
      </p:pic>
    </p:spTree>
    <p:extLst>
      <p:ext uri="{BB962C8B-B14F-4D97-AF65-F5344CB8AC3E}">
        <p14:creationId xmlns:p14="http://schemas.microsoft.com/office/powerpoint/2010/main" val="35753125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E735F-83B5-406D-B661-6A2BEACA0F1D}"/>
            </a:ext>
          </a:extLst>
        </p:cNvPr>
        <p:cNvGrpSpPr/>
        <p:nvPr/>
      </p:nvGrpSpPr>
      <p:grpSpPr>
        <a:xfrm>
          <a:off x="0" y="0"/>
          <a:ext cx="0" cy="0"/>
          <a:chOff x="0" y="0"/>
          <a:chExt cx="0" cy="0"/>
        </a:xfrm>
      </p:grpSpPr>
      <p:pic>
        <p:nvPicPr>
          <p:cNvPr id="2" name="Picture 1" descr="Concept map">
            <a:extLst>
              <a:ext uri="{FF2B5EF4-FFF2-40B4-BE49-F238E27FC236}">
                <a16:creationId xmlns:a16="http://schemas.microsoft.com/office/drawing/2014/main" id="{D5B29CF1-21F6-5B9D-9911-E6B36935C1AE}"/>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812633" y="0"/>
            <a:ext cx="19610935" cy="10020186"/>
          </a:xfrm>
          <a:prstGeom prst="rect">
            <a:avLst/>
          </a:prstGeom>
        </p:spPr>
      </p:pic>
      <p:sp>
        <p:nvSpPr>
          <p:cNvPr id="3" name="Rectangle 2">
            <a:extLst>
              <a:ext uri="{FF2B5EF4-FFF2-40B4-BE49-F238E27FC236}">
                <a16:creationId xmlns:a16="http://schemas.microsoft.com/office/drawing/2014/main" id="{50EA9DF2-EB46-E135-F6E3-624DF46E9F73}"/>
              </a:ext>
              <a:ext uri="{C183D7F6-B498-43B3-948B-1728B52AA6E4}">
                <adec:decorative xmlns:adec="http://schemas.microsoft.com/office/drawing/2017/decorative" val="1"/>
              </a:ext>
            </a:extLst>
          </p:cNvPr>
          <p:cNvSpPr/>
          <p:nvPr/>
        </p:nvSpPr>
        <p:spPr>
          <a:xfrm>
            <a:off x="-6930188" y="-1"/>
            <a:ext cx="10250904" cy="139085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Rectangle 3">
            <a:extLst>
              <a:ext uri="{FF2B5EF4-FFF2-40B4-BE49-F238E27FC236}">
                <a16:creationId xmlns:a16="http://schemas.microsoft.com/office/drawing/2014/main" id="{57A40381-CD34-15CA-ED59-49D584B954A0}"/>
              </a:ext>
              <a:ext uri="{C183D7F6-B498-43B3-948B-1728B52AA6E4}">
                <adec:decorative xmlns:adec="http://schemas.microsoft.com/office/drawing/2017/decorative" val="1"/>
              </a:ext>
            </a:extLst>
          </p:cNvPr>
          <p:cNvSpPr/>
          <p:nvPr/>
        </p:nvSpPr>
        <p:spPr>
          <a:xfrm>
            <a:off x="8796855" y="0"/>
            <a:ext cx="3395145" cy="139085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54E4884D-674C-521D-B536-F375096F6779}"/>
              </a:ext>
              <a:ext uri="{C183D7F6-B498-43B3-948B-1728B52AA6E4}">
                <adec:decorative xmlns:adec="http://schemas.microsoft.com/office/drawing/2017/decorative" val="1"/>
              </a:ext>
            </a:extLst>
          </p:cNvPr>
          <p:cNvSpPr/>
          <p:nvPr/>
        </p:nvSpPr>
        <p:spPr>
          <a:xfrm>
            <a:off x="3320715" y="6687399"/>
            <a:ext cx="10250905" cy="1828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77514443-47F3-BE80-932C-C3B50CB2A557}"/>
              </a:ext>
            </a:extLst>
          </p:cNvPr>
          <p:cNvSpPr txBox="1"/>
          <p:nvPr/>
        </p:nvSpPr>
        <p:spPr>
          <a:xfrm>
            <a:off x="2745528" y="1988288"/>
            <a:ext cx="843332" cy="369332"/>
          </a:xfrm>
          <a:prstGeom prst="rect">
            <a:avLst/>
          </a:prstGeom>
          <a:noFill/>
        </p:spPr>
        <p:txBody>
          <a:bodyPr wrap="square" rtlCol="0">
            <a:spAutoFit/>
          </a:bodyPr>
          <a:lstStyle/>
          <a:p>
            <a:r>
              <a:rPr lang="en-CA" dirty="0">
                <a:latin typeface="Arial Nova Light" panose="020B0304020202020204" pitchFamily="34" charset="0"/>
              </a:rPr>
              <a:t>Step 1</a:t>
            </a:r>
          </a:p>
        </p:txBody>
      </p:sp>
      <p:sp>
        <p:nvSpPr>
          <p:cNvPr id="8" name="TextBox 7">
            <a:extLst>
              <a:ext uri="{FF2B5EF4-FFF2-40B4-BE49-F238E27FC236}">
                <a16:creationId xmlns:a16="http://schemas.microsoft.com/office/drawing/2014/main" id="{958ADBCF-ACD0-7F3D-74FE-35422209BD01}"/>
              </a:ext>
            </a:extLst>
          </p:cNvPr>
          <p:cNvSpPr txBox="1"/>
          <p:nvPr/>
        </p:nvSpPr>
        <p:spPr>
          <a:xfrm>
            <a:off x="4399917" y="3880944"/>
            <a:ext cx="843332" cy="369332"/>
          </a:xfrm>
          <a:prstGeom prst="rect">
            <a:avLst/>
          </a:prstGeom>
          <a:noFill/>
        </p:spPr>
        <p:txBody>
          <a:bodyPr wrap="square" rtlCol="0">
            <a:spAutoFit/>
          </a:bodyPr>
          <a:lstStyle/>
          <a:p>
            <a:r>
              <a:rPr lang="en-CA" dirty="0">
                <a:latin typeface="Arial Nova Light" panose="020B0304020202020204" pitchFamily="34" charset="0"/>
              </a:rPr>
              <a:t>Step 2</a:t>
            </a:r>
          </a:p>
        </p:txBody>
      </p:sp>
    </p:spTree>
    <p:extLst>
      <p:ext uri="{BB962C8B-B14F-4D97-AF65-F5344CB8AC3E}">
        <p14:creationId xmlns:p14="http://schemas.microsoft.com/office/powerpoint/2010/main" val="1419497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EF0C7-2F18-A8CA-B998-6BD4BB8F40EF}"/>
            </a:ext>
          </a:extLst>
        </p:cNvPr>
        <p:cNvGrpSpPr/>
        <p:nvPr/>
      </p:nvGrpSpPr>
      <p:grpSpPr>
        <a:xfrm>
          <a:off x="0" y="0"/>
          <a:ext cx="0" cy="0"/>
          <a:chOff x="0" y="0"/>
          <a:chExt cx="0" cy="0"/>
        </a:xfrm>
      </p:grpSpPr>
      <p:pic>
        <p:nvPicPr>
          <p:cNvPr id="4" name="Picture 3" descr="Research Methodology Concept Map">
            <a:extLst>
              <a:ext uri="{FF2B5EF4-FFF2-40B4-BE49-F238E27FC236}">
                <a16:creationId xmlns:a16="http://schemas.microsoft.com/office/drawing/2014/main" id="{3A651D17-2593-C636-7789-DDDFAF3A98C2}"/>
              </a:ext>
            </a:extLst>
          </p:cNvPr>
          <p:cNvPicPr>
            <a:picLocks noChangeAspect="1"/>
          </p:cNvPicPr>
          <p:nvPr/>
        </p:nvPicPr>
        <p:blipFill>
          <a:blip r:embed="rId2"/>
          <a:stretch>
            <a:fillRect/>
          </a:stretch>
        </p:blipFill>
        <p:spPr>
          <a:xfrm>
            <a:off x="-1" y="0"/>
            <a:ext cx="12191999" cy="6858000"/>
          </a:xfrm>
          <a:prstGeom prst="rect">
            <a:avLst/>
          </a:prstGeom>
        </p:spPr>
      </p:pic>
    </p:spTree>
    <p:extLst>
      <p:ext uri="{BB962C8B-B14F-4D97-AF65-F5344CB8AC3E}">
        <p14:creationId xmlns:p14="http://schemas.microsoft.com/office/powerpoint/2010/main" val="631801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Research Methodology Concept Map">
            <a:extLst>
              <a:ext uri="{FF2B5EF4-FFF2-40B4-BE49-F238E27FC236}">
                <a16:creationId xmlns:a16="http://schemas.microsoft.com/office/drawing/2014/main" id="{C105078E-1471-FEA5-534F-AF58A53B98B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295024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3C3DF-1424-225F-2ACB-3A9A8B66E4A8}"/>
              </a:ext>
            </a:extLst>
          </p:cNvPr>
          <p:cNvSpPr>
            <a:spLocks noGrp="1"/>
          </p:cNvSpPr>
          <p:nvPr>
            <p:ph type="title"/>
          </p:nvPr>
        </p:nvSpPr>
        <p:spPr/>
        <p:txBody>
          <a:bodyPr/>
          <a:lstStyle/>
          <a:p>
            <a:r>
              <a:rPr lang="en-CA" dirty="0"/>
              <a:t>What is a research proposal?</a:t>
            </a:r>
          </a:p>
        </p:txBody>
      </p:sp>
      <p:sp>
        <p:nvSpPr>
          <p:cNvPr id="3" name="Content Placeholder 2">
            <a:extLst>
              <a:ext uri="{FF2B5EF4-FFF2-40B4-BE49-F238E27FC236}">
                <a16:creationId xmlns:a16="http://schemas.microsoft.com/office/drawing/2014/main" id="{4194F937-5C56-849E-7751-83F66840A6E9}"/>
              </a:ext>
            </a:extLst>
          </p:cNvPr>
          <p:cNvSpPr>
            <a:spLocks noGrp="1"/>
          </p:cNvSpPr>
          <p:nvPr>
            <p:ph idx="1"/>
          </p:nvPr>
        </p:nvSpPr>
        <p:spPr/>
        <p:txBody>
          <a:bodyPr>
            <a:normAutofit/>
          </a:bodyPr>
          <a:lstStyle/>
          <a:p>
            <a:r>
              <a:rPr lang="en-CA" sz="2400" dirty="0"/>
              <a:t>A research proposal (or project proposal or project plan) is a </a:t>
            </a:r>
            <a:r>
              <a:rPr lang="en-CA" sz="2400" b="1" dirty="0"/>
              <a:t>formal document or presentation</a:t>
            </a:r>
            <a:r>
              <a:rPr lang="en-CA" sz="2400" dirty="0"/>
              <a:t> used to </a:t>
            </a:r>
            <a:r>
              <a:rPr lang="en-CA" sz="2400" b="1" dirty="0"/>
              <a:t>advocate</a:t>
            </a:r>
            <a:r>
              <a:rPr lang="en-CA" sz="2400" dirty="0"/>
              <a:t> for a </a:t>
            </a:r>
            <a:r>
              <a:rPr lang="en-CA" sz="2400" b="1" dirty="0"/>
              <a:t>potential</a:t>
            </a:r>
            <a:r>
              <a:rPr lang="en-CA" sz="2400" dirty="0"/>
              <a:t> research project</a:t>
            </a:r>
          </a:p>
          <a:p>
            <a:endParaRPr lang="en-CA" sz="2400" dirty="0"/>
          </a:p>
          <a:p>
            <a:r>
              <a:rPr lang="en-CA" dirty="0"/>
              <a:t> </a:t>
            </a:r>
            <a:r>
              <a:rPr lang="en-CA" sz="2400" dirty="0"/>
              <a:t>Goal of a research proposal is to </a:t>
            </a:r>
            <a:r>
              <a:rPr lang="en-CA" sz="2400" b="1" dirty="0"/>
              <a:t>convince</a:t>
            </a:r>
            <a:r>
              <a:rPr lang="en-CA" sz="2400" dirty="0"/>
              <a:t> the reader (or listener) that:</a:t>
            </a:r>
          </a:p>
          <a:p>
            <a:pPr marL="914400" lvl="1" indent="-457200">
              <a:buFont typeface="+mj-lt"/>
              <a:buAutoNum type="arabicPeriod"/>
            </a:pPr>
            <a:r>
              <a:rPr lang="en-CA" sz="2000" dirty="0"/>
              <a:t>The research project will be successful, AND </a:t>
            </a:r>
          </a:p>
          <a:p>
            <a:pPr marL="914400" lvl="1" indent="-457200">
              <a:buFont typeface="+mj-lt"/>
              <a:buAutoNum type="arabicPeriod"/>
            </a:pPr>
            <a:r>
              <a:rPr lang="en-CA" sz="2000" dirty="0"/>
              <a:t>The results will be meaningful</a:t>
            </a:r>
          </a:p>
          <a:p>
            <a:pPr marL="914400" lvl="1" indent="-457200">
              <a:buFont typeface="+mj-lt"/>
              <a:buAutoNum type="arabicPeriod"/>
            </a:pPr>
            <a:endParaRPr lang="en-CA" dirty="0"/>
          </a:p>
          <a:p>
            <a:r>
              <a:rPr lang="en-CA" sz="2400" dirty="0"/>
              <a:t>Can achieve these goals with</a:t>
            </a:r>
          </a:p>
          <a:p>
            <a:pPr lvl="1"/>
            <a:r>
              <a:rPr lang="en-CA" sz="2000" dirty="0"/>
              <a:t>Including thoughtful details in your methodology and plan</a:t>
            </a:r>
          </a:p>
          <a:p>
            <a:pPr lvl="1"/>
            <a:r>
              <a:rPr lang="en-CA" sz="2000" dirty="0"/>
              <a:t>Making strong connections to the real-world in the background and motivation </a:t>
            </a:r>
          </a:p>
        </p:txBody>
      </p:sp>
    </p:spTree>
    <p:extLst>
      <p:ext uri="{BB962C8B-B14F-4D97-AF65-F5344CB8AC3E}">
        <p14:creationId xmlns:p14="http://schemas.microsoft.com/office/powerpoint/2010/main" val="1981707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F8878-0485-1738-1D12-E3CB99180B4B}"/>
              </a:ext>
            </a:extLst>
          </p:cNvPr>
          <p:cNvSpPr>
            <a:spLocks noGrp="1"/>
          </p:cNvSpPr>
          <p:nvPr>
            <p:ph type="title"/>
          </p:nvPr>
        </p:nvSpPr>
        <p:spPr/>
        <p:txBody>
          <a:bodyPr/>
          <a:lstStyle/>
          <a:p>
            <a:r>
              <a:rPr lang="en-US" dirty="0"/>
              <a:t>Parts of a research proposal/plan</a:t>
            </a:r>
          </a:p>
        </p:txBody>
      </p:sp>
      <p:sp>
        <p:nvSpPr>
          <p:cNvPr id="3" name="Content Placeholder 2">
            <a:extLst>
              <a:ext uri="{FF2B5EF4-FFF2-40B4-BE49-F238E27FC236}">
                <a16:creationId xmlns:a16="http://schemas.microsoft.com/office/drawing/2014/main" id="{B1E4BB3A-45E9-E7E4-5F70-E2CB2B6E7E99}"/>
              </a:ext>
            </a:extLst>
          </p:cNvPr>
          <p:cNvSpPr>
            <a:spLocks noGrp="1"/>
          </p:cNvSpPr>
          <p:nvPr>
            <p:ph idx="1"/>
          </p:nvPr>
        </p:nvSpPr>
        <p:spPr/>
        <p:txBody>
          <a:bodyPr>
            <a:normAutofit lnSpcReduction="10000"/>
          </a:bodyPr>
          <a:lstStyle/>
          <a:p>
            <a:r>
              <a:rPr lang="en-US" sz="2400" dirty="0"/>
              <a:t>Essential</a:t>
            </a:r>
          </a:p>
          <a:p>
            <a:pPr lvl="1"/>
            <a:r>
              <a:rPr lang="en-US" sz="2000" b="1" dirty="0">
                <a:solidFill>
                  <a:srgbClr val="00B050"/>
                </a:solidFill>
              </a:rPr>
              <a:t>Title:</a:t>
            </a:r>
            <a:r>
              <a:rPr lang="en-US" sz="2000" b="1" dirty="0"/>
              <a:t> </a:t>
            </a:r>
            <a:r>
              <a:rPr lang="en-US" sz="2000" dirty="0"/>
              <a:t>Describes the contents of the proposal/plan</a:t>
            </a:r>
          </a:p>
          <a:p>
            <a:pPr lvl="1"/>
            <a:r>
              <a:rPr lang="en-US" sz="2000" b="1" dirty="0">
                <a:solidFill>
                  <a:srgbClr val="00B050"/>
                </a:solidFill>
              </a:rPr>
              <a:t>Background:</a:t>
            </a:r>
            <a:r>
              <a:rPr lang="en-US" sz="2000" b="1" dirty="0"/>
              <a:t> </a:t>
            </a:r>
            <a:r>
              <a:rPr lang="en-US" sz="2000" dirty="0"/>
              <a:t>Explains the question(s)/objective(s) and relevant background necessary to understand the plan; provide motivation for the research</a:t>
            </a:r>
          </a:p>
          <a:p>
            <a:pPr lvl="1"/>
            <a:r>
              <a:rPr lang="en-US" sz="2000" b="1" dirty="0">
                <a:solidFill>
                  <a:srgbClr val="00B050"/>
                </a:solidFill>
              </a:rPr>
              <a:t>Method/Plan: </a:t>
            </a:r>
            <a:r>
              <a:rPr lang="en-US" sz="2000" dirty="0"/>
              <a:t>Provides step-by-step details about how the research will be conducted</a:t>
            </a:r>
          </a:p>
          <a:p>
            <a:pPr lvl="1"/>
            <a:r>
              <a:rPr lang="en-US" sz="2000" b="1" dirty="0"/>
              <a:t>Expected Outcomes/Impacts: </a:t>
            </a:r>
            <a:r>
              <a:rPr lang="en-US" sz="2000" dirty="0"/>
              <a:t>Another opportunity to explain why you think the research is important (will be meaningful)</a:t>
            </a:r>
          </a:p>
          <a:p>
            <a:pPr lvl="1"/>
            <a:r>
              <a:rPr lang="en-US" sz="2000" b="1" dirty="0"/>
              <a:t>Acknowledgments:</a:t>
            </a:r>
            <a:r>
              <a:rPr lang="en-US" sz="2000" dirty="0"/>
              <a:t> A note to people, institutions, resources that supported the plan.</a:t>
            </a:r>
          </a:p>
          <a:p>
            <a:pPr lvl="1"/>
            <a:r>
              <a:rPr lang="en-US" sz="2000" b="1" dirty="0">
                <a:solidFill>
                  <a:srgbClr val="00B050"/>
                </a:solidFill>
              </a:rPr>
              <a:t>References</a:t>
            </a:r>
          </a:p>
          <a:p>
            <a:pPr marL="457200" lvl="1" indent="0">
              <a:buNone/>
            </a:pPr>
            <a:endParaRPr lang="en-US" sz="2000" dirty="0"/>
          </a:p>
          <a:p>
            <a:r>
              <a:rPr lang="en-US" sz="2400" dirty="0"/>
              <a:t>Nice-to-haves: </a:t>
            </a:r>
          </a:p>
          <a:p>
            <a:pPr lvl="1"/>
            <a:r>
              <a:rPr lang="en-US" sz="2000" dirty="0"/>
              <a:t>Timeline, budgets, personnel involved</a:t>
            </a:r>
          </a:p>
          <a:p>
            <a:pPr lvl="1"/>
            <a:r>
              <a:rPr lang="en-US" sz="2000" dirty="0"/>
              <a:t>Mitigation Strategies: Alternative strategies if something goes wrong</a:t>
            </a:r>
          </a:p>
          <a:p>
            <a:pPr lvl="1"/>
            <a:endParaRPr lang="en-US" sz="2000" dirty="0"/>
          </a:p>
          <a:p>
            <a:endParaRPr lang="en-US" sz="2400" dirty="0"/>
          </a:p>
        </p:txBody>
      </p:sp>
    </p:spTree>
    <p:extLst>
      <p:ext uri="{BB962C8B-B14F-4D97-AF65-F5344CB8AC3E}">
        <p14:creationId xmlns:p14="http://schemas.microsoft.com/office/powerpoint/2010/main" val="2538511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35F013-FDCD-7699-A7A4-6B1B32073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66ACBD-A931-F374-4E13-FFA715BD595C}"/>
              </a:ext>
            </a:extLst>
          </p:cNvPr>
          <p:cNvSpPr>
            <a:spLocks noGrp="1"/>
          </p:cNvSpPr>
          <p:nvPr>
            <p:ph type="title"/>
          </p:nvPr>
        </p:nvSpPr>
        <p:spPr/>
        <p:txBody>
          <a:bodyPr/>
          <a:lstStyle/>
          <a:p>
            <a:r>
              <a:rPr lang="en-US" dirty="0"/>
              <a:t>Research Teams</a:t>
            </a:r>
          </a:p>
        </p:txBody>
      </p:sp>
      <p:sp>
        <p:nvSpPr>
          <p:cNvPr id="3" name="Content Placeholder 2">
            <a:extLst>
              <a:ext uri="{FF2B5EF4-FFF2-40B4-BE49-F238E27FC236}">
                <a16:creationId xmlns:a16="http://schemas.microsoft.com/office/drawing/2014/main" id="{9E551328-7233-FCAF-26C9-D2FDE8E68AAF}"/>
              </a:ext>
            </a:extLst>
          </p:cNvPr>
          <p:cNvSpPr>
            <a:spLocks noGrp="1"/>
          </p:cNvSpPr>
          <p:nvPr>
            <p:ph idx="1"/>
          </p:nvPr>
        </p:nvSpPr>
        <p:spPr/>
        <p:txBody>
          <a:bodyPr>
            <a:normAutofit/>
          </a:bodyPr>
          <a:lstStyle/>
          <a:p>
            <a:pPr>
              <a:lnSpc>
                <a:spcPct val="114000"/>
              </a:lnSpc>
            </a:pPr>
            <a:r>
              <a:rPr lang="en-US" sz="2400" b="1" dirty="0"/>
              <a:t>Principal Investigator (PI)</a:t>
            </a:r>
          </a:p>
          <a:p>
            <a:pPr lvl="1">
              <a:lnSpc>
                <a:spcPct val="114000"/>
              </a:lnSpc>
            </a:pPr>
            <a:r>
              <a:rPr lang="en-US" sz="2000" dirty="0"/>
              <a:t>The person </a:t>
            </a:r>
            <a:r>
              <a:rPr lang="en-US" sz="2000" i="1" dirty="0"/>
              <a:t>responsible</a:t>
            </a:r>
            <a:r>
              <a:rPr lang="en-US" sz="2000" dirty="0"/>
              <a:t> for all the research coming out of the group. Usually involved with conceptualization, acquiring support (e.g., funding), mentoring/training, reviewing/editing material. </a:t>
            </a:r>
          </a:p>
          <a:p>
            <a:pPr lvl="1">
              <a:lnSpc>
                <a:spcPct val="114000"/>
              </a:lnSpc>
            </a:pPr>
            <a:endParaRPr lang="en-US" sz="2000" dirty="0"/>
          </a:p>
          <a:p>
            <a:pPr>
              <a:lnSpc>
                <a:spcPct val="114000"/>
              </a:lnSpc>
            </a:pPr>
            <a:r>
              <a:rPr lang="en-US" sz="2400" b="1" dirty="0"/>
              <a:t>Co-Principal Investigators (Co-PIs)</a:t>
            </a:r>
          </a:p>
          <a:p>
            <a:pPr lvl="1">
              <a:lnSpc>
                <a:spcPct val="114000"/>
              </a:lnSpc>
            </a:pPr>
            <a:r>
              <a:rPr lang="en-US" sz="2000" dirty="0"/>
              <a:t>The people </a:t>
            </a:r>
            <a:r>
              <a:rPr lang="en-US" sz="2000" i="1" dirty="0"/>
              <a:t>responsible</a:t>
            </a:r>
            <a:r>
              <a:rPr lang="en-US" sz="2000" dirty="0"/>
              <a:t> for all the research coming out of the group. Usually involved with all aspects of research activity. </a:t>
            </a:r>
          </a:p>
        </p:txBody>
      </p:sp>
    </p:spTree>
    <p:extLst>
      <p:ext uri="{BB962C8B-B14F-4D97-AF65-F5344CB8AC3E}">
        <p14:creationId xmlns:p14="http://schemas.microsoft.com/office/powerpoint/2010/main" val="1911223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E914EC-89CD-74A1-D2D2-F66A1957FB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128F5-8746-B94D-B11B-9C84A2253250}"/>
              </a:ext>
            </a:extLst>
          </p:cNvPr>
          <p:cNvSpPr>
            <a:spLocks noGrp="1"/>
          </p:cNvSpPr>
          <p:nvPr>
            <p:ph type="title"/>
          </p:nvPr>
        </p:nvSpPr>
        <p:spPr/>
        <p:txBody>
          <a:bodyPr/>
          <a:lstStyle/>
          <a:p>
            <a:r>
              <a:rPr lang="en-US" dirty="0"/>
              <a:t>Research Teams</a:t>
            </a:r>
          </a:p>
        </p:txBody>
      </p:sp>
      <p:sp>
        <p:nvSpPr>
          <p:cNvPr id="3" name="Content Placeholder 2">
            <a:extLst>
              <a:ext uri="{FF2B5EF4-FFF2-40B4-BE49-F238E27FC236}">
                <a16:creationId xmlns:a16="http://schemas.microsoft.com/office/drawing/2014/main" id="{A7A3C9F9-ED6A-A6CB-B45F-4F312228A378}"/>
              </a:ext>
            </a:extLst>
          </p:cNvPr>
          <p:cNvSpPr>
            <a:spLocks noGrp="1"/>
          </p:cNvSpPr>
          <p:nvPr>
            <p:ph idx="1"/>
          </p:nvPr>
        </p:nvSpPr>
        <p:spPr/>
        <p:txBody>
          <a:bodyPr>
            <a:normAutofit/>
          </a:bodyPr>
          <a:lstStyle/>
          <a:p>
            <a:pPr>
              <a:lnSpc>
                <a:spcPct val="114000"/>
              </a:lnSpc>
            </a:pPr>
            <a:r>
              <a:rPr lang="en-US" sz="2400" b="1" dirty="0"/>
              <a:t>Staff Scientist / Postdoctoral Fellows / Research Associate</a:t>
            </a:r>
          </a:p>
          <a:p>
            <a:pPr lvl="1">
              <a:lnSpc>
                <a:spcPct val="114000"/>
              </a:lnSpc>
            </a:pPr>
            <a:r>
              <a:rPr lang="en-US" sz="2000" dirty="0"/>
              <a:t>People involved with leading one or more projects. Usually involved with conceptualization, experimentation/analysis, and writing original drafts of material. May be involved with mentoring. Has work approved by PI before publication/dissemination.</a:t>
            </a:r>
          </a:p>
          <a:p>
            <a:pPr lvl="1">
              <a:lnSpc>
                <a:spcPct val="114000"/>
              </a:lnSpc>
            </a:pPr>
            <a:endParaRPr lang="en-US" sz="2400" b="1" dirty="0"/>
          </a:p>
          <a:p>
            <a:pPr>
              <a:lnSpc>
                <a:spcPct val="114000"/>
              </a:lnSpc>
            </a:pPr>
            <a:r>
              <a:rPr lang="en-US" sz="2400" b="1" dirty="0"/>
              <a:t>Research Assistants (RA) / Technicians</a:t>
            </a:r>
            <a:endParaRPr lang="en-US" sz="1600" b="1" dirty="0"/>
          </a:p>
          <a:p>
            <a:pPr lvl="1">
              <a:lnSpc>
                <a:spcPct val="114000"/>
              </a:lnSpc>
            </a:pPr>
            <a:r>
              <a:rPr lang="en-US" sz="2000" dirty="0"/>
              <a:t>People involved with supporting one or more projects. Usually involved with experimentation/analysis, writing original drafts of material and/or reviewing/editing material. Usually mentored/supervised by PI or other senior personnel. Has work approved by senior personnel before publication/dissemination. </a:t>
            </a:r>
          </a:p>
          <a:p>
            <a:pPr marL="457200" lvl="1" indent="0">
              <a:lnSpc>
                <a:spcPct val="114000"/>
              </a:lnSpc>
              <a:buNone/>
            </a:pPr>
            <a:endParaRPr lang="en-US" sz="2000" dirty="0"/>
          </a:p>
        </p:txBody>
      </p:sp>
    </p:spTree>
    <p:extLst>
      <p:ext uri="{BB962C8B-B14F-4D97-AF65-F5344CB8AC3E}">
        <p14:creationId xmlns:p14="http://schemas.microsoft.com/office/powerpoint/2010/main" val="3565325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8C80-F18D-9629-5452-C594167A2BAB}"/>
              </a:ext>
            </a:extLst>
          </p:cNvPr>
          <p:cNvSpPr>
            <a:spLocks noGrp="1"/>
          </p:cNvSpPr>
          <p:nvPr>
            <p:ph type="title"/>
          </p:nvPr>
        </p:nvSpPr>
        <p:spPr/>
        <p:txBody>
          <a:bodyPr/>
          <a:lstStyle/>
          <a:p>
            <a:r>
              <a:rPr lang="en-US" dirty="0">
                <a:latin typeface="Arial Nova Light" panose="020B0304020202020204" pitchFamily="34" charset="0"/>
              </a:rPr>
              <a:t>Research at Trent – UG Classes</a:t>
            </a:r>
          </a:p>
        </p:txBody>
      </p:sp>
      <p:sp>
        <p:nvSpPr>
          <p:cNvPr id="3" name="Content Placeholder 2">
            <a:extLst>
              <a:ext uri="{FF2B5EF4-FFF2-40B4-BE49-F238E27FC236}">
                <a16:creationId xmlns:a16="http://schemas.microsoft.com/office/drawing/2014/main" id="{30C6CB81-49EF-D921-6843-785B2A49E714}"/>
              </a:ext>
            </a:extLst>
          </p:cNvPr>
          <p:cNvSpPr>
            <a:spLocks noGrp="1"/>
          </p:cNvSpPr>
          <p:nvPr>
            <p:ph idx="1"/>
          </p:nvPr>
        </p:nvSpPr>
        <p:spPr/>
        <p:txBody>
          <a:bodyPr>
            <a:normAutofit/>
          </a:bodyPr>
          <a:lstStyle/>
          <a:p>
            <a:pPr marL="0" indent="0">
              <a:buNone/>
            </a:pPr>
            <a:r>
              <a:rPr lang="en-CA" sz="2400" b="1" dirty="0">
                <a:latin typeface="Arial Nova Light" panose="020B0304020202020204" pitchFamily="34" charset="0"/>
              </a:rPr>
              <a:t>FRSC 3900H: Reading Course</a:t>
            </a:r>
          </a:p>
          <a:p>
            <a:pPr marL="0" indent="0">
              <a:lnSpc>
                <a:spcPct val="114000"/>
              </a:lnSpc>
              <a:buNone/>
            </a:pPr>
            <a:r>
              <a:rPr lang="en-CA" sz="2400" dirty="0">
                <a:latin typeface="Arial Nova Light" panose="020B0304020202020204" pitchFamily="34" charset="0"/>
              </a:rPr>
              <a:t>Provides an opportunity for more</a:t>
            </a:r>
            <a:r>
              <a:rPr lang="en-CA" sz="2400" b="1" dirty="0">
                <a:latin typeface="Arial Nova Light" panose="020B0304020202020204" pitchFamily="34" charset="0"/>
              </a:rPr>
              <a:t> intensive or broader study of a selected topic </a:t>
            </a:r>
            <a:r>
              <a:rPr lang="en-CA" sz="2400" dirty="0">
                <a:latin typeface="Arial Nova Light" panose="020B0304020202020204" pitchFamily="34" charset="0"/>
              </a:rPr>
              <a:t>in forensic science </a:t>
            </a:r>
            <a:r>
              <a:rPr lang="en-CA" sz="2400" i="1" dirty="0">
                <a:latin typeface="Arial Nova Light" panose="020B0304020202020204" pitchFamily="34" charset="0"/>
              </a:rPr>
              <a:t>under the guidance of a faculty member</a:t>
            </a:r>
            <a:r>
              <a:rPr lang="en-CA" sz="2400" dirty="0">
                <a:latin typeface="Arial Nova Light" panose="020B0304020202020204" pitchFamily="34" charset="0"/>
              </a:rPr>
              <a:t>. Students may take only one reading course. May be taken as a science credit with permission of the department chair. Prerequisite: 10.0 university credits and permission of course supervisor. Open only to students in Forensic Science (single- or joint-major), Forensic Anthropology, Forensic Biology, </a:t>
            </a:r>
            <a:r>
              <a:rPr lang="en-CA" sz="2400" dirty="0"/>
              <a:t>or </a:t>
            </a:r>
            <a:r>
              <a:rPr lang="en-CA" sz="2400" dirty="0">
                <a:latin typeface="Arial Nova Light" panose="020B0304020202020204" pitchFamily="34" charset="0"/>
              </a:rPr>
              <a:t>Forensic Chemistry.</a:t>
            </a:r>
            <a:endParaRPr lang="en-US" sz="2400" dirty="0">
              <a:latin typeface="Arial Nova Light" panose="020B0304020202020204" pitchFamily="34" charset="0"/>
            </a:endParaRPr>
          </a:p>
        </p:txBody>
      </p:sp>
    </p:spTree>
    <p:extLst>
      <p:ext uri="{BB962C8B-B14F-4D97-AF65-F5344CB8AC3E}">
        <p14:creationId xmlns:p14="http://schemas.microsoft.com/office/powerpoint/2010/main" val="312926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8C80-F18D-9629-5452-C594167A2BAB}"/>
              </a:ext>
            </a:extLst>
          </p:cNvPr>
          <p:cNvSpPr>
            <a:spLocks noGrp="1"/>
          </p:cNvSpPr>
          <p:nvPr>
            <p:ph type="title"/>
          </p:nvPr>
        </p:nvSpPr>
        <p:spPr/>
        <p:txBody>
          <a:bodyPr/>
          <a:lstStyle/>
          <a:p>
            <a:r>
              <a:rPr lang="en-US" dirty="0">
                <a:latin typeface="Arial Nova Light" panose="020B0304020202020204" pitchFamily="34" charset="0"/>
              </a:rPr>
              <a:t>Research at Trent – UG Classes</a:t>
            </a:r>
          </a:p>
        </p:txBody>
      </p:sp>
      <p:sp>
        <p:nvSpPr>
          <p:cNvPr id="3" name="Content Placeholder 2">
            <a:extLst>
              <a:ext uri="{FF2B5EF4-FFF2-40B4-BE49-F238E27FC236}">
                <a16:creationId xmlns:a16="http://schemas.microsoft.com/office/drawing/2014/main" id="{30C6CB81-49EF-D921-6843-785B2A49E714}"/>
              </a:ext>
            </a:extLst>
          </p:cNvPr>
          <p:cNvSpPr>
            <a:spLocks noGrp="1"/>
          </p:cNvSpPr>
          <p:nvPr>
            <p:ph idx="1"/>
          </p:nvPr>
        </p:nvSpPr>
        <p:spPr/>
        <p:txBody>
          <a:bodyPr>
            <a:normAutofit/>
          </a:bodyPr>
          <a:lstStyle/>
          <a:p>
            <a:pPr marL="0" indent="0">
              <a:buNone/>
            </a:pPr>
            <a:r>
              <a:rPr lang="en-CA" sz="2400" b="1" dirty="0">
                <a:solidFill>
                  <a:srgbClr val="0B2318"/>
                </a:solidFill>
                <a:effectLst/>
                <a:highlight>
                  <a:srgbClr val="FFFFFF"/>
                </a:highlight>
                <a:latin typeface="Arial Nova Light" panose="020B0304020202020204" pitchFamily="34" charset="0"/>
              </a:rPr>
              <a:t>FRSC 4010Y: Independent Project </a:t>
            </a:r>
          </a:p>
          <a:p>
            <a:pPr marL="0" indent="0">
              <a:lnSpc>
                <a:spcPct val="114000"/>
              </a:lnSpc>
              <a:buNone/>
            </a:pPr>
            <a:r>
              <a:rPr lang="en-CA" sz="2400" dirty="0">
                <a:latin typeface="Arial Nova Light" panose="020B0304020202020204" pitchFamily="34" charset="0"/>
              </a:rPr>
              <a:t>This self-directed research course requires students to investigate research topics relating to forensic science and to prepare a thorough, detailed research proposal in an area of research pertinent to forensic science. Students defend their research questions and their proposed methodology in a class discussion. Research is </a:t>
            </a:r>
            <a:r>
              <a:rPr lang="en-CA" sz="2400" i="1" dirty="0">
                <a:latin typeface="Arial Nova Light" panose="020B0304020202020204" pitchFamily="34" charset="0"/>
              </a:rPr>
              <a:t>carried out individually or working in small groups</a:t>
            </a:r>
            <a:r>
              <a:rPr lang="en-CA" sz="2400" dirty="0">
                <a:latin typeface="Arial Nova Light" panose="020B0304020202020204" pitchFamily="34" charset="0"/>
              </a:rPr>
              <a:t>. Open only to students in Forensic Science (single-major), Forensic Biology, or Forensic Chemistry</a:t>
            </a:r>
            <a:endParaRPr lang="en-US" sz="2400" dirty="0">
              <a:latin typeface="Arial Nova Light" panose="020B0304020202020204" pitchFamily="34" charset="0"/>
            </a:endParaRPr>
          </a:p>
        </p:txBody>
      </p:sp>
    </p:spTree>
    <p:extLst>
      <p:ext uri="{BB962C8B-B14F-4D97-AF65-F5344CB8AC3E}">
        <p14:creationId xmlns:p14="http://schemas.microsoft.com/office/powerpoint/2010/main" val="19237217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8C80-F18D-9629-5452-C594167A2BAB}"/>
              </a:ext>
            </a:extLst>
          </p:cNvPr>
          <p:cNvSpPr>
            <a:spLocks noGrp="1"/>
          </p:cNvSpPr>
          <p:nvPr>
            <p:ph type="title"/>
          </p:nvPr>
        </p:nvSpPr>
        <p:spPr/>
        <p:txBody>
          <a:bodyPr/>
          <a:lstStyle/>
          <a:p>
            <a:r>
              <a:rPr lang="en-US" dirty="0">
                <a:latin typeface="Arial Nova Light" panose="020B0304020202020204" pitchFamily="34" charset="0"/>
              </a:rPr>
              <a:t>Research at Trent – UG Classes</a:t>
            </a:r>
          </a:p>
        </p:txBody>
      </p:sp>
      <p:sp>
        <p:nvSpPr>
          <p:cNvPr id="3" name="Content Placeholder 2">
            <a:extLst>
              <a:ext uri="{FF2B5EF4-FFF2-40B4-BE49-F238E27FC236}">
                <a16:creationId xmlns:a16="http://schemas.microsoft.com/office/drawing/2014/main" id="{30C6CB81-49EF-D921-6843-785B2A49E714}"/>
              </a:ext>
            </a:extLst>
          </p:cNvPr>
          <p:cNvSpPr>
            <a:spLocks noGrp="1"/>
          </p:cNvSpPr>
          <p:nvPr>
            <p:ph idx="1"/>
          </p:nvPr>
        </p:nvSpPr>
        <p:spPr/>
        <p:txBody>
          <a:bodyPr>
            <a:normAutofit/>
          </a:bodyPr>
          <a:lstStyle/>
          <a:p>
            <a:pPr marL="0" indent="0">
              <a:buNone/>
            </a:pPr>
            <a:r>
              <a:rPr lang="en-CA" sz="2400" b="1" dirty="0">
                <a:solidFill>
                  <a:srgbClr val="0B2318"/>
                </a:solidFill>
                <a:effectLst/>
                <a:highlight>
                  <a:srgbClr val="FFFFFF"/>
                </a:highlight>
                <a:latin typeface="Arial Nova Light" panose="020B0304020202020204" pitchFamily="34" charset="0"/>
              </a:rPr>
              <a:t>FRSC 4890Y: Community Based Research Projects</a:t>
            </a:r>
          </a:p>
          <a:p>
            <a:pPr marL="0" indent="0">
              <a:lnSpc>
                <a:spcPct val="113000"/>
              </a:lnSpc>
              <a:buNone/>
            </a:pPr>
            <a:r>
              <a:rPr lang="en-CA" sz="2400" dirty="0">
                <a:solidFill>
                  <a:srgbClr val="0B2318"/>
                </a:solidFill>
                <a:effectLst/>
                <a:highlight>
                  <a:srgbClr val="FFFFFF"/>
                </a:highlight>
                <a:latin typeface="Arial Nova Light" panose="020B0304020202020204" pitchFamily="34" charset="0"/>
              </a:rPr>
              <a:t>Designed to allow fourth-year students the opportunity to work on a research project with a forensic community agency under the </a:t>
            </a:r>
            <a:r>
              <a:rPr lang="en-CA" sz="2400" i="1" dirty="0">
                <a:solidFill>
                  <a:srgbClr val="0B2318"/>
                </a:solidFill>
                <a:effectLst/>
                <a:highlight>
                  <a:srgbClr val="FFFFFF"/>
                </a:highlight>
                <a:latin typeface="Arial Nova Light" panose="020B0304020202020204" pitchFamily="34" charset="0"/>
              </a:rPr>
              <a:t>supervision of a faculty member</a:t>
            </a:r>
            <a:r>
              <a:rPr lang="en-CA" sz="2400" dirty="0">
                <a:solidFill>
                  <a:srgbClr val="0B2318"/>
                </a:solidFill>
                <a:effectLst/>
                <a:highlight>
                  <a:srgbClr val="FFFFFF"/>
                </a:highlight>
                <a:latin typeface="Arial Nova Light" panose="020B0304020202020204" pitchFamily="34" charset="0"/>
              </a:rPr>
              <a:t>. Students must contact the Forensic Science department before the end of the Winter term of third year. Only open to students enrolled in the </a:t>
            </a:r>
            <a:r>
              <a:rPr lang="en-CA" sz="2400" dirty="0" err="1">
                <a:solidFill>
                  <a:srgbClr val="0B2318"/>
                </a:solidFill>
                <a:effectLst/>
                <a:highlight>
                  <a:srgbClr val="FFFFFF"/>
                </a:highlight>
                <a:latin typeface="Arial Nova Light" panose="020B0304020202020204" pitchFamily="34" charset="0"/>
              </a:rPr>
              <a:t>BScFS</a:t>
            </a:r>
            <a:r>
              <a:rPr lang="en-CA" sz="2400" dirty="0">
                <a:solidFill>
                  <a:srgbClr val="0B2318"/>
                </a:solidFill>
                <a:effectLst/>
                <a:highlight>
                  <a:srgbClr val="FFFFFF"/>
                </a:highlight>
                <a:latin typeface="Arial Nova Light" panose="020B0304020202020204" pitchFamily="34" charset="0"/>
              </a:rPr>
              <a:t> or joint-major in Forensic Science program. Prerequisite: a minimum 75% cumulative average and 14.0 university credits, including at least 3.0 FRSC credits at the 2000 or 3000 level.</a:t>
            </a:r>
          </a:p>
          <a:p>
            <a:pPr marL="0" indent="0">
              <a:lnSpc>
                <a:spcPct val="113000"/>
              </a:lnSpc>
              <a:buNone/>
            </a:pPr>
            <a:endParaRPr lang="en-US" sz="400" dirty="0">
              <a:solidFill>
                <a:srgbClr val="0B2318"/>
              </a:solidFill>
              <a:highlight>
                <a:srgbClr val="FFFFFF"/>
              </a:highlight>
            </a:endParaRPr>
          </a:p>
        </p:txBody>
      </p:sp>
    </p:spTree>
    <p:extLst>
      <p:ext uri="{BB962C8B-B14F-4D97-AF65-F5344CB8AC3E}">
        <p14:creationId xmlns:p14="http://schemas.microsoft.com/office/powerpoint/2010/main" val="10460047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8C80-F18D-9629-5452-C594167A2BAB}"/>
              </a:ext>
            </a:extLst>
          </p:cNvPr>
          <p:cNvSpPr>
            <a:spLocks noGrp="1"/>
          </p:cNvSpPr>
          <p:nvPr>
            <p:ph type="title"/>
          </p:nvPr>
        </p:nvSpPr>
        <p:spPr/>
        <p:txBody>
          <a:bodyPr/>
          <a:lstStyle/>
          <a:p>
            <a:r>
              <a:rPr lang="en-US" dirty="0">
                <a:latin typeface="Arial Nova Light" panose="020B0304020202020204" pitchFamily="34" charset="0"/>
              </a:rPr>
              <a:t>Research at Trent – UG Classes</a:t>
            </a:r>
          </a:p>
        </p:txBody>
      </p:sp>
      <p:sp>
        <p:nvSpPr>
          <p:cNvPr id="3" name="Content Placeholder 2">
            <a:extLst>
              <a:ext uri="{FF2B5EF4-FFF2-40B4-BE49-F238E27FC236}">
                <a16:creationId xmlns:a16="http://schemas.microsoft.com/office/drawing/2014/main" id="{30C6CB81-49EF-D921-6843-785B2A49E714}"/>
              </a:ext>
            </a:extLst>
          </p:cNvPr>
          <p:cNvSpPr>
            <a:spLocks noGrp="1"/>
          </p:cNvSpPr>
          <p:nvPr>
            <p:ph idx="1"/>
          </p:nvPr>
        </p:nvSpPr>
        <p:spPr/>
        <p:txBody>
          <a:bodyPr>
            <a:normAutofit/>
          </a:bodyPr>
          <a:lstStyle/>
          <a:p>
            <a:pPr marL="0" indent="0">
              <a:buNone/>
            </a:pPr>
            <a:r>
              <a:rPr lang="en-CA" sz="2400" b="1" dirty="0">
                <a:solidFill>
                  <a:srgbClr val="0B2318"/>
                </a:solidFill>
                <a:effectLst/>
                <a:highlight>
                  <a:srgbClr val="FFFFFF"/>
                </a:highlight>
                <a:latin typeface="Arial Nova Light" panose="020B0304020202020204" pitchFamily="34" charset="0"/>
              </a:rPr>
              <a:t>FRSC 4020D / 4021Y: Research Thesis</a:t>
            </a:r>
          </a:p>
          <a:p>
            <a:pPr marL="0" indent="0">
              <a:lnSpc>
                <a:spcPct val="114000"/>
              </a:lnSpc>
              <a:buNone/>
            </a:pPr>
            <a:r>
              <a:rPr lang="en-CA" sz="2400" dirty="0">
                <a:latin typeface="Arial Nova Light" panose="020B0304020202020204" pitchFamily="34" charset="0"/>
              </a:rPr>
              <a:t>Students design and carry out research </a:t>
            </a:r>
            <a:r>
              <a:rPr lang="en-CA" sz="2400" i="1" dirty="0">
                <a:latin typeface="Arial Nova Light" panose="020B0304020202020204" pitchFamily="34" charset="0"/>
              </a:rPr>
              <a:t>under the supervision of a faculty member</a:t>
            </a:r>
            <a:r>
              <a:rPr lang="en-CA" sz="2400" dirty="0">
                <a:latin typeface="Arial Nova Light" panose="020B0304020202020204" pitchFamily="34" charset="0"/>
              </a:rPr>
              <a:t>. Permission of the program and the availability of a thesis supervisor are required. Prerequisite: A minimum 80% cumulative average. Students with a cumulative average lower than 80% will be considered provided they include a written letter of support from a prospective supervisor with their application. Open only to students in Forensic Science (single- or joint-major), Forensic Biology, or Forensic Chemistry. FRSC 4020D is a double credit</a:t>
            </a:r>
            <a:r>
              <a:rPr lang="en-CA" sz="2400" dirty="0"/>
              <a:t>, 4021Y is a single credit course (must be taken with another thesis course)</a:t>
            </a:r>
            <a:endParaRPr lang="en-US" sz="2400" dirty="0">
              <a:latin typeface="Arial Nova Light" panose="020B0304020202020204" pitchFamily="34" charset="0"/>
            </a:endParaRPr>
          </a:p>
        </p:txBody>
      </p:sp>
    </p:spTree>
    <p:extLst>
      <p:ext uri="{BB962C8B-B14F-4D97-AF65-F5344CB8AC3E}">
        <p14:creationId xmlns:p14="http://schemas.microsoft.com/office/powerpoint/2010/main" val="240753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8C80-F18D-9629-5452-C594167A2BAB}"/>
              </a:ext>
            </a:extLst>
          </p:cNvPr>
          <p:cNvSpPr>
            <a:spLocks noGrp="1"/>
          </p:cNvSpPr>
          <p:nvPr>
            <p:ph type="title"/>
          </p:nvPr>
        </p:nvSpPr>
        <p:spPr/>
        <p:txBody>
          <a:bodyPr/>
          <a:lstStyle/>
          <a:p>
            <a:r>
              <a:rPr lang="en-US" dirty="0">
                <a:latin typeface="Arial Nova Light" panose="020B0304020202020204" pitchFamily="34" charset="0"/>
              </a:rPr>
              <a:t>Research at Trent – UG Work</a:t>
            </a:r>
          </a:p>
        </p:txBody>
      </p:sp>
      <p:sp>
        <p:nvSpPr>
          <p:cNvPr id="3" name="Content Placeholder 2">
            <a:extLst>
              <a:ext uri="{FF2B5EF4-FFF2-40B4-BE49-F238E27FC236}">
                <a16:creationId xmlns:a16="http://schemas.microsoft.com/office/drawing/2014/main" id="{30C6CB81-49EF-D921-6843-785B2A49E714}"/>
              </a:ext>
            </a:extLst>
          </p:cNvPr>
          <p:cNvSpPr>
            <a:spLocks noGrp="1"/>
          </p:cNvSpPr>
          <p:nvPr>
            <p:ph idx="1"/>
          </p:nvPr>
        </p:nvSpPr>
        <p:spPr/>
        <p:txBody>
          <a:bodyPr>
            <a:normAutofit/>
          </a:bodyPr>
          <a:lstStyle/>
          <a:p>
            <a:r>
              <a:rPr lang="en-CA" sz="2400" dirty="0">
                <a:latin typeface="Arial Nova Light" panose="020B0304020202020204" pitchFamily="34" charset="0"/>
              </a:rPr>
              <a:t>Some FRSC Faculty members may have Research Assistantship (RA) opportunities in their labs</a:t>
            </a:r>
          </a:p>
          <a:p>
            <a:pPr lvl="1"/>
            <a:r>
              <a:rPr lang="en-CA" sz="2000" dirty="0">
                <a:latin typeface="Arial Nova Light" panose="020B0304020202020204" pitchFamily="34" charset="0"/>
              </a:rPr>
              <a:t>Lab work, documentation, code checking</a:t>
            </a:r>
          </a:p>
          <a:p>
            <a:pPr lvl="1"/>
            <a:r>
              <a:rPr lang="en-CA" sz="2000" dirty="0">
                <a:latin typeface="Arial Nova Light" panose="020B0304020202020204" pitchFamily="34" charset="0"/>
              </a:rPr>
              <a:t>May or may not be funded</a:t>
            </a:r>
          </a:p>
          <a:p>
            <a:pPr lvl="1"/>
            <a:endParaRPr lang="en-CA" sz="2000" dirty="0">
              <a:latin typeface="Arial Nova Light" panose="020B0304020202020204" pitchFamily="34" charset="0"/>
            </a:endParaRPr>
          </a:p>
          <a:p>
            <a:r>
              <a:rPr lang="en-CA" sz="2400" dirty="0">
                <a:latin typeface="Arial Nova Light" panose="020B0304020202020204" pitchFamily="34" charset="0"/>
              </a:rPr>
              <a:t>NSERC USRA: Undergraduate Summer Research Assistantship</a:t>
            </a:r>
          </a:p>
          <a:p>
            <a:pPr lvl="1"/>
            <a:r>
              <a:rPr lang="en-CA" sz="2000" dirty="0">
                <a:latin typeface="Arial Nova Light" panose="020B0304020202020204" pitchFamily="34" charset="0"/>
              </a:rPr>
              <a:t>14-16-week research internships (May to August)</a:t>
            </a:r>
          </a:p>
          <a:p>
            <a:pPr lvl="1"/>
            <a:r>
              <a:rPr lang="en-CA" sz="2000" dirty="0">
                <a:latin typeface="Arial Nova Light" panose="020B0304020202020204" pitchFamily="34" charset="0"/>
              </a:rPr>
              <a:t>~$10,000 value</a:t>
            </a:r>
          </a:p>
          <a:p>
            <a:pPr lvl="1"/>
            <a:r>
              <a:rPr lang="en-CA" sz="2000" dirty="0">
                <a:latin typeface="Arial Nova Light" panose="020B0304020202020204" pitchFamily="34" charset="0"/>
              </a:rPr>
              <a:t>Work with a faculty advisor to outline a proposal</a:t>
            </a:r>
          </a:p>
          <a:p>
            <a:pPr lvl="1"/>
            <a:r>
              <a:rPr lang="en-CA" sz="2000" dirty="0">
                <a:latin typeface="Arial Nova Light" panose="020B0304020202020204" pitchFamily="34" charset="0"/>
                <a:hlinkClick r:id="rId2"/>
              </a:rPr>
              <a:t>https://www.trentu.ca/ori/funding/undergraduate-graduate-postdoctoral-fellow-funding-opportunities/nserc-undergraduate</a:t>
            </a:r>
            <a:r>
              <a:rPr lang="en-CA" sz="2000" dirty="0">
                <a:latin typeface="Arial Nova Light" panose="020B0304020202020204" pitchFamily="34" charset="0"/>
              </a:rPr>
              <a:t> </a:t>
            </a:r>
          </a:p>
        </p:txBody>
      </p:sp>
    </p:spTree>
    <p:extLst>
      <p:ext uri="{BB962C8B-B14F-4D97-AF65-F5344CB8AC3E}">
        <p14:creationId xmlns:p14="http://schemas.microsoft.com/office/powerpoint/2010/main" val="23772009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F6467-9BEA-2875-BDFA-83D459AE23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304F64-BE6F-8567-4238-6E7C67D1D24D}"/>
              </a:ext>
            </a:extLst>
          </p:cNvPr>
          <p:cNvSpPr>
            <a:spLocks noGrp="1"/>
          </p:cNvSpPr>
          <p:nvPr>
            <p:ph type="title"/>
          </p:nvPr>
        </p:nvSpPr>
        <p:spPr/>
        <p:txBody>
          <a:bodyPr/>
          <a:lstStyle/>
          <a:p>
            <a:r>
              <a:rPr lang="en-US" dirty="0">
                <a:latin typeface="Arial Nova Light" panose="020B0304020202020204" pitchFamily="34" charset="0"/>
              </a:rPr>
              <a:t>Research at Trent – Graduate School</a:t>
            </a:r>
          </a:p>
        </p:txBody>
      </p:sp>
      <p:sp>
        <p:nvSpPr>
          <p:cNvPr id="3" name="Content Placeholder 2">
            <a:extLst>
              <a:ext uri="{FF2B5EF4-FFF2-40B4-BE49-F238E27FC236}">
                <a16:creationId xmlns:a16="http://schemas.microsoft.com/office/drawing/2014/main" id="{07EA9301-C204-6C21-3E3D-1DAF1189CC1A}"/>
              </a:ext>
            </a:extLst>
          </p:cNvPr>
          <p:cNvSpPr>
            <a:spLocks noGrp="1"/>
          </p:cNvSpPr>
          <p:nvPr>
            <p:ph idx="1"/>
          </p:nvPr>
        </p:nvSpPr>
        <p:spPr/>
        <p:txBody>
          <a:bodyPr>
            <a:normAutofit/>
          </a:bodyPr>
          <a:lstStyle/>
          <a:p>
            <a:pPr>
              <a:lnSpc>
                <a:spcPct val="114000"/>
              </a:lnSpc>
              <a:spcAft>
                <a:spcPts val="600"/>
              </a:spcAft>
            </a:pPr>
            <a:r>
              <a:rPr lang="en-CA" sz="2400" dirty="0">
                <a:latin typeface="Arial Nova Light" panose="020B0304020202020204" pitchFamily="34" charset="0"/>
              </a:rPr>
              <a:t>Several course-based and thesis-based graduate programs at Trent; all graduate programs have a research requirement</a:t>
            </a:r>
          </a:p>
          <a:p>
            <a:pPr lvl="1">
              <a:lnSpc>
                <a:spcPct val="114000"/>
              </a:lnSpc>
            </a:pPr>
            <a:r>
              <a:rPr lang="en-CA" sz="2000" dirty="0"/>
              <a:t>Course-based Master’s program might have a research placement (e.g., 4-month project) or a major research paper (e.g., 12-month project) under supervision of a placement host or faculty advisor</a:t>
            </a:r>
          </a:p>
          <a:p>
            <a:pPr lvl="1">
              <a:lnSpc>
                <a:spcPct val="114000"/>
              </a:lnSpc>
            </a:pPr>
            <a:r>
              <a:rPr lang="en-CA" sz="2000" dirty="0">
                <a:latin typeface="Arial Nova Light" panose="020B0304020202020204" pitchFamily="34" charset="0"/>
              </a:rPr>
              <a:t>Thesis</a:t>
            </a:r>
            <a:r>
              <a:rPr lang="en-CA" sz="2000" dirty="0"/>
              <a:t>-based Master’s programs require students to complete a </a:t>
            </a:r>
            <a:r>
              <a:rPr lang="en-CA" sz="2000" i="1" dirty="0"/>
              <a:t>program of research </a:t>
            </a:r>
            <a:r>
              <a:rPr lang="en-CA" sz="2000" dirty="0"/>
              <a:t>under supervision of a faculty advisor, deemed appropriate by an examination committee (on average 24-months)</a:t>
            </a:r>
          </a:p>
          <a:p>
            <a:pPr lvl="1">
              <a:lnSpc>
                <a:spcPct val="114000"/>
              </a:lnSpc>
            </a:pPr>
            <a:r>
              <a:rPr lang="en-CA" sz="2000" dirty="0"/>
              <a:t>(Thesis-based) Doctorate (PhD) program require students to complete a </a:t>
            </a:r>
            <a:r>
              <a:rPr lang="en-CA" sz="2000" i="1" dirty="0"/>
              <a:t>program of research </a:t>
            </a:r>
            <a:r>
              <a:rPr lang="en-CA" sz="2000" dirty="0"/>
              <a:t>under supervision of a faculty advisor, deemed appropriate by an examination committee (on average 60-months)</a:t>
            </a:r>
            <a:endParaRPr lang="en-CA" sz="2000" dirty="0">
              <a:latin typeface="Arial Nova Light" panose="020B0304020202020204" pitchFamily="34" charset="0"/>
            </a:endParaRPr>
          </a:p>
        </p:txBody>
      </p:sp>
    </p:spTree>
    <p:extLst>
      <p:ext uri="{BB962C8B-B14F-4D97-AF65-F5344CB8AC3E}">
        <p14:creationId xmlns:p14="http://schemas.microsoft.com/office/powerpoint/2010/main" val="757637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8C80-F18D-9629-5452-C594167A2BAB}"/>
              </a:ext>
            </a:extLst>
          </p:cNvPr>
          <p:cNvSpPr>
            <a:spLocks noGrp="1"/>
          </p:cNvSpPr>
          <p:nvPr>
            <p:ph type="title"/>
          </p:nvPr>
        </p:nvSpPr>
        <p:spPr/>
        <p:txBody>
          <a:bodyPr/>
          <a:lstStyle/>
          <a:p>
            <a:r>
              <a:rPr lang="en-US">
                <a:latin typeface="Arial Nova Light" panose="020B0304020202020204" pitchFamily="34" charset="0"/>
              </a:rPr>
              <a:t>Advisors and mentors</a:t>
            </a:r>
          </a:p>
        </p:txBody>
      </p:sp>
      <p:sp>
        <p:nvSpPr>
          <p:cNvPr id="3" name="Content Placeholder 2">
            <a:extLst>
              <a:ext uri="{FF2B5EF4-FFF2-40B4-BE49-F238E27FC236}">
                <a16:creationId xmlns:a16="http://schemas.microsoft.com/office/drawing/2014/main" id="{14E2F759-0ABD-27FE-5BD3-46C2778DBC10}"/>
              </a:ext>
            </a:extLst>
          </p:cNvPr>
          <p:cNvSpPr>
            <a:spLocks noGrp="1"/>
          </p:cNvSpPr>
          <p:nvPr>
            <p:ph idx="1"/>
          </p:nvPr>
        </p:nvSpPr>
        <p:spPr>
          <a:xfrm>
            <a:off x="838200" y="1825625"/>
            <a:ext cx="10515600" cy="4351338"/>
          </a:xfrm>
        </p:spPr>
        <p:txBody>
          <a:bodyPr>
            <a:normAutofit/>
          </a:bodyPr>
          <a:lstStyle/>
          <a:p>
            <a:r>
              <a:rPr lang="en-CA" sz="2400">
                <a:solidFill>
                  <a:srgbClr val="0B2318"/>
                </a:solidFill>
                <a:highlight>
                  <a:srgbClr val="FFFFFF"/>
                </a:highlight>
                <a:latin typeface="Arial Nova Light" panose="020B0304020202020204" pitchFamily="34" charset="0"/>
              </a:rPr>
              <a:t>A research advisor oversees the research conducted in their lab, offering guidance and advice to trainees (students, technical staff); may also provide advice and guidance on future research and career ventures</a:t>
            </a:r>
          </a:p>
          <a:p>
            <a:endParaRPr lang="en-CA" sz="2400">
              <a:solidFill>
                <a:srgbClr val="0B2318"/>
              </a:solidFill>
              <a:highlight>
                <a:srgbClr val="FFFFFF"/>
              </a:highlight>
              <a:latin typeface="Arial Nova Light" panose="020B0304020202020204" pitchFamily="34" charset="0"/>
            </a:endParaRPr>
          </a:p>
          <a:p>
            <a:r>
              <a:rPr lang="en-CA" sz="2400">
                <a:solidFill>
                  <a:srgbClr val="0B2318"/>
                </a:solidFill>
                <a:highlight>
                  <a:srgbClr val="FFFFFF"/>
                </a:highlight>
                <a:latin typeface="Arial Nova Light" panose="020B0304020202020204" pitchFamily="34" charset="0"/>
              </a:rPr>
              <a:t>Having a strong relationship with your faculty advisor is a good idea. This can be assisted by:</a:t>
            </a:r>
            <a:br>
              <a:rPr lang="en-CA" sz="2400">
                <a:solidFill>
                  <a:srgbClr val="0B2318"/>
                </a:solidFill>
                <a:highlight>
                  <a:srgbClr val="FFFFFF"/>
                </a:highlight>
                <a:latin typeface="Arial Nova Light" panose="020B0304020202020204" pitchFamily="34" charset="0"/>
              </a:rPr>
            </a:br>
            <a:endParaRPr lang="en-CA" sz="1050">
              <a:solidFill>
                <a:srgbClr val="0B2318"/>
              </a:solidFill>
              <a:highlight>
                <a:srgbClr val="FFFFFF"/>
              </a:highlight>
              <a:latin typeface="Arial Nova Light" panose="020B0304020202020204" pitchFamily="34" charset="0"/>
            </a:endParaRPr>
          </a:p>
          <a:p>
            <a:pPr marL="914400" lvl="1" indent="-457200">
              <a:buFont typeface="+mj-lt"/>
              <a:buAutoNum type="arabicPeriod"/>
            </a:pPr>
            <a:r>
              <a:rPr lang="en-CA" sz="2000">
                <a:solidFill>
                  <a:srgbClr val="0B2318"/>
                </a:solidFill>
                <a:highlight>
                  <a:srgbClr val="FFFFFF"/>
                </a:highlight>
                <a:latin typeface="Arial Nova Light" panose="020B0304020202020204" pitchFamily="34" charset="0"/>
              </a:rPr>
              <a:t>Finding a research advisor that shares similar research interests as you</a:t>
            </a:r>
          </a:p>
          <a:p>
            <a:pPr marL="914400" lvl="1" indent="-457200">
              <a:buFont typeface="+mj-lt"/>
              <a:buAutoNum type="arabicPeriod"/>
            </a:pPr>
            <a:r>
              <a:rPr lang="en-CA" sz="2000">
                <a:solidFill>
                  <a:srgbClr val="0B2318"/>
                </a:solidFill>
                <a:highlight>
                  <a:srgbClr val="FFFFFF"/>
                </a:highlight>
                <a:latin typeface="Arial Nova Light" panose="020B0304020202020204" pitchFamily="34" charset="0"/>
              </a:rPr>
              <a:t>Finding a research advisor that meshes with your style of work</a:t>
            </a:r>
          </a:p>
          <a:p>
            <a:pPr marL="914400" lvl="1" indent="-457200">
              <a:buFont typeface="+mj-lt"/>
              <a:buAutoNum type="arabicPeriod"/>
            </a:pPr>
            <a:r>
              <a:rPr lang="en-CA" sz="2000">
                <a:solidFill>
                  <a:srgbClr val="0B2318"/>
                </a:solidFill>
                <a:highlight>
                  <a:srgbClr val="FFFFFF"/>
                </a:highlight>
                <a:latin typeface="Arial Nova Light" panose="020B0304020202020204" pitchFamily="34" charset="0"/>
              </a:rPr>
              <a:t>Being honest and professional in your communications and behavior; taking initiative and doing good work</a:t>
            </a:r>
          </a:p>
          <a:p>
            <a:endParaRPr lang="en-CA" sz="2400">
              <a:solidFill>
                <a:srgbClr val="0B2318"/>
              </a:solidFill>
              <a:highlight>
                <a:srgbClr val="FFFFFF"/>
              </a:highlight>
              <a:latin typeface="Arial Nova Light" panose="020B0304020202020204" pitchFamily="34" charset="0"/>
            </a:endParaRPr>
          </a:p>
          <a:p>
            <a:endParaRPr lang="en-US" sz="2400">
              <a:latin typeface="Arial Nova Light" panose="020B0304020202020204" pitchFamily="34" charset="0"/>
            </a:endParaRPr>
          </a:p>
        </p:txBody>
      </p:sp>
    </p:spTree>
    <p:extLst>
      <p:ext uri="{BB962C8B-B14F-4D97-AF65-F5344CB8AC3E}">
        <p14:creationId xmlns:p14="http://schemas.microsoft.com/office/powerpoint/2010/main" val="163337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8C80-F18D-9629-5452-C594167A2BAB}"/>
              </a:ext>
            </a:extLst>
          </p:cNvPr>
          <p:cNvSpPr>
            <a:spLocks noGrp="1"/>
          </p:cNvSpPr>
          <p:nvPr>
            <p:ph type="title"/>
          </p:nvPr>
        </p:nvSpPr>
        <p:spPr/>
        <p:txBody>
          <a:bodyPr/>
          <a:lstStyle/>
          <a:p>
            <a:r>
              <a:rPr lang="en-US">
                <a:latin typeface="Arial Nova Light" panose="020B0304020202020204" pitchFamily="34" charset="0"/>
              </a:rPr>
              <a:t>Research at Trent University – Faculty </a:t>
            </a:r>
          </a:p>
        </p:txBody>
      </p:sp>
      <p:pic>
        <p:nvPicPr>
          <p:cNvPr id="1026" name="Picture 2" descr="MC Buell">
            <a:extLst>
              <a:ext uri="{FF2B5EF4-FFF2-40B4-BE49-F238E27FC236}">
                <a16:creationId xmlns:a16="http://schemas.microsoft.com/office/drawing/2014/main" id="{5641FDA5-C37C-14E3-03F5-ADE9F080FADE}"/>
              </a:ext>
            </a:extLst>
          </p:cNvPr>
          <p:cNvPicPr>
            <a:picLocks noGrp="1" noChangeAspect="1" noChangeArrowheads="1"/>
          </p:cNvPicPr>
          <p:nvPr>
            <p:ph idx="1"/>
          </p:nvPr>
        </p:nvPicPr>
        <p:blipFill>
          <a:blip r:embed="rId2"/>
          <a:srcRect/>
          <a:stretch/>
        </p:blipFill>
        <p:spPr bwMode="auto">
          <a:xfrm>
            <a:off x="838200" y="1719263"/>
            <a:ext cx="2883029" cy="43513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0E60B95-F29E-A1A5-365E-5AD7F89A7576}"/>
              </a:ext>
            </a:extLst>
          </p:cNvPr>
          <p:cNvSpPr txBox="1"/>
          <p:nvPr/>
        </p:nvSpPr>
        <p:spPr>
          <a:xfrm>
            <a:off x="3931920" y="1909773"/>
            <a:ext cx="7421880" cy="3970318"/>
          </a:xfrm>
          <a:prstGeom prst="rect">
            <a:avLst/>
          </a:prstGeom>
          <a:noFill/>
        </p:spPr>
        <p:txBody>
          <a:bodyPr wrap="square">
            <a:spAutoFit/>
          </a:bodyPr>
          <a:lstStyle/>
          <a:p>
            <a:r>
              <a:rPr lang="en-US" b="1" dirty="0">
                <a:latin typeface="Arial Nova Light" panose="020B0304020202020204" pitchFamily="34" charset="0"/>
              </a:rPr>
              <a:t>Mary-Claire Buell</a:t>
            </a:r>
          </a:p>
          <a:p>
            <a:r>
              <a:rPr lang="en-US" dirty="0">
                <a:latin typeface="Arial Nova Light" panose="020B0304020202020204" pitchFamily="34" charset="0"/>
              </a:rPr>
              <a:t>Assistant Professor (cross-appointed with The School of the Environment)</a:t>
            </a:r>
          </a:p>
          <a:p>
            <a:endParaRPr lang="en-US" dirty="0">
              <a:latin typeface="Arial Nova Light" panose="020B0304020202020204" pitchFamily="34" charset="0"/>
            </a:endParaRPr>
          </a:p>
          <a:p>
            <a:r>
              <a:rPr lang="en-US" dirty="0">
                <a:latin typeface="Arial Nova Light" panose="020B0304020202020204" pitchFamily="34" charset="0"/>
              </a:rPr>
              <a:t>TRACE Lab: </a:t>
            </a:r>
            <a:r>
              <a:rPr lang="en-US" dirty="0">
                <a:latin typeface="Arial Nova Light" panose="020B0304020202020204" pitchFamily="34" charset="0"/>
                <a:hlinkClick r:id="rId3"/>
              </a:rPr>
              <a:t>https://tracelab.ca/</a:t>
            </a:r>
            <a:endParaRPr lang="en-US" dirty="0">
              <a:latin typeface="Arial Nova Light" panose="020B0304020202020204" pitchFamily="34" charset="0"/>
            </a:endParaRPr>
          </a:p>
          <a:p>
            <a:r>
              <a:rPr lang="en-US" dirty="0">
                <a:latin typeface="Arial Nova Light" panose="020B0304020202020204" pitchFamily="34" charset="0"/>
                <a:hlinkClick r:id="rId4"/>
              </a:rPr>
              <a:t>maryclairebuell@trentu.ca</a:t>
            </a:r>
            <a:r>
              <a:rPr lang="en-US" dirty="0">
                <a:latin typeface="Arial Nova Light" panose="020B0304020202020204" pitchFamily="34" charset="0"/>
              </a:rPr>
              <a:t> </a:t>
            </a:r>
          </a:p>
          <a:p>
            <a:endParaRPr lang="en-US" dirty="0">
              <a:latin typeface="Arial Nova Light" panose="020B0304020202020204" pitchFamily="34" charset="0"/>
            </a:endParaRPr>
          </a:p>
          <a:p>
            <a:r>
              <a:rPr lang="en-US" dirty="0">
                <a:latin typeface="Arial Nova Light" panose="020B0304020202020204" pitchFamily="34" charset="0"/>
              </a:rPr>
              <a:t>Dr. Buell’s research interests include investigating the source, fate, transport, and impacts of legacy and contemporary contaminants. Her research also includes examining the connections between contaminants and environmental justice through transdisciplinary approaches bringing together environmental toxicology, chemistry, and community knowledges. Dr. Buell is the founder and CEO of Collective Environmental, a consulting and research firm focused on collaborative approaches to investigating environmental issues impacting Indigenous communities.</a:t>
            </a:r>
          </a:p>
        </p:txBody>
      </p:sp>
      <p:pic>
        <p:nvPicPr>
          <p:cNvPr id="6146" name="Picture 2" descr="image">
            <a:extLst>
              <a:ext uri="{FF2B5EF4-FFF2-40B4-BE49-F238E27FC236}">
                <a16:creationId xmlns:a16="http://schemas.microsoft.com/office/drawing/2014/main" id="{744A44F4-AFAF-69FA-69EA-F14F64E8132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9622"/>
          <a:stretch/>
        </p:blipFill>
        <p:spPr bwMode="auto">
          <a:xfrm>
            <a:off x="838200" y="1719263"/>
            <a:ext cx="288303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47074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8C80-F18D-9629-5452-C594167A2BAB}"/>
              </a:ext>
            </a:extLst>
          </p:cNvPr>
          <p:cNvSpPr>
            <a:spLocks noGrp="1"/>
          </p:cNvSpPr>
          <p:nvPr>
            <p:ph type="title"/>
          </p:nvPr>
        </p:nvSpPr>
        <p:spPr/>
        <p:txBody>
          <a:bodyPr/>
          <a:lstStyle/>
          <a:p>
            <a:r>
              <a:rPr lang="en-US">
                <a:latin typeface="Arial Nova Light" panose="020B0304020202020204" pitchFamily="34" charset="0"/>
              </a:rPr>
              <a:t>Research at Trent University – Faculty </a:t>
            </a:r>
          </a:p>
        </p:txBody>
      </p:sp>
      <p:pic>
        <p:nvPicPr>
          <p:cNvPr id="1026" name="Picture 2" descr="Joel Cahn">
            <a:extLst>
              <a:ext uri="{FF2B5EF4-FFF2-40B4-BE49-F238E27FC236}">
                <a16:creationId xmlns:a16="http://schemas.microsoft.com/office/drawing/2014/main" id="{5641FDA5-C37C-14E3-03F5-ADE9F080FADE}"/>
              </a:ext>
            </a:extLst>
          </p:cNvPr>
          <p:cNvPicPr>
            <a:picLocks noGrp="1" noChangeAspect="1" noChangeArrowheads="1"/>
          </p:cNvPicPr>
          <p:nvPr>
            <p:ph idx="1"/>
          </p:nvPr>
        </p:nvPicPr>
        <p:blipFill>
          <a:blip r:embed="rId2"/>
          <a:srcRect/>
          <a:stretch/>
        </p:blipFill>
        <p:spPr bwMode="auto">
          <a:xfrm>
            <a:off x="838200" y="1719263"/>
            <a:ext cx="2883029" cy="43513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0E60B95-F29E-A1A5-365E-5AD7F89A7576}"/>
              </a:ext>
            </a:extLst>
          </p:cNvPr>
          <p:cNvSpPr txBox="1"/>
          <p:nvPr/>
        </p:nvSpPr>
        <p:spPr>
          <a:xfrm>
            <a:off x="3931920" y="1909773"/>
            <a:ext cx="7421880" cy="2862322"/>
          </a:xfrm>
          <a:prstGeom prst="rect">
            <a:avLst/>
          </a:prstGeom>
          <a:noFill/>
        </p:spPr>
        <p:txBody>
          <a:bodyPr wrap="square">
            <a:spAutoFit/>
          </a:bodyPr>
          <a:lstStyle/>
          <a:p>
            <a:r>
              <a:rPr lang="en-US" b="1" dirty="0">
                <a:latin typeface="Arial Nova Light" panose="020B0304020202020204" pitchFamily="34" charset="0"/>
              </a:rPr>
              <a:t>Joel Cahn</a:t>
            </a:r>
          </a:p>
          <a:p>
            <a:r>
              <a:rPr lang="en-US" dirty="0">
                <a:latin typeface="Arial Nova Light" panose="020B0304020202020204" pitchFamily="34" charset="0"/>
              </a:rPr>
              <a:t>Assistant Professor</a:t>
            </a:r>
          </a:p>
          <a:p>
            <a:endParaRPr lang="en-US" dirty="0">
              <a:latin typeface="Arial Nova Light" panose="020B0304020202020204" pitchFamily="34" charset="0"/>
            </a:endParaRPr>
          </a:p>
          <a:p>
            <a:r>
              <a:rPr lang="en-US" dirty="0">
                <a:latin typeface="Arial Nova Light" panose="020B0304020202020204" pitchFamily="34" charset="0"/>
                <a:hlinkClick r:id="rId3"/>
              </a:rPr>
              <a:t>joelcahn@trentu.ca</a:t>
            </a:r>
            <a:r>
              <a:rPr lang="en-US" dirty="0">
                <a:latin typeface="Arial Nova Light" panose="020B0304020202020204" pitchFamily="34" charset="0"/>
              </a:rPr>
              <a:t> </a:t>
            </a:r>
          </a:p>
          <a:p>
            <a:endParaRPr lang="en-US" dirty="0">
              <a:latin typeface="Arial Nova Light" panose="020B0304020202020204" pitchFamily="34" charset="0"/>
            </a:endParaRPr>
          </a:p>
          <a:p>
            <a:r>
              <a:rPr lang="en-US" dirty="0">
                <a:latin typeface="Arial Nova Light" panose="020B0304020202020204" pitchFamily="34" charset="0"/>
              </a:rPr>
              <a:t>Dr. Cahn’s research interests include data comparison methods in forensic anthropology, </a:t>
            </a:r>
            <a:r>
              <a:rPr lang="en-US" dirty="0" err="1">
                <a:latin typeface="Arial Nova Light" panose="020B0304020202020204" pitchFamily="34" charset="0"/>
              </a:rPr>
              <a:t>bioarchaeology</a:t>
            </a:r>
            <a:r>
              <a:rPr lang="en-US" dirty="0">
                <a:latin typeface="Arial Nova Light" panose="020B0304020202020204" pitchFamily="34" charset="0"/>
              </a:rPr>
              <a:t>, and paleopathology, with a current focus on reporting practices in forensic anthropology, including how they affect and are affected by perceptions of ancestry, sex, and gender in various communities. </a:t>
            </a:r>
          </a:p>
        </p:txBody>
      </p:sp>
    </p:spTree>
    <p:extLst>
      <p:ext uri="{BB962C8B-B14F-4D97-AF65-F5344CB8AC3E}">
        <p14:creationId xmlns:p14="http://schemas.microsoft.com/office/powerpoint/2010/main" val="36513266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12600-A5D7-0A6E-AE39-FB0A0D3E19DF}"/>
            </a:ext>
          </a:extLst>
        </p:cNvPr>
        <p:cNvGrpSpPr/>
        <p:nvPr/>
      </p:nvGrpSpPr>
      <p:grpSpPr>
        <a:xfrm>
          <a:off x="0" y="0"/>
          <a:ext cx="0" cy="0"/>
          <a:chOff x="0" y="0"/>
          <a:chExt cx="0" cy="0"/>
        </a:xfrm>
      </p:grpSpPr>
      <p:pic>
        <p:nvPicPr>
          <p:cNvPr id="3" name="Picture 2" descr="Image preview">
            <a:extLst>
              <a:ext uri="{FF2B5EF4-FFF2-40B4-BE49-F238E27FC236}">
                <a16:creationId xmlns:a16="http://schemas.microsoft.com/office/drawing/2014/main" id="{2F53B0B4-CF19-649E-F618-A4D947FFEA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872" t="-657" r="16872" b="657"/>
          <a:stretch/>
        </p:blipFill>
        <p:spPr bwMode="auto">
          <a:xfrm>
            <a:off x="838199" y="1719263"/>
            <a:ext cx="2883029" cy="435133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42A3816-2327-D092-6120-CA0C5E58BD03}"/>
              </a:ext>
            </a:extLst>
          </p:cNvPr>
          <p:cNvSpPr>
            <a:spLocks noGrp="1"/>
          </p:cNvSpPr>
          <p:nvPr>
            <p:ph type="title"/>
          </p:nvPr>
        </p:nvSpPr>
        <p:spPr/>
        <p:txBody>
          <a:bodyPr/>
          <a:lstStyle/>
          <a:p>
            <a:r>
              <a:rPr lang="en-US">
                <a:latin typeface="Arial Nova Light" panose="020B0304020202020204" pitchFamily="34" charset="0"/>
              </a:rPr>
              <a:t>Research at Trent University – Faculty </a:t>
            </a:r>
          </a:p>
        </p:txBody>
      </p:sp>
      <p:sp>
        <p:nvSpPr>
          <p:cNvPr id="7" name="TextBox 6">
            <a:extLst>
              <a:ext uri="{FF2B5EF4-FFF2-40B4-BE49-F238E27FC236}">
                <a16:creationId xmlns:a16="http://schemas.microsoft.com/office/drawing/2014/main" id="{A7316A32-7D2D-5CD5-692C-D798776E6F67}"/>
              </a:ext>
            </a:extLst>
          </p:cNvPr>
          <p:cNvSpPr txBox="1"/>
          <p:nvPr/>
        </p:nvSpPr>
        <p:spPr>
          <a:xfrm>
            <a:off x="3931920" y="1909773"/>
            <a:ext cx="7421880" cy="2585323"/>
          </a:xfrm>
          <a:prstGeom prst="rect">
            <a:avLst/>
          </a:prstGeom>
          <a:noFill/>
        </p:spPr>
        <p:txBody>
          <a:bodyPr wrap="square">
            <a:spAutoFit/>
          </a:bodyPr>
          <a:lstStyle/>
          <a:p>
            <a:r>
              <a:rPr lang="en-US" b="1" dirty="0">
                <a:latin typeface="Arial Nova Light" panose="020B0304020202020204" pitchFamily="34" charset="0"/>
              </a:rPr>
              <a:t>Bailey Henwood</a:t>
            </a:r>
          </a:p>
          <a:p>
            <a:r>
              <a:rPr lang="en-US" dirty="0">
                <a:latin typeface="Arial Nova Light" panose="020B0304020202020204" pitchFamily="34" charset="0"/>
              </a:rPr>
              <a:t>Assistant Professor</a:t>
            </a:r>
          </a:p>
          <a:p>
            <a:endParaRPr lang="en-US" dirty="0">
              <a:latin typeface="Arial Nova Light" panose="020B0304020202020204" pitchFamily="34" charset="0"/>
            </a:endParaRPr>
          </a:p>
          <a:p>
            <a:r>
              <a:rPr lang="en-US" dirty="0">
                <a:latin typeface="Arial Nova Light" panose="020B0304020202020204" pitchFamily="34" charset="0"/>
                <a:hlinkClick r:id="rId3"/>
              </a:rPr>
              <a:t>baileyhenwood@trentu.ca</a:t>
            </a:r>
            <a:r>
              <a:rPr lang="en-US" dirty="0">
                <a:latin typeface="Arial Nova Light" panose="020B0304020202020204" pitchFamily="34" charset="0"/>
              </a:rPr>
              <a:t> </a:t>
            </a:r>
          </a:p>
          <a:p>
            <a:endParaRPr lang="en-US" dirty="0">
              <a:latin typeface="Arial Nova Light" panose="020B0304020202020204" pitchFamily="34" charset="0"/>
            </a:endParaRPr>
          </a:p>
          <a:p>
            <a:r>
              <a:rPr lang="en-US" dirty="0">
                <a:latin typeface="Arial Nova Light" panose="020B0304020202020204" pitchFamily="34" charset="0"/>
              </a:rPr>
              <a:t>Dr. Henwood is interested in all aspects of firearms research. Her ongoing research focuses on the forensic exploitation of firearms, with particular interest in the recovery of obliterated markings from sanitized firearms involved in criminal activity and illicit trafficking investigations.</a:t>
            </a:r>
          </a:p>
        </p:txBody>
      </p:sp>
    </p:spTree>
    <p:extLst>
      <p:ext uri="{BB962C8B-B14F-4D97-AF65-F5344CB8AC3E}">
        <p14:creationId xmlns:p14="http://schemas.microsoft.com/office/powerpoint/2010/main" val="39857440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8C80-F18D-9629-5452-C594167A2BAB}"/>
              </a:ext>
            </a:extLst>
          </p:cNvPr>
          <p:cNvSpPr>
            <a:spLocks noGrp="1"/>
          </p:cNvSpPr>
          <p:nvPr>
            <p:ph type="title"/>
          </p:nvPr>
        </p:nvSpPr>
        <p:spPr/>
        <p:txBody>
          <a:bodyPr/>
          <a:lstStyle/>
          <a:p>
            <a:r>
              <a:rPr lang="en-US">
                <a:latin typeface="Arial Nova Light" panose="020B0304020202020204" pitchFamily="34" charset="0"/>
              </a:rPr>
              <a:t>Research at Trent University – Faculty </a:t>
            </a:r>
          </a:p>
        </p:txBody>
      </p:sp>
      <p:pic>
        <p:nvPicPr>
          <p:cNvPr id="1026" name="Picture 2" descr="Christopher Kyle">
            <a:extLst>
              <a:ext uri="{FF2B5EF4-FFF2-40B4-BE49-F238E27FC236}">
                <a16:creationId xmlns:a16="http://schemas.microsoft.com/office/drawing/2014/main" id="{5641FDA5-C37C-14E3-03F5-ADE9F080FADE}"/>
              </a:ext>
            </a:extLst>
          </p:cNvPr>
          <p:cNvPicPr>
            <a:picLocks noGrp="1" noChangeAspect="1" noChangeArrowheads="1"/>
          </p:cNvPicPr>
          <p:nvPr>
            <p:ph idx="1"/>
          </p:nvPr>
        </p:nvPicPr>
        <p:blipFill>
          <a:blip r:embed="rId2"/>
          <a:srcRect/>
          <a:stretch/>
        </p:blipFill>
        <p:spPr bwMode="auto">
          <a:xfrm>
            <a:off x="838200" y="1719263"/>
            <a:ext cx="2883029" cy="43513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0E60B95-F29E-A1A5-365E-5AD7F89A7576}"/>
              </a:ext>
            </a:extLst>
          </p:cNvPr>
          <p:cNvSpPr txBox="1"/>
          <p:nvPr/>
        </p:nvSpPr>
        <p:spPr>
          <a:xfrm>
            <a:off x="3931920" y="1909773"/>
            <a:ext cx="7421880" cy="3693319"/>
          </a:xfrm>
          <a:prstGeom prst="rect">
            <a:avLst/>
          </a:prstGeom>
          <a:noFill/>
        </p:spPr>
        <p:txBody>
          <a:bodyPr wrap="square">
            <a:spAutoFit/>
          </a:bodyPr>
          <a:lstStyle/>
          <a:p>
            <a:r>
              <a:rPr lang="en-US" b="1" dirty="0">
                <a:latin typeface="Arial Nova Light" panose="020B0304020202020204" pitchFamily="34" charset="0"/>
              </a:rPr>
              <a:t>Christopher Kyle</a:t>
            </a:r>
          </a:p>
          <a:p>
            <a:r>
              <a:rPr lang="en-US" dirty="0">
                <a:latin typeface="Arial Nova Light" panose="020B0304020202020204" pitchFamily="34" charset="0"/>
              </a:rPr>
              <a:t>Full Professor, Director - Natural Resources DNA Profiling and Forensics Centre (NRDPFC), Director of the Forensic Science Graduate Program</a:t>
            </a:r>
          </a:p>
          <a:p>
            <a:endParaRPr lang="en-US" dirty="0">
              <a:latin typeface="Arial Nova Light" panose="020B0304020202020204" pitchFamily="34" charset="0"/>
            </a:endParaRPr>
          </a:p>
          <a:p>
            <a:r>
              <a:rPr lang="en-US" dirty="0">
                <a:latin typeface="Arial Nova Light" panose="020B0304020202020204" pitchFamily="34" charset="0"/>
              </a:rPr>
              <a:t>NRDPFC: </a:t>
            </a:r>
            <a:r>
              <a:rPr lang="en-US" dirty="0">
                <a:latin typeface="Arial Nova Light" panose="020B0304020202020204" pitchFamily="34" charset="0"/>
                <a:hlinkClick r:id="rId3"/>
              </a:rPr>
              <a:t>nrdpfc.ca/</a:t>
            </a:r>
            <a:r>
              <a:rPr lang="en-US" dirty="0">
                <a:latin typeface="Arial Nova Light" panose="020B0304020202020204" pitchFamily="34" charset="0"/>
              </a:rPr>
              <a:t> </a:t>
            </a:r>
          </a:p>
          <a:p>
            <a:r>
              <a:rPr lang="en-US" dirty="0">
                <a:latin typeface="Arial Nova Light" panose="020B0304020202020204" pitchFamily="34" charset="0"/>
                <a:hlinkClick r:id="rId4"/>
              </a:rPr>
              <a:t>christopherkyle@trentu.ca</a:t>
            </a:r>
            <a:r>
              <a:rPr lang="en-US" dirty="0">
                <a:latin typeface="Arial Nova Light" panose="020B0304020202020204" pitchFamily="34" charset="0"/>
              </a:rPr>
              <a:t> </a:t>
            </a:r>
          </a:p>
          <a:p>
            <a:endParaRPr lang="en-US" dirty="0">
              <a:latin typeface="Arial Nova Light" panose="020B0304020202020204" pitchFamily="34" charset="0"/>
            </a:endParaRPr>
          </a:p>
          <a:p>
            <a:r>
              <a:rPr lang="en-US" dirty="0">
                <a:latin typeface="Arial Nova Light" panose="020B0304020202020204" pitchFamily="34" charset="0"/>
              </a:rPr>
              <a:t>Dr. Kyle’s research interests include wildlife genomics, wildlife disease, and wildlife forensics to support conservation and management initiatives and further our understanding of the ecology and evolution of species.  Current research systems include bats, bison, Arctic fox and muskoxen and how these species respond to rapid changes in their ecosystems, such as from the introduction of invasive diseases.</a:t>
            </a:r>
          </a:p>
        </p:txBody>
      </p:sp>
      <p:pic>
        <p:nvPicPr>
          <p:cNvPr id="3074" name="Picture 2" descr="image">
            <a:extLst>
              <a:ext uri="{FF2B5EF4-FFF2-40B4-BE49-F238E27FC236}">
                <a16:creationId xmlns:a16="http://schemas.microsoft.com/office/drawing/2014/main" id="{FFE71597-CAD5-FF3C-7C83-7F2564A19EB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3846" r="12308"/>
          <a:stretch/>
        </p:blipFill>
        <p:spPr bwMode="auto">
          <a:xfrm>
            <a:off x="838199" y="1719263"/>
            <a:ext cx="2883029"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35015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 preview">
            <a:extLst>
              <a:ext uri="{FF2B5EF4-FFF2-40B4-BE49-F238E27FC236}">
                <a16:creationId xmlns:a16="http://schemas.microsoft.com/office/drawing/2014/main" id="{905C295F-6236-4E77-6081-30E0914AF0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303" y="1860815"/>
            <a:ext cx="3232926" cy="406823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E3B8C80-F18D-9629-5452-C594167A2BAB}"/>
              </a:ext>
            </a:extLst>
          </p:cNvPr>
          <p:cNvSpPr>
            <a:spLocks noGrp="1"/>
          </p:cNvSpPr>
          <p:nvPr>
            <p:ph type="title"/>
          </p:nvPr>
        </p:nvSpPr>
        <p:spPr/>
        <p:txBody>
          <a:bodyPr/>
          <a:lstStyle/>
          <a:p>
            <a:r>
              <a:rPr lang="en-US">
                <a:latin typeface="Arial Nova Light" panose="020B0304020202020204" pitchFamily="34" charset="0"/>
              </a:rPr>
              <a:t>Research at Trent University – Faculty </a:t>
            </a:r>
          </a:p>
        </p:txBody>
      </p:sp>
      <p:sp>
        <p:nvSpPr>
          <p:cNvPr id="7" name="TextBox 6">
            <a:extLst>
              <a:ext uri="{FF2B5EF4-FFF2-40B4-BE49-F238E27FC236}">
                <a16:creationId xmlns:a16="http://schemas.microsoft.com/office/drawing/2014/main" id="{20E60B95-F29E-A1A5-365E-5AD7F89A7576}"/>
              </a:ext>
            </a:extLst>
          </p:cNvPr>
          <p:cNvSpPr txBox="1"/>
          <p:nvPr/>
        </p:nvSpPr>
        <p:spPr>
          <a:xfrm>
            <a:off x="3931920" y="1909773"/>
            <a:ext cx="7421880" cy="3139321"/>
          </a:xfrm>
          <a:prstGeom prst="rect">
            <a:avLst/>
          </a:prstGeom>
          <a:noFill/>
        </p:spPr>
        <p:txBody>
          <a:bodyPr wrap="square">
            <a:spAutoFit/>
          </a:bodyPr>
          <a:lstStyle/>
          <a:p>
            <a:r>
              <a:rPr lang="en-US" b="1" dirty="0">
                <a:latin typeface="Arial Nova Light" panose="020B0304020202020204" pitchFamily="34" charset="0"/>
              </a:rPr>
              <a:t>Sanela Martic</a:t>
            </a:r>
          </a:p>
          <a:p>
            <a:r>
              <a:rPr lang="en-US" dirty="0">
                <a:latin typeface="Arial Nova Light" panose="020B0304020202020204" pitchFamily="34" charset="0"/>
              </a:rPr>
              <a:t>Associate Professor, Chair of Forensic Science</a:t>
            </a:r>
          </a:p>
          <a:p>
            <a:endParaRPr lang="en-US" dirty="0">
              <a:latin typeface="Arial Nova Light" panose="020B0304020202020204" pitchFamily="34" charset="0"/>
            </a:endParaRPr>
          </a:p>
          <a:p>
            <a:r>
              <a:rPr lang="en-US" dirty="0">
                <a:latin typeface="Arial Nova Light" panose="020B0304020202020204" pitchFamily="34" charset="0"/>
              </a:rPr>
              <a:t>Martic Lab: </a:t>
            </a:r>
            <a:r>
              <a:rPr lang="en-US" dirty="0">
                <a:latin typeface="Arial Nova Light" panose="020B0304020202020204" pitchFamily="34" charset="0"/>
                <a:hlinkClick r:id="rId3"/>
              </a:rPr>
              <a:t>LINK</a:t>
            </a:r>
            <a:endParaRPr lang="en-US" dirty="0">
              <a:latin typeface="Arial Nova Light" panose="020B0304020202020204" pitchFamily="34" charset="0"/>
            </a:endParaRPr>
          </a:p>
          <a:p>
            <a:r>
              <a:rPr lang="en-US" dirty="0">
                <a:latin typeface="Arial Nova Light" panose="020B0304020202020204" pitchFamily="34" charset="0"/>
                <a:hlinkClick r:id="rId4"/>
              </a:rPr>
              <a:t>sanelamartic@trentu.ca</a:t>
            </a:r>
            <a:r>
              <a:rPr lang="en-US" dirty="0">
                <a:latin typeface="Arial Nova Light" panose="020B0304020202020204" pitchFamily="34" charset="0"/>
              </a:rPr>
              <a:t> </a:t>
            </a:r>
          </a:p>
          <a:p>
            <a:endParaRPr lang="en-US" dirty="0">
              <a:latin typeface="Arial Nova Light" panose="020B0304020202020204" pitchFamily="34" charset="0"/>
            </a:endParaRPr>
          </a:p>
          <a:p>
            <a:endParaRPr lang="en-US" dirty="0">
              <a:latin typeface="Arial Nova Light" panose="020B0304020202020204" pitchFamily="34" charset="0"/>
            </a:endParaRPr>
          </a:p>
          <a:p>
            <a:r>
              <a:rPr lang="en-US" dirty="0">
                <a:latin typeface="Arial Nova Light" panose="020B0304020202020204" pitchFamily="34" charset="0"/>
              </a:rPr>
              <a:t>The research in Martic lab is focused on using chemistry for forensics, materials, environmental and biomedical applications. The fundamental aspects of chemistry are also being explored for design and development of greener and sustainable technologies and functional in-field devices.</a:t>
            </a:r>
          </a:p>
        </p:txBody>
      </p:sp>
    </p:spTree>
    <p:extLst>
      <p:ext uri="{BB962C8B-B14F-4D97-AF65-F5344CB8AC3E}">
        <p14:creationId xmlns:p14="http://schemas.microsoft.com/office/powerpoint/2010/main" val="6618939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8C80-F18D-9629-5452-C594167A2BAB}"/>
              </a:ext>
            </a:extLst>
          </p:cNvPr>
          <p:cNvSpPr>
            <a:spLocks noGrp="1"/>
          </p:cNvSpPr>
          <p:nvPr>
            <p:ph type="title"/>
          </p:nvPr>
        </p:nvSpPr>
        <p:spPr/>
        <p:txBody>
          <a:bodyPr/>
          <a:lstStyle/>
          <a:p>
            <a:r>
              <a:rPr lang="en-US">
                <a:latin typeface="Arial Nova Light" panose="020B0304020202020204" pitchFamily="34" charset="0"/>
              </a:rPr>
              <a:t>Research at Trent University – Faculty </a:t>
            </a:r>
          </a:p>
        </p:txBody>
      </p:sp>
      <p:pic>
        <p:nvPicPr>
          <p:cNvPr id="1026" name="Picture 2" descr="Arun Moorthy">
            <a:extLst>
              <a:ext uri="{FF2B5EF4-FFF2-40B4-BE49-F238E27FC236}">
                <a16:creationId xmlns:a16="http://schemas.microsoft.com/office/drawing/2014/main" id="{5641FDA5-C37C-14E3-03F5-ADE9F080FADE}"/>
              </a:ext>
            </a:extLst>
          </p:cNvPr>
          <p:cNvPicPr>
            <a:picLocks noGrp="1" noChangeAspect="1" noChangeArrowheads="1"/>
          </p:cNvPicPr>
          <p:nvPr>
            <p:ph idx="1"/>
          </p:nvPr>
        </p:nvPicPr>
        <p:blipFill>
          <a:blip r:embed="rId2"/>
          <a:srcRect/>
          <a:stretch/>
        </p:blipFill>
        <p:spPr bwMode="auto">
          <a:xfrm>
            <a:off x="838200" y="1719263"/>
            <a:ext cx="2883029" cy="43513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0E60B95-F29E-A1A5-365E-5AD7F89A7576}"/>
              </a:ext>
            </a:extLst>
          </p:cNvPr>
          <p:cNvSpPr txBox="1"/>
          <p:nvPr/>
        </p:nvSpPr>
        <p:spPr>
          <a:xfrm>
            <a:off x="3931920" y="1909773"/>
            <a:ext cx="7421880" cy="3693319"/>
          </a:xfrm>
          <a:prstGeom prst="rect">
            <a:avLst/>
          </a:prstGeom>
          <a:noFill/>
        </p:spPr>
        <p:txBody>
          <a:bodyPr wrap="square">
            <a:spAutoFit/>
          </a:bodyPr>
          <a:lstStyle/>
          <a:p>
            <a:r>
              <a:rPr lang="en-US" b="1" dirty="0">
                <a:latin typeface="Arial Nova Light" panose="020B0304020202020204" pitchFamily="34" charset="0"/>
              </a:rPr>
              <a:t>Arun Moorthy</a:t>
            </a:r>
          </a:p>
          <a:p>
            <a:r>
              <a:rPr lang="en-US" dirty="0">
                <a:latin typeface="Arial Nova Light" panose="020B0304020202020204" pitchFamily="34" charset="0"/>
              </a:rPr>
              <a:t>Assistant Professor</a:t>
            </a:r>
          </a:p>
          <a:p>
            <a:endParaRPr lang="en-US" dirty="0">
              <a:latin typeface="Arial Nova Light" panose="020B0304020202020204" pitchFamily="34" charset="0"/>
            </a:endParaRPr>
          </a:p>
          <a:p>
            <a:r>
              <a:rPr lang="en-US" dirty="0">
                <a:latin typeface="Arial Nova Light" panose="020B0304020202020204" pitchFamily="34" charset="0"/>
              </a:rPr>
              <a:t>CRAFTS Lab: </a:t>
            </a:r>
            <a:r>
              <a:rPr lang="en-US" dirty="0">
                <a:latin typeface="Arial Nova Light" panose="020B0304020202020204" pitchFamily="34" charset="0"/>
                <a:hlinkClick r:id="rId3"/>
              </a:rPr>
              <a:t>www.crafts-lab.ca</a:t>
            </a:r>
            <a:r>
              <a:rPr lang="en-US" dirty="0">
                <a:latin typeface="Arial Nova Light" panose="020B0304020202020204" pitchFamily="34" charset="0"/>
              </a:rPr>
              <a:t>    </a:t>
            </a:r>
          </a:p>
          <a:p>
            <a:r>
              <a:rPr lang="en-US" dirty="0">
                <a:latin typeface="Arial Nova Light" panose="020B0304020202020204" pitchFamily="34" charset="0"/>
                <a:hlinkClick r:id="rId4"/>
              </a:rPr>
              <a:t>arunmoorthy@trentu.ca</a:t>
            </a:r>
            <a:r>
              <a:rPr lang="en-US" dirty="0">
                <a:latin typeface="Arial Nova Light" panose="020B0304020202020204" pitchFamily="34" charset="0"/>
              </a:rPr>
              <a:t>  </a:t>
            </a:r>
          </a:p>
          <a:p>
            <a:r>
              <a:rPr lang="en-US" dirty="0">
                <a:latin typeface="Arial Nova Light" panose="020B0304020202020204" pitchFamily="34" charset="0"/>
              </a:rPr>
              <a:t> </a:t>
            </a:r>
          </a:p>
          <a:p>
            <a:r>
              <a:rPr lang="en-US" dirty="0">
                <a:latin typeface="Arial Nova Light" panose="020B0304020202020204" pitchFamily="34" charset="0"/>
              </a:rPr>
              <a:t>Dr. Moorthy leads the Computational Research Applied to Forensic Technology and Sciences (CRAFTS) Lab–a multidisciplinary research group working on measurement and data interpretation challenges in the forensic sciences. Specific projects include:</a:t>
            </a:r>
          </a:p>
          <a:p>
            <a:endParaRPr lang="en-US" sz="1000" dirty="0">
              <a:latin typeface="Arial Nova Light" panose="020B0304020202020204" pitchFamily="34" charset="0"/>
            </a:endParaRPr>
          </a:p>
          <a:p>
            <a:pPr marL="285750" indent="-285750">
              <a:buFont typeface="Arial" panose="020B0604020202020204" pitchFamily="34" charset="0"/>
              <a:buChar char="•"/>
            </a:pPr>
            <a:r>
              <a:rPr lang="en-US" dirty="0">
                <a:latin typeface="Arial Nova Light" panose="020B0304020202020204" pitchFamily="34" charset="0"/>
              </a:rPr>
              <a:t>Data-driven decision-making with the </a:t>
            </a:r>
            <a:r>
              <a:rPr lang="en-US" dirty="0" err="1">
                <a:latin typeface="Arial Nova Light" panose="020B0304020202020204" pitchFamily="34" charset="0"/>
              </a:rPr>
              <a:t>ForeST</a:t>
            </a:r>
            <a:r>
              <a:rPr lang="en-US" dirty="0">
                <a:latin typeface="Arial Nova Light" panose="020B0304020202020204" pitchFamily="34" charset="0"/>
              </a:rPr>
              <a:t>© Database </a:t>
            </a:r>
          </a:p>
          <a:p>
            <a:pPr marL="285750" indent="-285750">
              <a:buFont typeface="Arial" panose="020B0604020202020204" pitchFamily="34" charset="0"/>
              <a:buChar char="•"/>
            </a:pPr>
            <a:r>
              <a:rPr lang="en-US" dirty="0">
                <a:latin typeface="Arial Nova Light" panose="020B0304020202020204" pitchFamily="34" charset="0"/>
              </a:rPr>
              <a:t>Computational tools for interpreting ambient ionization mass spectra</a:t>
            </a:r>
          </a:p>
        </p:txBody>
      </p:sp>
      <p:pic>
        <p:nvPicPr>
          <p:cNvPr id="5122" name="Picture 2">
            <a:extLst>
              <a:ext uri="{FF2B5EF4-FFF2-40B4-BE49-F238E27FC236}">
                <a16:creationId xmlns:a16="http://schemas.microsoft.com/office/drawing/2014/main" id="{6B6565FB-E2A7-B48D-9EAD-C684B5B0513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2339" t="-657" r="23491" b="657"/>
          <a:stretch>
            <a:fillRect/>
          </a:stretch>
        </p:blipFill>
        <p:spPr bwMode="auto">
          <a:xfrm>
            <a:off x="838200" y="1719262"/>
            <a:ext cx="2883029" cy="4351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87659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1E405-C701-3804-CF69-5054ABC4D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082761-FB67-F16A-6CDB-1DF9B65CB431}"/>
              </a:ext>
            </a:extLst>
          </p:cNvPr>
          <p:cNvSpPr>
            <a:spLocks noGrp="1"/>
          </p:cNvSpPr>
          <p:nvPr>
            <p:ph type="title"/>
          </p:nvPr>
        </p:nvSpPr>
        <p:spPr/>
        <p:txBody>
          <a:bodyPr/>
          <a:lstStyle/>
          <a:p>
            <a:r>
              <a:rPr lang="en-US">
                <a:latin typeface="Arial Nova Light" panose="020B0304020202020204" pitchFamily="34" charset="0"/>
              </a:rPr>
              <a:t>Research at Trent University – Faculty </a:t>
            </a:r>
          </a:p>
        </p:txBody>
      </p:sp>
      <p:pic>
        <p:nvPicPr>
          <p:cNvPr id="1026" name="Picture 2" descr="Amy Scott">
            <a:extLst>
              <a:ext uri="{FF2B5EF4-FFF2-40B4-BE49-F238E27FC236}">
                <a16:creationId xmlns:a16="http://schemas.microsoft.com/office/drawing/2014/main" id="{C68C0AB4-20F0-9F17-1EAF-70533097909C}"/>
              </a:ext>
            </a:extLst>
          </p:cNvPr>
          <p:cNvPicPr>
            <a:picLocks noGrp="1" noChangeAspect="1" noChangeArrowheads="1"/>
          </p:cNvPicPr>
          <p:nvPr>
            <p:ph idx="1"/>
          </p:nvPr>
        </p:nvPicPr>
        <p:blipFill>
          <a:blip r:embed="rId2"/>
          <a:srcRect/>
          <a:stretch/>
        </p:blipFill>
        <p:spPr bwMode="auto">
          <a:xfrm>
            <a:off x="838200" y="1719263"/>
            <a:ext cx="2883029" cy="43513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461EDB5-C6DD-09C2-AF9A-8CF02355821A}"/>
              </a:ext>
            </a:extLst>
          </p:cNvPr>
          <p:cNvSpPr txBox="1"/>
          <p:nvPr/>
        </p:nvSpPr>
        <p:spPr>
          <a:xfrm>
            <a:off x="3931920" y="1909773"/>
            <a:ext cx="7421880" cy="3970318"/>
          </a:xfrm>
          <a:prstGeom prst="rect">
            <a:avLst/>
          </a:prstGeom>
          <a:noFill/>
        </p:spPr>
        <p:txBody>
          <a:bodyPr wrap="square">
            <a:spAutoFit/>
          </a:bodyPr>
          <a:lstStyle/>
          <a:p>
            <a:r>
              <a:rPr lang="en-US" b="1" dirty="0">
                <a:latin typeface="Arial Nova Light" panose="020B0304020202020204" pitchFamily="34" charset="0"/>
              </a:rPr>
              <a:t>Amy Scott</a:t>
            </a:r>
          </a:p>
          <a:p>
            <a:r>
              <a:rPr lang="en-US" dirty="0">
                <a:latin typeface="Arial Nova Light" panose="020B0304020202020204" pitchFamily="34" charset="0"/>
              </a:rPr>
              <a:t>Associate Professor (cross-appointed with Anthropology) </a:t>
            </a:r>
          </a:p>
          <a:p>
            <a:endParaRPr lang="en-US" dirty="0">
              <a:latin typeface="Arial Nova Light" panose="020B0304020202020204" pitchFamily="34" charset="0"/>
            </a:endParaRPr>
          </a:p>
          <a:p>
            <a:r>
              <a:rPr lang="en-US" dirty="0">
                <a:latin typeface="Arial Nova Light" panose="020B0304020202020204" pitchFamily="34" charset="0"/>
              </a:rPr>
              <a:t>Trent FAB Lab: </a:t>
            </a:r>
            <a:r>
              <a:rPr lang="en-US" dirty="0">
                <a:latin typeface="Arial Nova Light" panose="020B0304020202020204" pitchFamily="34" charset="0"/>
                <a:hlinkClick r:id="rId3"/>
              </a:rPr>
              <a:t>LINK</a:t>
            </a:r>
            <a:endParaRPr lang="en-US" dirty="0">
              <a:latin typeface="Arial Nova Light" panose="020B0304020202020204" pitchFamily="34" charset="0"/>
            </a:endParaRPr>
          </a:p>
          <a:p>
            <a:r>
              <a:rPr lang="en-US" dirty="0">
                <a:latin typeface="Arial Nova Light" panose="020B0304020202020204" pitchFamily="34" charset="0"/>
                <a:hlinkClick r:id="rId4"/>
              </a:rPr>
              <a:t>amyscott@trentu.ca</a:t>
            </a:r>
            <a:endParaRPr lang="en-US" dirty="0">
              <a:latin typeface="Arial Nova Light" panose="020B0304020202020204" pitchFamily="34" charset="0"/>
            </a:endParaRPr>
          </a:p>
          <a:p>
            <a:endParaRPr lang="en-US" dirty="0">
              <a:latin typeface="Arial Nova Light" panose="020B0304020202020204" pitchFamily="34" charset="0"/>
            </a:endParaRPr>
          </a:p>
          <a:p>
            <a:r>
              <a:rPr lang="en-US" dirty="0">
                <a:latin typeface="Arial Nova Light" panose="020B0304020202020204" pitchFamily="34" charset="0"/>
              </a:rPr>
              <a:t>Dr. Scott's research interests include </a:t>
            </a:r>
            <a:r>
              <a:rPr lang="en-US" dirty="0" err="1">
                <a:latin typeface="Arial Nova Light" panose="020B0304020202020204" pitchFamily="34" charset="0"/>
              </a:rPr>
              <a:t>bioarchaeology</a:t>
            </a:r>
            <a:r>
              <a:rPr lang="en-US" dirty="0">
                <a:latin typeface="Arial Nova Light" panose="020B0304020202020204" pitchFamily="34" charset="0"/>
              </a:rPr>
              <a:t> and understanding human health in 18th century Atlantic Canada. She is also a Forensic Anthropology consultant for the Government of Manitoba and local law enforcement agencies. Past research projects have focused on death and dying, paleopathology, and the ethics of working with human remains. </a:t>
            </a:r>
            <a:br>
              <a:rPr lang="en-US" dirty="0">
                <a:latin typeface="Arial Nova Light" panose="020B0304020202020204" pitchFamily="34" charset="0"/>
              </a:rPr>
            </a:br>
            <a:r>
              <a:rPr lang="en-US" dirty="0">
                <a:latin typeface="Arial Nova Light" panose="020B0304020202020204" pitchFamily="34" charset="0"/>
              </a:rPr>
              <a:t>Dr. Scott is also the Director of the Trent University </a:t>
            </a:r>
            <a:r>
              <a:rPr lang="en-US" dirty="0" err="1">
                <a:latin typeface="Arial Nova Light" panose="020B0304020202020204" pitchFamily="34" charset="0"/>
              </a:rPr>
              <a:t>Bioarchaeology</a:t>
            </a:r>
            <a:r>
              <a:rPr lang="en-US" dirty="0">
                <a:latin typeface="Arial Nova Light" panose="020B0304020202020204" pitchFamily="34" charset="0"/>
              </a:rPr>
              <a:t> Field School, in partnership with Parks Canada. </a:t>
            </a:r>
          </a:p>
          <a:p>
            <a:endParaRPr lang="en-US" dirty="0">
              <a:latin typeface="Arial Nova Light" panose="020B0304020202020204" pitchFamily="34" charset="0"/>
            </a:endParaRPr>
          </a:p>
        </p:txBody>
      </p:sp>
      <p:pic>
        <p:nvPicPr>
          <p:cNvPr id="5122" name="Picture 2">
            <a:extLst>
              <a:ext uri="{FF2B5EF4-FFF2-40B4-BE49-F238E27FC236}">
                <a16:creationId xmlns:a16="http://schemas.microsoft.com/office/drawing/2014/main" id="{C8C16243-A81D-F8DD-91AC-D70F45E6BC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1891" b="1891"/>
          <a:stretch/>
        </p:blipFill>
        <p:spPr bwMode="auto">
          <a:xfrm>
            <a:off x="838200" y="1719262"/>
            <a:ext cx="2883029" cy="4351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26834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8C80-F18D-9629-5452-C594167A2BAB}"/>
              </a:ext>
            </a:extLst>
          </p:cNvPr>
          <p:cNvSpPr>
            <a:spLocks noGrp="1"/>
          </p:cNvSpPr>
          <p:nvPr>
            <p:ph type="title"/>
          </p:nvPr>
        </p:nvSpPr>
        <p:spPr/>
        <p:txBody>
          <a:bodyPr/>
          <a:lstStyle/>
          <a:p>
            <a:r>
              <a:rPr lang="en-US">
                <a:latin typeface="Arial Nova Light" panose="020B0304020202020204" pitchFamily="34" charset="0"/>
              </a:rPr>
              <a:t>Research at Trent University – Faculty </a:t>
            </a:r>
          </a:p>
        </p:txBody>
      </p:sp>
      <p:sp>
        <p:nvSpPr>
          <p:cNvPr id="7" name="TextBox 6">
            <a:extLst>
              <a:ext uri="{FF2B5EF4-FFF2-40B4-BE49-F238E27FC236}">
                <a16:creationId xmlns:a16="http://schemas.microsoft.com/office/drawing/2014/main" id="{20E60B95-F29E-A1A5-365E-5AD7F89A7576}"/>
              </a:ext>
            </a:extLst>
          </p:cNvPr>
          <p:cNvSpPr txBox="1"/>
          <p:nvPr/>
        </p:nvSpPr>
        <p:spPr>
          <a:xfrm>
            <a:off x="3931920" y="1909773"/>
            <a:ext cx="7421880" cy="2862322"/>
          </a:xfrm>
          <a:prstGeom prst="rect">
            <a:avLst/>
          </a:prstGeom>
          <a:noFill/>
        </p:spPr>
        <p:txBody>
          <a:bodyPr wrap="square">
            <a:spAutoFit/>
          </a:bodyPr>
          <a:lstStyle/>
          <a:p>
            <a:r>
              <a:rPr lang="en-US" b="1" dirty="0">
                <a:latin typeface="Arial Nova Light" panose="020B0304020202020204" pitchFamily="34" charset="0"/>
              </a:rPr>
              <a:t>Aaron Shafer</a:t>
            </a:r>
          </a:p>
          <a:p>
            <a:r>
              <a:rPr lang="en-US" dirty="0">
                <a:latin typeface="Arial Nova Light" panose="020B0304020202020204" pitchFamily="34" charset="0"/>
              </a:rPr>
              <a:t>Full Professor</a:t>
            </a:r>
          </a:p>
          <a:p>
            <a:r>
              <a:rPr lang="en-US" dirty="0">
                <a:latin typeface="Arial Nova Light" panose="020B0304020202020204" pitchFamily="34" charset="0"/>
              </a:rPr>
              <a:t> </a:t>
            </a:r>
          </a:p>
          <a:p>
            <a:r>
              <a:rPr lang="en-US" dirty="0">
                <a:latin typeface="Arial Nova Light" panose="020B0304020202020204" pitchFamily="34" charset="0"/>
              </a:rPr>
              <a:t>WAG Lab: </a:t>
            </a:r>
            <a:r>
              <a:rPr lang="en-US" dirty="0">
                <a:latin typeface="Arial Nova Light" panose="020B0304020202020204" pitchFamily="34" charset="0"/>
                <a:hlinkClick r:id="rId2"/>
              </a:rPr>
              <a:t>http://www.aaronshafer.ca</a:t>
            </a:r>
            <a:endParaRPr lang="en-US" dirty="0">
              <a:latin typeface="Arial Nova Light" panose="020B0304020202020204" pitchFamily="34" charset="0"/>
            </a:endParaRPr>
          </a:p>
          <a:p>
            <a:r>
              <a:rPr lang="en-US" dirty="0">
                <a:latin typeface="Arial Nova Light" panose="020B0304020202020204" pitchFamily="34" charset="0"/>
                <a:hlinkClick r:id="rId3"/>
              </a:rPr>
              <a:t>aaronshafer@trentu.ca</a:t>
            </a:r>
            <a:r>
              <a:rPr lang="en-US" dirty="0">
                <a:latin typeface="Arial Nova Light" panose="020B0304020202020204" pitchFamily="34" charset="0"/>
              </a:rPr>
              <a:t> </a:t>
            </a:r>
          </a:p>
          <a:p>
            <a:endParaRPr lang="en-US" dirty="0">
              <a:latin typeface="Arial Nova Light" panose="020B0304020202020204" pitchFamily="34" charset="0"/>
            </a:endParaRPr>
          </a:p>
          <a:p>
            <a:r>
              <a:rPr lang="en-US" dirty="0">
                <a:latin typeface="Arial Nova Light" panose="020B0304020202020204" pitchFamily="34" charset="0"/>
              </a:rPr>
              <a:t>Dr. Shafer is interested in applying genomic methods to conservation, wildlife management, and legal issues. His interests also involve using molecular tools to study evolution of wild animals, and degradation of biomolecules in a forensics context. </a:t>
            </a:r>
          </a:p>
        </p:txBody>
      </p:sp>
      <p:pic>
        <p:nvPicPr>
          <p:cNvPr id="8194" name="Picture 2" descr="image">
            <a:extLst>
              <a:ext uri="{FF2B5EF4-FFF2-40B4-BE49-F238E27FC236}">
                <a16:creationId xmlns:a16="http://schemas.microsoft.com/office/drawing/2014/main" id="{4ADFC020-6BFA-6B5B-4ED7-DA2EFB2595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7214" y="2327682"/>
            <a:ext cx="1905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4944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image">
            <a:extLst>
              <a:ext uri="{FF2B5EF4-FFF2-40B4-BE49-F238E27FC236}">
                <a16:creationId xmlns:a16="http://schemas.microsoft.com/office/drawing/2014/main" id="{C026F348-3892-A213-EDEA-EF2EF6A5FB5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788" r="20405"/>
          <a:stretch/>
        </p:blipFill>
        <p:spPr bwMode="auto">
          <a:xfrm>
            <a:off x="838199" y="1752238"/>
            <a:ext cx="2883029" cy="43183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E3B8C80-F18D-9629-5452-C594167A2BAB}"/>
              </a:ext>
            </a:extLst>
          </p:cNvPr>
          <p:cNvSpPr>
            <a:spLocks noGrp="1"/>
          </p:cNvSpPr>
          <p:nvPr>
            <p:ph type="title"/>
          </p:nvPr>
        </p:nvSpPr>
        <p:spPr/>
        <p:txBody>
          <a:bodyPr/>
          <a:lstStyle/>
          <a:p>
            <a:r>
              <a:rPr lang="en-US">
                <a:latin typeface="Arial Nova Light" panose="020B0304020202020204" pitchFamily="34" charset="0"/>
              </a:rPr>
              <a:t>Research at Trent University – Faculty </a:t>
            </a:r>
          </a:p>
        </p:txBody>
      </p:sp>
      <p:sp>
        <p:nvSpPr>
          <p:cNvPr id="7" name="TextBox 6">
            <a:extLst>
              <a:ext uri="{FF2B5EF4-FFF2-40B4-BE49-F238E27FC236}">
                <a16:creationId xmlns:a16="http://schemas.microsoft.com/office/drawing/2014/main" id="{20E60B95-F29E-A1A5-365E-5AD7F89A7576}"/>
              </a:ext>
            </a:extLst>
          </p:cNvPr>
          <p:cNvSpPr txBox="1"/>
          <p:nvPr/>
        </p:nvSpPr>
        <p:spPr>
          <a:xfrm>
            <a:off x="3931920" y="1909773"/>
            <a:ext cx="7421880" cy="2308324"/>
          </a:xfrm>
          <a:prstGeom prst="rect">
            <a:avLst/>
          </a:prstGeom>
          <a:noFill/>
        </p:spPr>
        <p:txBody>
          <a:bodyPr wrap="square">
            <a:spAutoFit/>
          </a:bodyPr>
          <a:lstStyle/>
          <a:p>
            <a:r>
              <a:rPr lang="en-US" b="1">
                <a:latin typeface="Arial Nova Light" panose="020B0304020202020204" pitchFamily="34" charset="0"/>
              </a:rPr>
              <a:t>Rhonda Smith</a:t>
            </a:r>
            <a:endParaRPr lang="en-US" b="1" dirty="0">
              <a:latin typeface="Arial Nova Light" panose="020B0304020202020204" pitchFamily="34" charset="0"/>
            </a:endParaRPr>
          </a:p>
          <a:p>
            <a:r>
              <a:rPr lang="en-US" dirty="0">
                <a:latin typeface="Arial Nova Light" panose="020B0304020202020204" pitchFamily="34" charset="0"/>
              </a:rPr>
              <a:t>Associate Professor</a:t>
            </a:r>
          </a:p>
          <a:p>
            <a:endParaRPr lang="en-US" dirty="0">
              <a:latin typeface="Arial Nova Light" panose="020B0304020202020204" pitchFamily="34" charset="0"/>
            </a:endParaRPr>
          </a:p>
          <a:p>
            <a:r>
              <a:rPr lang="en-US" dirty="0">
                <a:latin typeface="Arial Nova Light" panose="020B0304020202020204" pitchFamily="34" charset="0"/>
                <a:hlinkClick r:id="rId3"/>
              </a:rPr>
              <a:t>rhondasmith@trentu.ca</a:t>
            </a:r>
            <a:r>
              <a:rPr lang="en-US" dirty="0">
                <a:latin typeface="Arial Nova Light" panose="020B0304020202020204" pitchFamily="34" charset="0"/>
              </a:rPr>
              <a:t> </a:t>
            </a:r>
          </a:p>
          <a:p>
            <a:endParaRPr lang="en-US" dirty="0">
              <a:latin typeface="Arial Nova Light" panose="020B0304020202020204" pitchFamily="34" charset="0"/>
            </a:endParaRPr>
          </a:p>
          <a:p>
            <a:r>
              <a:rPr lang="en-US" dirty="0">
                <a:latin typeface="Arial Nova Light" panose="020B0304020202020204" pitchFamily="34" charset="0"/>
              </a:rPr>
              <a:t>Professor Smith conducts research into alternate ways scientific expert evidence is presented in criminal courts, judicial use of statistical evidence in criminal courts, and communication of law to scientists.</a:t>
            </a:r>
          </a:p>
        </p:txBody>
      </p:sp>
    </p:spTree>
    <p:extLst>
      <p:ext uri="{BB962C8B-B14F-4D97-AF65-F5344CB8AC3E}">
        <p14:creationId xmlns:p14="http://schemas.microsoft.com/office/powerpoint/2010/main" val="16959632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8C80-F18D-9629-5452-C594167A2BAB}"/>
              </a:ext>
            </a:extLst>
          </p:cNvPr>
          <p:cNvSpPr>
            <a:spLocks noGrp="1"/>
          </p:cNvSpPr>
          <p:nvPr>
            <p:ph type="title"/>
          </p:nvPr>
        </p:nvSpPr>
        <p:spPr/>
        <p:txBody>
          <a:bodyPr/>
          <a:lstStyle/>
          <a:p>
            <a:r>
              <a:rPr lang="en-US">
                <a:latin typeface="Arial Nova Light" panose="020B0304020202020204" pitchFamily="34" charset="0"/>
              </a:rPr>
              <a:t>Approaching a faculty advisor</a:t>
            </a:r>
          </a:p>
        </p:txBody>
      </p:sp>
      <p:sp>
        <p:nvSpPr>
          <p:cNvPr id="3" name="Content Placeholder 2">
            <a:extLst>
              <a:ext uri="{FF2B5EF4-FFF2-40B4-BE49-F238E27FC236}">
                <a16:creationId xmlns:a16="http://schemas.microsoft.com/office/drawing/2014/main" id="{30C6CB81-49EF-D921-6843-785B2A49E714}"/>
              </a:ext>
            </a:extLst>
          </p:cNvPr>
          <p:cNvSpPr>
            <a:spLocks noGrp="1"/>
          </p:cNvSpPr>
          <p:nvPr>
            <p:ph idx="1"/>
          </p:nvPr>
        </p:nvSpPr>
        <p:spPr/>
        <p:txBody>
          <a:bodyPr>
            <a:normAutofit/>
          </a:bodyPr>
          <a:lstStyle/>
          <a:p>
            <a:pPr>
              <a:lnSpc>
                <a:spcPct val="114000"/>
              </a:lnSpc>
            </a:pPr>
            <a:r>
              <a:rPr lang="en-CA" sz="2400" dirty="0">
                <a:latin typeface="Arial Nova Light" panose="020B0304020202020204" pitchFamily="34" charset="0"/>
              </a:rPr>
              <a:t>Do your work first! </a:t>
            </a:r>
          </a:p>
          <a:p>
            <a:pPr lvl="1">
              <a:lnSpc>
                <a:spcPct val="114000"/>
              </a:lnSpc>
            </a:pPr>
            <a:r>
              <a:rPr lang="en-CA" sz="2000" dirty="0">
                <a:latin typeface="Arial Nova Light" panose="020B0304020202020204" pitchFamily="34" charset="0"/>
              </a:rPr>
              <a:t>Read up on the potential advisor’s field and their recent work</a:t>
            </a:r>
          </a:p>
          <a:p>
            <a:pPr lvl="1">
              <a:lnSpc>
                <a:spcPct val="114000"/>
              </a:lnSpc>
            </a:pPr>
            <a:r>
              <a:rPr lang="en-CA" sz="2000" dirty="0">
                <a:latin typeface="Arial Nova Light" panose="020B0304020202020204" pitchFamily="34" charset="0"/>
              </a:rPr>
              <a:t>Think of potential (genuine) questions that would help you better understand their field</a:t>
            </a:r>
          </a:p>
          <a:p>
            <a:pPr lvl="1">
              <a:lnSpc>
                <a:spcPct val="114000"/>
              </a:lnSpc>
            </a:pPr>
            <a:r>
              <a:rPr lang="en-CA" sz="2000" dirty="0">
                <a:latin typeface="Arial Nova Light" panose="020B0304020202020204" pitchFamily="34" charset="0"/>
              </a:rPr>
              <a:t>Think about what you’d like from a research experience in their lab</a:t>
            </a:r>
          </a:p>
          <a:p>
            <a:pPr lvl="1">
              <a:lnSpc>
                <a:spcPct val="114000"/>
              </a:lnSpc>
            </a:pPr>
            <a:r>
              <a:rPr lang="en-CA" sz="2000" dirty="0">
                <a:latin typeface="Arial Nova Light" panose="020B0304020202020204" pitchFamily="34" charset="0"/>
              </a:rPr>
              <a:t>Think about what you can contribute to a lab given your ability</a:t>
            </a:r>
            <a:endParaRPr lang="en-CA" sz="2400" dirty="0">
              <a:latin typeface="Arial Nova Light" panose="020B0304020202020204" pitchFamily="34" charset="0"/>
            </a:endParaRPr>
          </a:p>
          <a:p>
            <a:pPr>
              <a:lnSpc>
                <a:spcPct val="114000"/>
              </a:lnSpc>
            </a:pPr>
            <a:r>
              <a:rPr lang="en-CA" sz="2400" dirty="0">
                <a:latin typeface="Arial Nova Light" panose="020B0304020202020204" pitchFamily="34" charset="0"/>
              </a:rPr>
              <a:t>Send a </a:t>
            </a:r>
            <a:r>
              <a:rPr lang="en-CA" sz="2400" b="1" dirty="0">
                <a:latin typeface="Arial Nova Light" panose="020B0304020202020204" pitchFamily="34" charset="0"/>
              </a:rPr>
              <a:t>professional and courteous</a:t>
            </a:r>
            <a:r>
              <a:rPr lang="en-CA" sz="2400" dirty="0">
                <a:latin typeface="Arial Nova Light" panose="020B0304020202020204" pitchFamily="34" charset="0"/>
              </a:rPr>
              <a:t> email introducing yourself and stating your interest in learning about opportunities in their lab. Include your </a:t>
            </a:r>
            <a:r>
              <a:rPr lang="en-CA" sz="2400" dirty="0">
                <a:latin typeface="Arial Nova Light" panose="020B0304020202020204" pitchFamily="34" charset="0"/>
                <a:hlinkClick r:id="rId2"/>
              </a:rPr>
              <a:t>Curriculum Vitae (CV) </a:t>
            </a:r>
            <a:r>
              <a:rPr lang="en-CA" sz="2400" dirty="0">
                <a:latin typeface="Arial Nova Light" panose="020B0304020202020204" pitchFamily="34" charset="0"/>
              </a:rPr>
              <a:t>and unofficial transcripts. Offer to meet them at their office during </a:t>
            </a:r>
            <a:r>
              <a:rPr lang="en-CA" sz="2400" i="1" dirty="0">
                <a:latin typeface="Arial Nova Light" panose="020B0304020202020204" pitchFamily="34" charset="0"/>
              </a:rPr>
              <a:t>their scheduled office hours</a:t>
            </a:r>
            <a:r>
              <a:rPr lang="en-CA" sz="2400" dirty="0">
                <a:latin typeface="Arial Nova Light" panose="020B0304020202020204" pitchFamily="34" charset="0"/>
              </a:rPr>
              <a:t>.</a:t>
            </a:r>
          </a:p>
          <a:p>
            <a:endParaRPr lang="en-CA" sz="2400" dirty="0">
              <a:latin typeface="Arial Nova Light" panose="020B0304020202020204" pitchFamily="34" charset="0"/>
            </a:endParaRPr>
          </a:p>
          <a:p>
            <a:endParaRPr lang="en-CA" sz="2400" dirty="0">
              <a:latin typeface="Arial Nova Light" panose="020B0304020202020204" pitchFamily="34" charset="0"/>
            </a:endParaRPr>
          </a:p>
          <a:p>
            <a:endParaRPr lang="en-CA" sz="2000" dirty="0">
              <a:latin typeface="Arial Nova Light" panose="020B0304020202020204" pitchFamily="34" charset="0"/>
            </a:endParaRPr>
          </a:p>
        </p:txBody>
      </p:sp>
      <p:pic>
        <p:nvPicPr>
          <p:cNvPr id="4" name="Picture 3">
            <a:extLst>
              <a:ext uri="{FF2B5EF4-FFF2-40B4-BE49-F238E27FC236}">
                <a16:creationId xmlns:a16="http://schemas.microsoft.com/office/drawing/2014/main" id="{948547C4-CAF8-8D15-3CAA-7AABE210405D}"/>
              </a:ext>
            </a:extLst>
          </p:cNvPr>
          <p:cNvPicPr>
            <a:picLocks noChangeAspect="1"/>
          </p:cNvPicPr>
          <p:nvPr/>
        </p:nvPicPr>
        <p:blipFill>
          <a:blip r:embed="rId3"/>
          <a:stretch>
            <a:fillRect/>
          </a:stretch>
        </p:blipFill>
        <p:spPr>
          <a:xfrm>
            <a:off x="7620000" y="0"/>
            <a:ext cx="4572000" cy="638165"/>
          </a:xfrm>
          <a:prstGeom prst="rect">
            <a:avLst/>
          </a:prstGeom>
        </p:spPr>
      </p:pic>
    </p:spTree>
    <p:extLst>
      <p:ext uri="{BB962C8B-B14F-4D97-AF65-F5344CB8AC3E}">
        <p14:creationId xmlns:p14="http://schemas.microsoft.com/office/powerpoint/2010/main" val="2479625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8C80-F18D-9629-5452-C594167A2BAB}"/>
              </a:ext>
            </a:extLst>
          </p:cNvPr>
          <p:cNvSpPr>
            <a:spLocks noGrp="1"/>
          </p:cNvSpPr>
          <p:nvPr>
            <p:ph type="title"/>
          </p:nvPr>
        </p:nvSpPr>
        <p:spPr/>
        <p:txBody>
          <a:bodyPr/>
          <a:lstStyle/>
          <a:p>
            <a:r>
              <a:rPr lang="en-US">
                <a:latin typeface="Arial Nova Light" panose="020B0304020202020204" pitchFamily="34" charset="0"/>
              </a:rPr>
              <a:t>Approaching a faculty advisor</a:t>
            </a:r>
          </a:p>
        </p:txBody>
      </p:sp>
      <p:sp>
        <p:nvSpPr>
          <p:cNvPr id="3" name="Content Placeholder 2">
            <a:extLst>
              <a:ext uri="{FF2B5EF4-FFF2-40B4-BE49-F238E27FC236}">
                <a16:creationId xmlns:a16="http://schemas.microsoft.com/office/drawing/2014/main" id="{30C6CB81-49EF-D921-6843-785B2A49E714}"/>
              </a:ext>
            </a:extLst>
          </p:cNvPr>
          <p:cNvSpPr>
            <a:spLocks noGrp="1"/>
          </p:cNvSpPr>
          <p:nvPr>
            <p:ph idx="1"/>
          </p:nvPr>
        </p:nvSpPr>
        <p:spPr/>
        <p:txBody>
          <a:bodyPr>
            <a:normAutofit/>
          </a:bodyPr>
          <a:lstStyle/>
          <a:p>
            <a:r>
              <a:rPr lang="en-CA" sz="2400" dirty="0">
                <a:latin typeface="Arial Nova Light" panose="020B0304020202020204" pitchFamily="34" charset="0"/>
              </a:rPr>
              <a:t>Every professor will have a different process for how many students they admit in their lab and how they sift through applicants, so be patient before you follow up with them</a:t>
            </a:r>
          </a:p>
          <a:p>
            <a:endParaRPr lang="en-CA" sz="2400" dirty="0">
              <a:latin typeface="Arial Nova Light" panose="020B0304020202020204" pitchFamily="34" charset="0"/>
            </a:endParaRPr>
          </a:p>
          <a:p>
            <a:r>
              <a:rPr lang="en-CA" sz="2400" dirty="0">
                <a:latin typeface="Arial Nova Light" panose="020B0304020202020204" pitchFamily="34" charset="0"/>
              </a:rPr>
              <a:t>If the professor responds and invites you to meet them, try your best to GO TO THE MEETING! This is an informal interview, a way to get to know if your style of work meshes well. </a:t>
            </a:r>
          </a:p>
          <a:p>
            <a:endParaRPr lang="en-CA" sz="2400" dirty="0">
              <a:latin typeface="Arial Nova Light" panose="020B0304020202020204" pitchFamily="34" charset="0"/>
            </a:endParaRPr>
          </a:p>
          <a:p>
            <a:r>
              <a:rPr lang="en-CA" sz="2400" dirty="0">
                <a:latin typeface="Arial Nova Light" panose="020B0304020202020204" pitchFamily="34" charset="0"/>
              </a:rPr>
              <a:t>A meeting doesn’t guarantee a thesis placement, summer job, but it helps you (and the professor) figure out options</a:t>
            </a:r>
            <a:endParaRPr lang="en-CA" sz="2000" dirty="0">
              <a:latin typeface="Arial Nova Light" panose="020B0304020202020204" pitchFamily="34" charset="0"/>
            </a:endParaRPr>
          </a:p>
          <a:p>
            <a:endParaRPr lang="en-CA" sz="2400" dirty="0">
              <a:latin typeface="Arial Nova Light" panose="020B0304020202020204" pitchFamily="34" charset="0"/>
            </a:endParaRPr>
          </a:p>
          <a:p>
            <a:endParaRPr lang="en-CA" sz="2000" dirty="0">
              <a:latin typeface="Arial Nova Light" panose="020B0304020202020204" pitchFamily="34" charset="0"/>
            </a:endParaRPr>
          </a:p>
        </p:txBody>
      </p:sp>
      <p:pic>
        <p:nvPicPr>
          <p:cNvPr id="4" name="Picture 3">
            <a:extLst>
              <a:ext uri="{FF2B5EF4-FFF2-40B4-BE49-F238E27FC236}">
                <a16:creationId xmlns:a16="http://schemas.microsoft.com/office/drawing/2014/main" id="{E87BE1A4-E947-8798-08F7-06EA4BA332C1}"/>
              </a:ext>
            </a:extLst>
          </p:cNvPr>
          <p:cNvPicPr>
            <a:picLocks noChangeAspect="1"/>
          </p:cNvPicPr>
          <p:nvPr/>
        </p:nvPicPr>
        <p:blipFill>
          <a:blip r:embed="rId2"/>
          <a:stretch>
            <a:fillRect/>
          </a:stretch>
        </p:blipFill>
        <p:spPr>
          <a:xfrm>
            <a:off x="7620000" y="0"/>
            <a:ext cx="4572000" cy="638165"/>
          </a:xfrm>
          <a:prstGeom prst="rect">
            <a:avLst/>
          </a:prstGeom>
        </p:spPr>
      </p:pic>
    </p:spTree>
    <p:extLst>
      <p:ext uri="{BB962C8B-B14F-4D97-AF65-F5344CB8AC3E}">
        <p14:creationId xmlns:p14="http://schemas.microsoft.com/office/powerpoint/2010/main" val="119393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8C80-F18D-9629-5452-C594167A2BAB}"/>
              </a:ext>
            </a:extLst>
          </p:cNvPr>
          <p:cNvSpPr>
            <a:spLocks noGrp="1"/>
          </p:cNvSpPr>
          <p:nvPr>
            <p:ph type="title"/>
          </p:nvPr>
        </p:nvSpPr>
        <p:spPr/>
        <p:txBody>
          <a:bodyPr/>
          <a:lstStyle/>
          <a:p>
            <a:r>
              <a:rPr lang="en-US">
                <a:latin typeface="Arial Nova Light" panose="020B0304020202020204" pitchFamily="34" charset="0"/>
              </a:rPr>
              <a:t>On informational interviews</a:t>
            </a:r>
          </a:p>
        </p:txBody>
      </p:sp>
      <p:sp>
        <p:nvSpPr>
          <p:cNvPr id="3" name="Content Placeholder 2">
            <a:extLst>
              <a:ext uri="{FF2B5EF4-FFF2-40B4-BE49-F238E27FC236}">
                <a16:creationId xmlns:a16="http://schemas.microsoft.com/office/drawing/2014/main" id="{30C6CB81-49EF-D921-6843-785B2A49E714}"/>
              </a:ext>
            </a:extLst>
          </p:cNvPr>
          <p:cNvSpPr>
            <a:spLocks noGrp="1"/>
          </p:cNvSpPr>
          <p:nvPr>
            <p:ph idx="1"/>
          </p:nvPr>
        </p:nvSpPr>
        <p:spPr/>
        <p:txBody>
          <a:bodyPr>
            <a:normAutofit/>
          </a:bodyPr>
          <a:lstStyle/>
          <a:p>
            <a:r>
              <a:rPr lang="en-CA" sz="2400">
                <a:latin typeface="Arial Nova Light" panose="020B0304020202020204" pitchFamily="34" charset="0"/>
              </a:rPr>
              <a:t>You may want to contact multiple professors just to see who has the opportunities that best align with your interests, but make sure you still</a:t>
            </a:r>
          </a:p>
          <a:p>
            <a:pPr marL="0" indent="0" algn="ctr">
              <a:buNone/>
            </a:pPr>
            <a:r>
              <a:rPr lang="en-CA" sz="2400">
                <a:latin typeface="Arial Nova Light" panose="020B0304020202020204" pitchFamily="34" charset="0"/>
              </a:rPr>
              <a:t> </a:t>
            </a:r>
          </a:p>
          <a:p>
            <a:pPr marL="0" indent="0" algn="ctr">
              <a:buNone/>
            </a:pPr>
            <a:r>
              <a:rPr lang="en-CA" sz="2400">
                <a:latin typeface="Arial Nova Light" panose="020B0304020202020204" pitchFamily="34" charset="0"/>
              </a:rPr>
              <a:t>DO YOUR WORK FIRST</a:t>
            </a:r>
          </a:p>
          <a:p>
            <a:pPr marL="0" indent="0" algn="ctr">
              <a:buNone/>
            </a:pPr>
            <a:endParaRPr lang="en-CA" sz="2400">
              <a:latin typeface="Arial Nova Light" panose="020B0304020202020204" pitchFamily="34" charset="0"/>
            </a:endParaRPr>
          </a:p>
          <a:p>
            <a:r>
              <a:rPr lang="en-CA" sz="2400">
                <a:latin typeface="Arial Nova Light" panose="020B0304020202020204" pitchFamily="34" charset="0"/>
              </a:rPr>
              <a:t>Do not expect each professor to give you a lecture about their research work</a:t>
            </a:r>
          </a:p>
          <a:p>
            <a:r>
              <a:rPr lang="en-CA" sz="2400">
                <a:latin typeface="Arial Nova Light" panose="020B0304020202020204" pitchFamily="34" charset="0"/>
              </a:rPr>
              <a:t>Go in with questions: research, lab culture, expectations, etc.</a:t>
            </a:r>
          </a:p>
          <a:p>
            <a:r>
              <a:rPr lang="en-CA" sz="2400">
                <a:latin typeface="Arial Nova Light" panose="020B0304020202020204" pitchFamily="34" charset="0"/>
              </a:rPr>
              <a:t>Listen to the answers: an informational interview is a way for you to learn</a:t>
            </a:r>
          </a:p>
          <a:p>
            <a:endParaRPr lang="en-CA" sz="2400">
              <a:latin typeface="Arial Nova Light" panose="020B0304020202020204" pitchFamily="34" charset="0"/>
            </a:endParaRPr>
          </a:p>
          <a:p>
            <a:pPr marL="0" indent="0">
              <a:buNone/>
            </a:pPr>
            <a:endParaRPr lang="en-CA" sz="2400">
              <a:latin typeface="Arial Nova Light" panose="020B0304020202020204" pitchFamily="34" charset="0"/>
            </a:endParaRPr>
          </a:p>
          <a:p>
            <a:endParaRPr lang="en-CA" sz="2000">
              <a:latin typeface="Arial Nova Light" panose="020B0304020202020204" pitchFamily="34" charset="0"/>
            </a:endParaRPr>
          </a:p>
        </p:txBody>
      </p:sp>
      <p:pic>
        <p:nvPicPr>
          <p:cNvPr id="5" name="Picture 4">
            <a:extLst>
              <a:ext uri="{FF2B5EF4-FFF2-40B4-BE49-F238E27FC236}">
                <a16:creationId xmlns:a16="http://schemas.microsoft.com/office/drawing/2014/main" id="{E0760646-39E2-39B8-A625-F08CEAF56394}"/>
              </a:ext>
            </a:extLst>
          </p:cNvPr>
          <p:cNvPicPr>
            <a:picLocks noChangeAspect="1"/>
          </p:cNvPicPr>
          <p:nvPr/>
        </p:nvPicPr>
        <p:blipFill>
          <a:blip r:embed="rId2"/>
          <a:stretch>
            <a:fillRect/>
          </a:stretch>
        </p:blipFill>
        <p:spPr>
          <a:xfrm>
            <a:off x="7620000" y="0"/>
            <a:ext cx="4572000" cy="638165"/>
          </a:xfrm>
          <a:prstGeom prst="rect">
            <a:avLst/>
          </a:prstGeom>
        </p:spPr>
      </p:pic>
    </p:spTree>
    <p:extLst>
      <p:ext uri="{BB962C8B-B14F-4D97-AF65-F5344CB8AC3E}">
        <p14:creationId xmlns:p14="http://schemas.microsoft.com/office/powerpoint/2010/main" val="548440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8C80-F18D-9629-5452-C594167A2BAB}"/>
              </a:ext>
            </a:extLst>
          </p:cNvPr>
          <p:cNvSpPr>
            <a:spLocks noGrp="1"/>
          </p:cNvSpPr>
          <p:nvPr>
            <p:ph type="title"/>
          </p:nvPr>
        </p:nvSpPr>
        <p:spPr/>
        <p:txBody>
          <a:bodyPr/>
          <a:lstStyle/>
          <a:p>
            <a:r>
              <a:rPr lang="en-US">
                <a:latin typeface="Arial Nova Light" panose="020B0304020202020204" pitchFamily="34" charset="0"/>
              </a:rPr>
              <a:t>Working in a research lab</a:t>
            </a:r>
          </a:p>
        </p:txBody>
      </p:sp>
      <p:sp>
        <p:nvSpPr>
          <p:cNvPr id="3" name="Content Placeholder 2">
            <a:extLst>
              <a:ext uri="{FF2B5EF4-FFF2-40B4-BE49-F238E27FC236}">
                <a16:creationId xmlns:a16="http://schemas.microsoft.com/office/drawing/2014/main" id="{30C6CB81-49EF-D921-6843-785B2A49E714}"/>
              </a:ext>
            </a:extLst>
          </p:cNvPr>
          <p:cNvSpPr>
            <a:spLocks noGrp="1"/>
          </p:cNvSpPr>
          <p:nvPr>
            <p:ph idx="1"/>
          </p:nvPr>
        </p:nvSpPr>
        <p:spPr/>
        <p:txBody>
          <a:bodyPr>
            <a:normAutofit/>
          </a:bodyPr>
          <a:lstStyle/>
          <a:p>
            <a:r>
              <a:rPr lang="en-CA" sz="2400">
                <a:latin typeface="Arial Nova Light" panose="020B0304020202020204" pitchFamily="34" charset="0"/>
              </a:rPr>
              <a:t>Be mindful of the fact that there are other people in the lab; try to take initiative and be independent without doing things that interrupt others’ on-going research.</a:t>
            </a:r>
          </a:p>
          <a:p>
            <a:endParaRPr lang="en-CA" sz="2400">
              <a:latin typeface="Arial Nova Light" panose="020B0304020202020204" pitchFamily="34" charset="0"/>
            </a:endParaRPr>
          </a:p>
          <a:p>
            <a:r>
              <a:rPr lang="en-CA" sz="2400">
                <a:latin typeface="Arial Nova Light" panose="020B0304020202020204" pitchFamily="34" charset="0"/>
              </a:rPr>
              <a:t>For example, if you are working in the CRAFTS Lab and you think you could benefit from some specific software on our shared server. </a:t>
            </a:r>
            <a:br>
              <a:rPr lang="en-CA" sz="2400">
                <a:latin typeface="Arial Nova Light" panose="020B0304020202020204" pitchFamily="34" charset="0"/>
              </a:rPr>
            </a:br>
            <a:endParaRPr lang="en-CA" sz="1000">
              <a:latin typeface="Arial Nova Light" panose="020B0304020202020204" pitchFamily="34" charset="0"/>
            </a:endParaRPr>
          </a:p>
          <a:p>
            <a:pPr lvl="1"/>
            <a:r>
              <a:rPr lang="en-CA" sz="2000">
                <a:latin typeface="Arial Nova Light" panose="020B0304020202020204" pitchFamily="34" charset="0"/>
              </a:rPr>
              <a:t>You SHOULD write up a short report that explains what the software is, why you need it, how much it costs, how it will benefit the lab, etc.—this is taking initiative. </a:t>
            </a:r>
          </a:p>
          <a:p>
            <a:pPr lvl="1"/>
            <a:endParaRPr lang="en-CA" sz="1000">
              <a:latin typeface="Arial Nova Light" panose="020B0304020202020204" pitchFamily="34" charset="0"/>
            </a:endParaRPr>
          </a:p>
          <a:p>
            <a:pPr lvl="1"/>
            <a:r>
              <a:rPr lang="en-CA" sz="2000">
                <a:latin typeface="Arial Nova Light" panose="020B0304020202020204" pitchFamily="34" charset="0"/>
              </a:rPr>
              <a:t>You SHOULD NOT install the software without asking—this is being inconsiderate.</a:t>
            </a:r>
            <a:endParaRPr lang="en-CA" sz="1600">
              <a:latin typeface="Arial Nova Light" panose="020B0304020202020204" pitchFamily="34" charset="0"/>
            </a:endParaRPr>
          </a:p>
          <a:p>
            <a:endParaRPr lang="en-CA" sz="2400">
              <a:latin typeface="Arial Nova Light" panose="020B0304020202020204" pitchFamily="34" charset="0"/>
            </a:endParaRPr>
          </a:p>
          <a:p>
            <a:endParaRPr lang="en-CA" sz="2000">
              <a:latin typeface="Arial Nova Light" panose="020B0304020202020204" pitchFamily="34" charset="0"/>
            </a:endParaRPr>
          </a:p>
        </p:txBody>
      </p:sp>
    </p:spTree>
    <p:extLst>
      <p:ext uri="{BB962C8B-B14F-4D97-AF65-F5344CB8AC3E}">
        <p14:creationId xmlns:p14="http://schemas.microsoft.com/office/powerpoint/2010/main" val="244354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185741"/>
        </a:solidFill>
        <a:effectLst/>
      </p:bgPr>
    </p:bg>
    <p:spTree>
      <p:nvGrpSpPr>
        <p:cNvPr id="1" name="">
          <a:extLst>
            <a:ext uri="{FF2B5EF4-FFF2-40B4-BE49-F238E27FC236}">
              <a16:creationId xmlns:a16="http://schemas.microsoft.com/office/drawing/2014/main" id="{80D0084B-FE11-F7AE-3B81-45B0731891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A1A2A-C28D-D2BA-BF8D-C68AC02E905D}"/>
              </a:ext>
            </a:extLst>
          </p:cNvPr>
          <p:cNvSpPr>
            <a:spLocks noGrp="1"/>
          </p:cNvSpPr>
          <p:nvPr>
            <p:ph type="title"/>
          </p:nvPr>
        </p:nvSpPr>
        <p:spPr/>
        <p:txBody>
          <a:bodyPr/>
          <a:lstStyle/>
          <a:p>
            <a:r>
              <a:rPr lang="en-US" dirty="0">
                <a:solidFill>
                  <a:schemeClr val="accent1">
                    <a:lumMod val="40000"/>
                    <a:lumOff val="60000"/>
                  </a:schemeClr>
                </a:solidFill>
                <a:latin typeface="Arial Nova Light" panose="020B0304020202020204" pitchFamily="34" charset="0"/>
              </a:rPr>
              <a:t>Things to ponder (leading to 4</a:t>
            </a:r>
            <a:r>
              <a:rPr lang="en-US" baseline="30000" dirty="0">
                <a:solidFill>
                  <a:schemeClr val="accent1">
                    <a:lumMod val="40000"/>
                    <a:lumOff val="60000"/>
                  </a:schemeClr>
                </a:solidFill>
                <a:latin typeface="Arial Nova Light" panose="020B0304020202020204" pitchFamily="34" charset="0"/>
              </a:rPr>
              <a:t>th</a:t>
            </a:r>
            <a:r>
              <a:rPr lang="en-US" dirty="0">
                <a:solidFill>
                  <a:schemeClr val="accent1">
                    <a:lumMod val="40000"/>
                    <a:lumOff val="60000"/>
                  </a:schemeClr>
                </a:solidFill>
                <a:latin typeface="Arial Nova Light" panose="020B0304020202020204" pitchFamily="34" charset="0"/>
              </a:rPr>
              <a:t> year)</a:t>
            </a:r>
          </a:p>
        </p:txBody>
      </p:sp>
      <p:sp>
        <p:nvSpPr>
          <p:cNvPr id="3" name="Content Placeholder 2">
            <a:extLst>
              <a:ext uri="{FF2B5EF4-FFF2-40B4-BE49-F238E27FC236}">
                <a16:creationId xmlns:a16="http://schemas.microsoft.com/office/drawing/2014/main" id="{CD1114E6-CD08-14AC-C94A-F54DFCAC0725}"/>
              </a:ext>
            </a:extLst>
          </p:cNvPr>
          <p:cNvSpPr>
            <a:spLocks noGrp="1"/>
          </p:cNvSpPr>
          <p:nvPr>
            <p:ph idx="1"/>
          </p:nvPr>
        </p:nvSpPr>
        <p:spPr>
          <a:xfrm>
            <a:off x="838200" y="1825625"/>
            <a:ext cx="6086707" cy="4351338"/>
          </a:xfrm>
        </p:spPr>
        <p:txBody>
          <a:bodyPr>
            <a:normAutofit/>
          </a:bodyPr>
          <a:lstStyle/>
          <a:p>
            <a:pPr>
              <a:lnSpc>
                <a:spcPct val="113000"/>
              </a:lnSpc>
            </a:pPr>
            <a:r>
              <a:rPr lang="en-CA" sz="2400" dirty="0">
                <a:solidFill>
                  <a:schemeClr val="accent1">
                    <a:lumMod val="40000"/>
                    <a:lumOff val="60000"/>
                  </a:schemeClr>
                </a:solidFill>
              </a:rPr>
              <a:t>I’ve put together a list of statements for you to think about over the next several months that I hope will help you decide your path for 4th year FRSC courses</a:t>
            </a:r>
          </a:p>
          <a:p>
            <a:pPr>
              <a:lnSpc>
                <a:spcPct val="113000"/>
              </a:lnSpc>
            </a:pPr>
            <a:endParaRPr lang="en-CA" sz="1200" dirty="0">
              <a:solidFill>
                <a:schemeClr val="accent1">
                  <a:lumMod val="40000"/>
                  <a:lumOff val="60000"/>
                </a:schemeClr>
              </a:solidFill>
            </a:endParaRPr>
          </a:p>
          <a:p>
            <a:pPr>
              <a:lnSpc>
                <a:spcPct val="113000"/>
              </a:lnSpc>
            </a:pPr>
            <a:r>
              <a:rPr lang="en-CA" sz="2400" dirty="0">
                <a:solidFill>
                  <a:schemeClr val="accent1">
                    <a:lumMod val="40000"/>
                    <a:lumOff val="60000"/>
                  </a:schemeClr>
                </a:solidFill>
              </a:rPr>
              <a:t>Be honest; take note of your answers; see how your answers change over time</a:t>
            </a:r>
          </a:p>
          <a:p>
            <a:pPr>
              <a:lnSpc>
                <a:spcPct val="113000"/>
              </a:lnSpc>
            </a:pPr>
            <a:endParaRPr lang="en-CA" sz="1200" dirty="0">
              <a:solidFill>
                <a:schemeClr val="accent1">
                  <a:lumMod val="40000"/>
                  <a:lumOff val="60000"/>
                </a:schemeClr>
              </a:solidFill>
            </a:endParaRPr>
          </a:p>
          <a:p>
            <a:pPr>
              <a:lnSpc>
                <a:spcPct val="113000"/>
              </a:lnSpc>
            </a:pPr>
            <a:r>
              <a:rPr lang="en-CA" sz="2400" dirty="0">
                <a:solidFill>
                  <a:schemeClr val="accent1">
                    <a:lumMod val="40000"/>
                    <a:lumOff val="60000"/>
                  </a:schemeClr>
                </a:solidFill>
              </a:rPr>
              <a:t>NOTE: This is nothing more than an exercise! I provide no warrantees!</a:t>
            </a:r>
          </a:p>
          <a:p>
            <a:endParaRPr lang="en-CA" sz="1200" dirty="0">
              <a:solidFill>
                <a:schemeClr val="accent1">
                  <a:lumMod val="40000"/>
                  <a:lumOff val="60000"/>
                </a:schemeClr>
              </a:solidFill>
            </a:endParaRPr>
          </a:p>
          <a:p>
            <a:endParaRPr lang="en-CA" sz="1600" b="1" dirty="0">
              <a:solidFill>
                <a:schemeClr val="accent1">
                  <a:lumMod val="40000"/>
                  <a:lumOff val="60000"/>
                </a:schemeClr>
              </a:solidFill>
            </a:endParaRPr>
          </a:p>
          <a:p>
            <a:endParaRPr lang="en-CA" sz="2000" dirty="0">
              <a:solidFill>
                <a:schemeClr val="accent1">
                  <a:lumMod val="40000"/>
                  <a:lumOff val="60000"/>
                </a:schemeClr>
              </a:solidFill>
              <a:latin typeface="Arial Nova Light" panose="020B0304020202020204" pitchFamily="34" charset="0"/>
            </a:endParaRPr>
          </a:p>
        </p:txBody>
      </p:sp>
      <p:pic>
        <p:nvPicPr>
          <p:cNvPr id="10" name="Picture 9" descr="Child playing on the maze">
            <a:extLst>
              <a:ext uri="{FF2B5EF4-FFF2-40B4-BE49-F238E27FC236}">
                <a16:creationId xmlns:a16="http://schemas.microsoft.com/office/drawing/2014/main" id="{51C6268E-5A2F-9FDB-8F5D-B126B987B86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140724" y="2333907"/>
            <a:ext cx="4491379" cy="2621833"/>
          </a:xfrm>
          <a:prstGeom prst="rect">
            <a:avLst/>
          </a:prstGeom>
        </p:spPr>
      </p:pic>
    </p:spTree>
    <p:extLst>
      <p:ext uri="{BB962C8B-B14F-4D97-AF65-F5344CB8AC3E}">
        <p14:creationId xmlns:p14="http://schemas.microsoft.com/office/powerpoint/2010/main" val="21353251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85741"/>
        </a:solidFill>
        <a:effectLst/>
      </p:bgPr>
    </p:bg>
    <p:spTree>
      <p:nvGrpSpPr>
        <p:cNvPr id="1" name="">
          <a:extLst>
            <a:ext uri="{FF2B5EF4-FFF2-40B4-BE49-F238E27FC236}">
              <a16:creationId xmlns:a16="http://schemas.microsoft.com/office/drawing/2014/main" id="{EC7F4EDD-4A4E-EAFE-893D-7978D678DB45}"/>
            </a:ext>
          </a:extLst>
        </p:cNvPr>
        <p:cNvGrpSpPr/>
        <p:nvPr/>
      </p:nvGrpSpPr>
      <p:grpSpPr>
        <a:xfrm>
          <a:off x="0" y="0"/>
          <a:ext cx="0" cy="0"/>
          <a:chOff x="0" y="0"/>
          <a:chExt cx="0" cy="0"/>
        </a:xfrm>
      </p:grpSpPr>
      <p:cxnSp>
        <p:nvCxnSpPr>
          <p:cNvPr id="24" name="Straight Arrow Connector 23">
            <a:extLst>
              <a:ext uri="{FF2B5EF4-FFF2-40B4-BE49-F238E27FC236}">
                <a16:creationId xmlns:a16="http://schemas.microsoft.com/office/drawing/2014/main" id="{138A63EF-4E4C-4E22-D24B-1A797359C171}"/>
              </a:ext>
              <a:ext uri="{C183D7F6-B498-43B3-948B-1728B52AA6E4}">
                <adec:decorative xmlns:adec="http://schemas.microsoft.com/office/drawing/2017/decorative" val="1"/>
              </a:ext>
            </a:extLst>
          </p:cNvPr>
          <p:cNvCxnSpPr>
            <a:cxnSpLocks/>
          </p:cNvCxnSpPr>
          <p:nvPr/>
        </p:nvCxnSpPr>
        <p:spPr>
          <a:xfrm>
            <a:off x="6035505" y="5350741"/>
            <a:ext cx="4399739"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CDA23E7-91AB-E986-DDC6-0B45B774F94C}"/>
              </a:ext>
              <a:ext uri="{C183D7F6-B498-43B3-948B-1728B52AA6E4}">
                <adec:decorative xmlns:adec="http://schemas.microsoft.com/office/drawing/2017/decorative" val="1"/>
              </a:ext>
            </a:extLst>
          </p:cNvPr>
          <p:cNvCxnSpPr>
            <a:cxnSpLocks/>
          </p:cNvCxnSpPr>
          <p:nvPr/>
        </p:nvCxnSpPr>
        <p:spPr>
          <a:xfrm>
            <a:off x="4503761" y="5928964"/>
            <a:ext cx="593148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E970ADA-7CB3-2E0E-CBC5-E47A94CA65A8}"/>
              </a:ext>
            </a:extLst>
          </p:cNvPr>
          <p:cNvSpPr>
            <a:spLocks noGrp="1"/>
          </p:cNvSpPr>
          <p:nvPr>
            <p:ph idx="1"/>
          </p:nvPr>
        </p:nvSpPr>
        <p:spPr>
          <a:xfrm>
            <a:off x="838200" y="864730"/>
            <a:ext cx="10515600" cy="3009846"/>
          </a:xfrm>
        </p:spPr>
        <p:txBody>
          <a:bodyPr>
            <a:normAutofit/>
          </a:bodyPr>
          <a:lstStyle/>
          <a:p>
            <a:pPr marL="0" indent="0" algn="ctr">
              <a:buNone/>
            </a:pPr>
            <a:endParaRPr lang="en-CA" sz="4400" dirty="0">
              <a:solidFill>
                <a:schemeClr val="accent1">
                  <a:lumMod val="40000"/>
                  <a:lumOff val="60000"/>
                </a:schemeClr>
              </a:solidFill>
            </a:endParaRPr>
          </a:p>
          <a:p>
            <a:pPr marL="0" indent="0" algn="ctr">
              <a:buNone/>
            </a:pPr>
            <a:r>
              <a:rPr lang="en-CA" sz="4400" dirty="0">
                <a:solidFill>
                  <a:schemeClr val="accent1">
                    <a:lumMod val="40000"/>
                    <a:lumOff val="60000"/>
                  </a:schemeClr>
                </a:solidFill>
              </a:rPr>
              <a:t>I am willing to read many scientific publications.</a:t>
            </a:r>
            <a:endParaRPr lang="en-CA" sz="3200" dirty="0">
              <a:solidFill>
                <a:schemeClr val="accent1">
                  <a:lumMod val="40000"/>
                  <a:lumOff val="60000"/>
                </a:schemeClr>
              </a:solidFill>
            </a:endParaRPr>
          </a:p>
          <a:p>
            <a:endParaRPr lang="en-CA" sz="2400" dirty="0">
              <a:solidFill>
                <a:schemeClr val="accent1">
                  <a:lumMod val="40000"/>
                  <a:lumOff val="60000"/>
                </a:schemeClr>
              </a:solidFill>
              <a:latin typeface="Arial Nova Light" panose="020B0304020202020204" pitchFamily="34" charset="0"/>
            </a:endParaRPr>
          </a:p>
          <a:p>
            <a:pPr marL="0" indent="0">
              <a:buNone/>
            </a:pPr>
            <a:endParaRPr lang="en-CA" sz="2400" dirty="0">
              <a:solidFill>
                <a:schemeClr val="accent1">
                  <a:lumMod val="40000"/>
                  <a:lumOff val="60000"/>
                </a:schemeClr>
              </a:solidFill>
              <a:latin typeface="Arial Nova Light" panose="020B0304020202020204" pitchFamily="34" charset="0"/>
            </a:endParaRPr>
          </a:p>
          <a:p>
            <a:pPr marL="0" indent="0">
              <a:buNone/>
            </a:pPr>
            <a:endParaRPr lang="en-CA" sz="2000" dirty="0">
              <a:solidFill>
                <a:schemeClr val="accent1">
                  <a:lumMod val="40000"/>
                  <a:lumOff val="60000"/>
                </a:schemeClr>
              </a:solidFill>
              <a:latin typeface="Arial Nova Light" panose="020B0304020202020204" pitchFamily="34" charset="0"/>
            </a:endParaRPr>
          </a:p>
        </p:txBody>
      </p:sp>
      <p:sp>
        <p:nvSpPr>
          <p:cNvPr id="4" name="Oval 3">
            <a:extLst>
              <a:ext uri="{FF2B5EF4-FFF2-40B4-BE49-F238E27FC236}">
                <a16:creationId xmlns:a16="http://schemas.microsoft.com/office/drawing/2014/main" id="{D14E952E-E38D-A014-5E6F-0350501FF172}"/>
              </a:ext>
              <a:ext uri="{C183D7F6-B498-43B3-948B-1728B52AA6E4}">
                <adec:decorative xmlns:adec="http://schemas.microsoft.com/office/drawing/2017/decorative" val="1"/>
              </a:ext>
            </a:extLst>
          </p:cNvPr>
          <p:cNvSpPr>
            <a:spLocks noChangeAspect="1"/>
          </p:cNvSpPr>
          <p:nvPr/>
        </p:nvSpPr>
        <p:spPr>
          <a:xfrm>
            <a:off x="1647920" y="3435587"/>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0A5DB97-FA8F-613E-CFAB-2256EF8A31EE}"/>
              </a:ext>
              <a:ext uri="{C183D7F6-B498-43B3-948B-1728B52AA6E4}">
                <adec:decorative xmlns:adec="http://schemas.microsoft.com/office/drawing/2017/decorative" val="1"/>
              </a:ext>
            </a:extLst>
          </p:cNvPr>
          <p:cNvSpPr>
            <a:spLocks noChangeAspect="1"/>
          </p:cNvSpPr>
          <p:nvPr/>
        </p:nvSpPr>
        <p:spPr>
          <a:xfrm>
            <a:off x="2960303"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844C9A8-3BA5-F692-CDC7-C576AC6F5829}"/>
              </a:ext>
              <a:ext uri="{C183D7F6-B498-43B3-948B-1728B52AA6E4}">
                <adec:decorative xmlns:adec="http://schemas.microsoft.com/office/drawing/2017/decorative" val="1"/>
              </a:ext>
            </a:extLst>
          </p:cNvPr>
          <p:cNvSpPr>
            <a:spLocks noChangeAspect="1"/>
          </p:cNvSpPr>
          <p:nvPr/>
        </p:nvSpPr>
        <p:spPr>
          <a:xfrm>
            <a:off x="4396350"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B70A7F8-2551-A2D5-DF74-B7F6BEF23C0C}"/>
              </a:ext>
              <a:ext uri="{C183D7F6-B498-43B3-948B-1728B52AA6E4}">
                <adec:decorative xmlns:adec="http://schemas.microsoft.com/office/drawing/2017/decorative" val="1"/>
              </a:ext>
            </a:extLst>
          </p:cNvPr>
          <p:cNvSpPr>
            <a:spLocks noChangeAspect="1"/>
          </p:cNvSpPr>
          <p:nvPr/>
        </p:nvSpPr>
        <p:spPr>
          <a:xfrm>
            <a:off x="5832397"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DDF4202-3BCE-F551-8C1C-887B111CAAD1}"/>
              </a:ext>
              <a:ext uri="{C183D7F6-B498-43B3-948B-1728B52AA6E4}">
                <adec:decorative xmlns:adec="http://schemas.microsoft.com/office/drawing/2017/decorative" val="1"/>
              </a:ext>
            </a:extLst>
          </p:cNvPr>
          <p:cNvSpPr>
            <a:spLocks noChangeAspect="1"/>
          </p:cNvSpPr>
          <p:nvPr/>
        </p:nvSpPr>
        <p:spPr>
          <a:xfrm>
            <a:off x="7268444"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6D86759-20EF-41AD-1A68-8658211D86E8}"/>
              </a:ext>
              <a:ext uri="{C183D7F6-B498-43B3-948B-1728B52AA6E4}">
                <adec:decorative xmlns:adec="http://schemas.microsoft.com/office/drawing/2017/decorative" val="1"/>
              </a:ext>
            </a:extLst>
          </p:cNvPr>
          <p:cNvSpPr>
            <a:spLocks noChangeAspect="1"/>
          </p:cNvSpPr>
          <p:nvPr/>
        </p:nvSpPr>
        <p:spPr>
          <a:xfrm>
            <a:off x="8704491" y="3435587"/>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2B8C342-B1F1-D102-69BA-022997A7BA84}"/>
              </a:ext>
              <a:ext uri="{C183D7F6-B498-43B3-948B-1728B52AA6E4}">
                <adec:decorative xmlns:adec="http://schemas.microsoft.com/office/drawing/2017/decorative" val="1"/>
              </a:ext>
            </a:extLst>
          </p:cNvPr>
          <p:cNvSpPr>
            <a:spLocks noChangeAspect="1"/>
          </p:cNvSpPr>
          <p:nvPr/>
        </p:nvSpPr>
        <p:spPr>
          <a:xfrm>
            <a:off x="10140538"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913999C-69C6-5BBB-6C95-D472FA4B7381}"/>
              </a:ext>
            </a:extLst>
          </p:cNvPr>
          <p:cNvSpPr txBox="1"/>
          <p:nvPr/>
        </p:nvSpPr>
        <p:spPr>
          <a:xfrm>
            <a:off x="5563827" y="4405295"/>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neutral</a:t>
            </a:r>
          </a:p>
        </p:txBody>
      </p:sp>
      <p:sp>
        <p:nvSpPr>
          <p:cNvPr id="14" name="TextBox 13">
            <a:extLst>
              <a:ext uri="{FF2B5EF4-FFF2-40B4-BE49-F238E27FC236}">
                <a16:creationId xmlns:a16="http://schemas.microsoft.com/office/drawing/2014/main" id="{48BF2590-C34E-A351-F8B7-413046244EB4}"/>
              </a:ext>
            </a:extLst>
          </p:cNvPr>
          <p:cNvSpPr txBox="1"/>
          <p:nvPr/>
        </p:nvSpPr>
        <p:spPr>
          <a:xfrm>
            <a:off x="1369424" y="4287727"/>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strongly disagree</a:t>
            </a:r>
          </a:p>
        </p:txBody>
      </p:sp>
      <p:sp>
        <p:nvSpPr>
          <p:cNvPr id="15" name="TextBox 14">
            <a:extLst>
              <a:ext uri="{FF2B5EF4-FFF2-40B4-BE49-F238E27FC236}">
                <a16:creationId xmlns:a16="http://schemas.microsoft.com/office/drawing/2014/main" id="{C3AB4841-AA58-21FC-63D2-D79EF1BD7B59}"/>
              </a:ext>
            </a:extLst>
          </p:cNvPr>
          <p:cNvSpPr txBox="1"/>
          <p:nvPr/>
        </p:nvSpPr>
        <p:spPr>
          <a:xfrm>
            <a:off x="9877203" y="4266795"/>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strongly agree</a:t>
            </a:r>
          </a:p>
        </p:txBody>
      </p:sp>
      <p:sp>
        <p:nvSpPr>
          <p:cNvPr id="16" name="TextBox 15">
            <a:extLst>
              <a:ext uri="{FF2B5EF4-FFF2-40B4-BE49-F238E27FC236}">
                <a16:creationId xmlns:a16="http://schemas.microsoft.com/office/drawing/2014/main" id="{D24AF1CD-4C99-B7BF-EE1C-5AA8C565711A}"/>
              </a:ext>
            </a:extLst>
          </p:cNvPr>
          <p:cNvSpPr txBox="1"/>
          <p:nvPr/>
        </p:nvSpPr>
        <p:spPr>
          <a:xfrm>
            <a:off x="8469498" y="4388543"/>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agree</a:t>
            </a:r>
          </a:p>
        </p:txBody>
      </p:sp>
      <p:sp>
        <p:nvSpPr>
          <p:cNvPr id="17" name="TextBox 16">
            <a:extLst>
              <a:ext uri="{FF2B5EF4-FFF2-40B4-BE49-F238E27FC236}">
                <a16:creationId xmlns:a16="http://schemas.microsoft.com/office/drawing/2014/main" id="{6331836C-E76D-AEB5-4A65-CC3C54880793}"/>
              </a:ext>
            </a:extLst>
          </p:cNvPr>
          <p:cNvSpPr txBox="1"/>
          <p:nvPr/>
        </p:nvSpPr>
        <p:spPr>
          <a:xfrm>
            <a:off x="6971532" y="4266795"/>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mildly agree</a:t>
            </a:r>
          </a:p>
        </p:txBody>
      </p:sp>
      <p:sp>
        <p:nvSpPr>
          <p:cNvPr id="18" name="TextBox 17">
            <a:extLst>
              <a:ext uri="{FF2B5EF4-FFF2-40B4-BE49-F238E27FC236}">
                <a16:creationId xmlns:a16="http://schemas.microsoft.com/office/drawing/2014/main" id="{D7E8301A-B549-829A-1E5A-0DBD32005B35}"/>
              </a:ext>
            </a:extLst>
          </p:cNvPr>
          <p:cNvSpPr txBox="1"/>
          <p:nvPr/>
        </p:nvSpPr>
        <p:spPr>
          <a:xfrm>
            <a:off x="4073656" y="4285204"/>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mildly disagree</a:t>
            </a:r>
          </a:p>
        </p:txBody>
      </p:sp>
      <p:sp>
        <p:nvSpPr>
          <p:cNvPr id="19" name="TextBox 18">
            <a:extLst>
              <a:ext uri="{FF2B5EF4-FFF2-40B4-BE49-F238E27FC236}">
                <a16:creationId xmlns:a16="http://schemas.microsoft.com/office/drawing/2014/main" id="{C96FDBFB-7A6E-29BE-1105-79A3B158984D}"/>
              </a:ext>
            </a:extLst>
          </p:cNvPr>
          <p:cNvSpPr txBox="1"/>
          <p:nvPr/>
        </p:nvSpPr>
        <p:spPr>
          <a:xfrm>
            <a:off x="2605449" y="4423703"/>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disagree</a:t>
            </a:r>
          </a:p>
        </p:txBody>
      </p:sp>
      <p:sp>
        <p:nvSpPr>
          <p:cNvPr id="2" name="TextBox 1">
            <a:extLst>
              <a:ext uri="{FF2B5EF4-FFF2-40B4-BE49-F238E27FC236}">
                <a16:creationId xmlns:a16="http://schemas.microsoft.com/office/drawing/2014/main" id="{5E4E8745-A5F1-7DA7-7332-02EF4837C6C6}"/>
              </a:ext>
            </a:extLst>
          </p:cNvPr>
          <p:cNvSpPr txBox="1"/>
          <p:nvPr/>
        </p:nvSpPr>
        <p:spPr>
          <a:xfrm>
            <a:off x="6026622" y="5738491"/>
            <a:ext cx="2460930" cy="369332"/>
          </a:xfrm>
          <a:prstGeom prst="rect">
            <a:avLst/>
          </a:prstGeom>
          <a:solidFill>
            <a:srgbClr val="185741"/>
          </a:solidFill>
        </p:spPr>
        <p:txBody>
          <a:bodyPr wrap="none" rtlCol="0">
            <a:spAutoFit/>
          </a:bodyPr>
          <a:lstStyle/>
          <a:p>
            <a:r>
              <a:rPr lang="en-CA" dirty="0">
                <a:solidFill>
                  <a:schemeClr val="accent4">
                    <a:lumMod val="20000"/>
                    <a:lumOff val="80000"/>
                  </a:schemeClr>
                </a:solidFill>
                <a:latin typeface="Arial Nova Light" panose="020B0304020202020204" pitchFamily="34" charset="0"/>
              </a:rPr>
              <a:t>Traditional course work</a:t>
            </a:r>
          </a:p>
        </p:txBody>
      </p:sp>
      <p:sp>
        <p:nvSpPr>
          <p:cNvPr id="20" name="TextBox 19">
            <a:extLst>
              <a:ext uri="{FF2B5EF4-FFF2-40B4-BE49-F238E27FC236}">
                <a16:creationId xmlns:a16="http://schemas.microsoft.com/office/drawing/2014/main" id="{564D1C6E-CC66-B673-E782-4816B38017F5}"/>
              </a:ext>
            </a:extLst>
          </p:cNvPr>
          <p:cNvSpPr txBox="1"/>
          <p:nvPr/>
        </p:nvSpPr>
        <p:spPr>
          <a:xfrm>
            <a:off x="8161601" y="5185260"/>
            <a:ext cx="1680140" cy="369332"/>
          </a:xfrm>
          <a:prstGeom prst="rect">
            <a:avLst/>
          </a:prstGeom>
          <a:solidFill>
            <a:srgbClr val="185741"/>
          </a:solidFill>
        </p:spPr>
        <p:txBody>
          <a:bodyPr wrap="none" rtlCol="0">
            <a:spAutoFit/>
          </a:bodyPr>
          <a:lstStyle/>
          <a:p>
            <a:r>
              <a:rPr lang="en-CA" dirty="0">
                <a:solidFill>
                  <a:schemeClr val="accent4">
                    <a:lumMod val="20000"/>
                    <a:lumOff val="80000"/>
                  </a:schemeClr>
                </a:solidFill>
                <a:latin typeface="Arial Nova Light" panose="020B0304020202020204" pitchFamily="34" charset="0"/>
              </a:rPr>
              <a:t>IP, CBR, Thesis</a:t>
            </a:r>
          </a:p>
        </p:txBody>
      </p:sp>
      <p:sp>
        <p:nvSpPr>
          <p:cNvPr id="26" name="Rectangle 25">
            <a:extLst>
              <a:ext uri="{FF2B5EF4-FFF2-40B4-BE49-F238E27FC236}">
                <a16:creationId xmlns:a16="http://schemas.microsoft.com/office/drawing/2014/main" id="{37E45583-89D4-0371-B6A8-9D771CBCFEB0}"/>
              </a:ext>
              <a:ext uri="{C183D7F6-B498-43B3-948B-1728B52AA6E4}">
                <adec:decorative xmlns:adec="http://schemas.microsoft.com/office/drawing/2017/decorative" val="1"/>
              </a:ext>
            </a:extLst>
          </p:cNvPr>
          <p:cNvSpPr/>
          <p:nvPr/>
        </p:nvSpPr>
        <p:spPr>
          <a:xfrm>
            <a:off x="824552" y="4931535"/>
            <a:ext cx="10312021" cy="1305492"/>
          </a:xfrm>
          <a:prstGeom prst="rect">
            <a:avLst/>
          </a:prstGeom>
          <a:solidFill>
            <a:srgbClr val="185741"/>
          </a:solidFill>
          <a:ln>
            <a:solidFill>
              <a:srgbClr val="1857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809482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185741"/>
        </a:solidFill>
        <a:effectLst/>
      </p:bgPr>
    </p:bg>
    <p:spTree>
      <p:nvGrpSpPr>
        <p:cNvPr id="1" name="">
          <a:extLst>
            <a:ext uri="{FF2B5EF4-FFF2-40B4-BE49-F238E27FC236}">
              <a16:creationId xmlns:a16="http://schemas.microsoft.com/office/drawing/2014/main" id="{03FB127D-7CAD-0DF3-96F2-80DF53032C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441B64-6783-A159-D016-249B5922D293}"/>
              </a:ext>
            </a:extLst>
          </p:cNvPr>
          <p:cNvSpPr>
            <a:spLocks noGrp="1"/>
          </p:cNvSpPr>
          <p:nvPr>
            <p:ph idx="1"/>
          </p:nvPr>
        </p:nvSpPr>
        <p:spPr>
          <a:xfrm>
            <a:off x="838200" y="864730"/>
            <a:ext cx="10515600" cy="3009846"/>
          </a:xfrm>
        </p:spPr>
        <p:txBody>
          <a:bodyPr>
            <a:normAutofit/>
          </a:bodyPr>
          <a:lstStyle/>
          <a:p>
            <a:pPr marL="0" indent="0" algn="ctr">
              <a:buNone/>
            </a:pPr>
            <a:endParaRPr lang="en-CA" sz="4400" dirty="0">
              <a:solidFill>
                <a:schemeClr val="accent1">
                  <a:lumMod val="40000"/>
                  <a:lumOff val="60000"/>
                </a:schemeClr>
              </a:solidFill>
            </a:endParaRPr>
          </a:p>
          <a:p>
            <a:pPr marL="0" indent="0" algn="ctr">
              <a:buNone/>
            </a:pPr>
            <a:r>
              <a:rPr lang="en-CA" sz="4400" dirty="0">
                <a:solidFill>
                  <a:schemeClr val="accent1">
                    <a:lumMod val="40000"/>
                    <a:lumOff val="60000"/>
                  </a:schemeClr>
                </a:solidFill>
              </a:rPr>
              <a:t>I am willing to spend significant time writing proposals, reports and papers.</a:t>
            </a:r>
            <a:endParaRPr lang="en-CA" sz="3200" dirty="0">
              <a:solidFill>
                <a:schemeClr val="accent1">
                  <a:lumMod val="40000"/>
                  <a:lumOff val="60000"/>
                </a:schemeClr>
              </a:solidFill>
            </a:endParaRPr>
          </a:p>
          <a:p>
            <a:endParaRPr lang="en-CA" sz="2400" dirty="0">
              <a:solidFill>
                <a:schemeClr val="accent1">
                  <a:lumMod val="40000"/>
                  <a:lumOff val="60000"/>
                </a:schemeClr>
              </a:solidFill>
              <a:latin typeface="Arial Nova Light" panose="020B0304020202020204" pitchFamily="34" charset="0"/>
            </a:endParaRPr>
          </a:p>
          <a:p>
            <a:pPr marL="0" indent="0">
              <a:buNone/>
            </a:pPr>
            <a:endParaRPr lang="en-CA" sz="2400" dirty="0">
              <a:solidFill>
                <a:schemeClr val="accent1">
                  <a:lumMod val="40000"/>
                  <a:lumOff val="60000"/>
                </a:schemeClr>
              </a:solidFill>
              <a:latin typeface="Arial Nova Light" panose="020B0304020202020204" pitchFamily="34" charset="0"/>
            </a:endParaRPr>
          </a:p>
          <a:p>
            <a:pPr marL="0" indent="0">
              <a:buNone/>
            </a:pPr>
            <a:endParaRPr lang="en-CA" sz="2000" dirty="0">
              <a:solidFill>
                <a:schemeClr val="accent1">
                  <a:lumMod val="40000"/>
                  <a:lumOff val="60000"/>
                </a:schemeClr>
              </a:solidFill>
              <a:latin typeface="Arial Nova Light" panose="020B0304020202020204" pitchFamily="34" charset="0"/>
            </a:endParaRPr>
          </a:p>
        </p:txBody>
      </p:sp>
      <p:sp>
        <p:nvSpPr>
          <p:cNvPr id="4" name="Oval 3">
            <a:extLst>
              <a:ext uri="{FF2B5EF4-FFF2-40B4-BE49-F238E27FC236}">
                <a16:creationId xmlns:a16="http://schemas.microsoft.com/office/drawing/2014/main" id="{72DBE183-4200-BF77-9B6D-625F9FFC7A98}"/>
              </a:ext>
              <a:ext uri="{C183D7F6-B498-43B3-948B-1728B52AA6E4}">
                <adec:decorative xmlns:adec="http://schemas.microsoft.com/office/drawing/2017/decorative" val="1"/>
              </a:ext>
            </a:extLst>
          </p:cNvPr>
          <p:cNvSpPr>
            <a:spLocks noChangeAspect="1"/>
          </p:cNvSpPr>
          <p:nvPr/>
        </p:nvSpPr>
        <p:spPr>
          <a:xfrm>
            <a:off x="1647920" y="3435587"/>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BB5DADDF-BBDC-9B73-8FC6-E425D0ADFF62}"/>
              </a:ext>
              <a:ext uri="{C183D7F6-B498-43B3-948B-1728B52AA6E4}">
                <adec:decorative xmlns:adec="http://schemas.microsoft.com/office/drawing/2017/decorative" val="1"/>
              </a:ext>
            </a:extLst>
          </p:cNvPr>
          <p:cNvSpPr>
            <a:spLocks noChangeAspect="1"/>
          </p:cNvSpPr>
          <p:nvPr/>
        </p:nvSpPr>
        <p:spPr>
          <a:xfrm>
            <a:off x="2960303"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BDFADC4-FED6-9768-06F5-BF305F5D0FA9}"/>
              </a:ext>
              <a:ext uri="{C183D7F6-B498-43B3-948B-1728B52AA6E4}">
                <adec:decorative xmlns:adec="http://schemas.microsoft.com/office/drawing/2017/decorative" val="1"/>
              </a:ext>
            </a:extLst>
          </p:cNvPr>
          <p:cNvSpPr>
            <a:spLocks noChangeAspect="1"/>
          </p:cNvSpPr>
          <p:nvPr/>
        </p:nvSpPr>
        <p:spPr>
          <a:xfrm>
            <a:off x="4396350"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F192374-99A9-4591-8F55-872ED545ECFD}"/>
              </a:ext>
              <a:ext uri="{C183D7F6-B498-43B3-948B-1728B52AA6E4}">
                <adec:decorative xmlns:adec="http://schemas.microsoft.com/office/drawing/2017/decorative" val="1"/>
              </a:ext>
            </a:extLst>
          </p:cNvPr>
          <p:cNvSpPr>
            <a:spLocks noChangeAspect="1"/>
          </p:cNvSpPr>
          <p:nvPr/>
        </p:nvSpPr>
        <p:spPr>
          <a:xfrm>
            <a:off x="5832397"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EC83485-087B-EFD0-BE4F-B3CABDC502BF}"/>
              </a:ext>
              <a:ext uri="{C183D7F6-B498-43B3-948B-1728B52AA6E4}">
                <adec:decorative xmlns:adec="http://schemas.microsoft.com/office/drawing/2017/decorative" val="1"/>
              </a:ext>
            </a:extLst>
          </p:cNvPr>
          <p:cNvSpPr>
            <a:spLocks noChangeAspect="1"/>
          </p:cNvSpPr>
          <p:nvPr/>
        </p:nvSpPr>
        <p:spPr>
          <a:xfrm>
            <a:off x="7268444"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9F2642A-B745-4A8A-A01C-888D0C67D62A}"/>
              </a:ext>
              <a:ext uri="{C183D7F6-B498-43B3-948B-1728B52AA6E4}">
                <adec:decorative xmlns:adec="http://schemas.microsoft.com/office/drawing/2017/decorative" val="1"/>
              </a:ext>
            </a:extLst>
          </p:cNvPr>
          <p:cNvSpPr>
            <a:spLocks noChangeAspect="1"/>
          </p:cNvSpPr>
          <p:nvPr/>
        </p:nvSpPr>
        <p:spPr>
          <a:xfrm>
            <a:off x="8704491" y="3435587"/>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AEA9DCA-F992-571C-C21E-6D08F25686C0}"/>
              </a:ext>
              <a:ext uri="{C183D7F6-B498-43B3-948B-1728B52AA6E4}">
                <adec:decorative xmlns:adec="http://schemas.microsoft.com/office/drawing/2017/decorative" val="1"/>
              </a:ext>
            </a:extLst>
          </p:cNvPr>
          <p:cNvSpPr>
            <a:spLocks noChangeAspect="1"/>
          </p:cNvSpPr>
          <p:nvPr/>
        </p:nvSpPr>
        <p:spPr>
          <a:xfrm>
            <a:off x="10140538"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8B58537-700B-AAC2-1A7E-870DA94EF148}"/>
              </a:ext>
            </a:extLst>
          </p:cNvPr>
          <p:cNvSpPr txBox="1"/>
          <p:nvPr/>
        </p:nvSpPr>
        <p:spPr>
          <a:xfrm>
            <a:off x="5563827" y="4405295"/>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neutral</a:t>
            </a:r>
          </a:p>
        </p:txBody>
      </p:sp>
      <p:sp>
        <p:nvSpPr>
          <p:cNvPr id="14" name="TextBox 13">
            <a:extLst>
              <a:ext uri="{FF2B5EF4-FFF2-40B4-BE49-F238E27FC236}">
                <a16:creationId xmlns:a16="http://schemas.microsoft.com/office/drawing/2014/main" id="{40DC64C1-73FB-FAAE-526A-8085114FBF66}"/>
              </a:ext>
            </a:extLst>
          </p:cNvPr>
          <p:cNvSpPr txBox="1"/>
          <p:nvPr/>
        </p:nvSpPr>
        <p:spPr>
          <a:xfrm>
            <a:off x="1369424" y="4287727"/>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strongly disagree</a:t>
            </a:r>
          </a:p>
        </p:txBody>
      </p:sp>
      <p:sp>
        <p:nvSpPr>
          <p:cNvPr id="15" name="TextBox 14">
            <a:extLst>
              <a:ext uri="{FF2B5EF4-FFF2-40B4-BE49-F238E27FC236}">
                <a16:creationId xmlns:a16="http://schemas.microsoft.com/office/drawing/2014/main" id="{0177355F-8D7E-56B9-E10C-FC62B4328A99}"/>
              </a:ext>
            </a:extLst>
          </p:cNvPr>
          <p:cNvSpPr txBox="1"/>
          <p:nvPr/>
        </p:nvSpPr>
        <p:spPr>
          <a:xfrm>
            <a:off x="9877203" y="4266795"/>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strongly agree</a:t>
            </a:r>
          </a:p>
        </p:txBody>
      </p:sp>
      <p:sp>
        <p:nvSpPr>
          <p:cNvPr id="16" name="TextBox 15">
            <a:extLst>
              <a:ext uri="{FF2B5EF4-FFF2-40B4-BE49-F238E27FC236}">
                <a16:creationId xmlns:a16="http://schemas.microsoft.com/office/drawing/2014/main" id="{13F82C94-DE74-C559-182D-B10FD8DB9B76}"/>
              </a:ext>
            </a:extLst>
          </p:cNvPr>
          <p:cNvSpPr txBox="1"/>
          <p:nvPr/>
        </p:nvSpPr>
        <p:spPr>
          <a:xfrm>
            <a:off x="8469498" y="4388543"/>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agree</a:t>
            </a:r>
          </a:p>
        </p:txBody>
      </p:sp>
      <p:sp>
        <p:nvSpPr>
          <p:cNvPr id="17" name="TextBox 16">
            <a:extLst>
              <a:ext uri="{FF2B5EF4-FFF2-40B4-BE49-F238E27FC236}">
                <a16:creationId xmlns:a16="http://schemas.microsoft.com/office/drawing/2014/main" id="{7703F705-86FF-E294-2998-001ADD2B2EB8}"/>
              </a:ext>
            </a:extLst>
          </p:cNvPr>
          <p:cNvSpPr txBox="1"/>
          <p:nvPr/>
        </p:nvSpPr>
        <p:spPr>
          <a:xfrm>
            <a:off x="6971532" y="4266795"/>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mildly agree</a:t>
            </a:r>
          </a:p>
        </p:txBody>
      </p:sp>
      <p:sp>
        <p:nvSpPr>
          <p:cNvPr id="18" name="TextBox 17">
            <a:extLst>
              <a:ext uri="{FF2B5EF4-FFF2-40B4-BE49-F238E27FC236}">
                <a16:creationId xmlns:a16="http://schemas.microsoft.com/office/drawing/2014/main" id="{1DEDBCA3-08DF-5659-8819-305050C94388}"/>
              </a:ext>
            </a:extLst>
          </p:cNvPr>
          <p:cNvSpPr txBox="1"/>
          <p:nvPr/>
        </p:nvSpPr>
        <p:spPr>
          <a:xfrm>
            <a:off x="4073656" y="4285204"/>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mildly disagree</a:t>
            </a:r>
          </a:p>
        </p:txBody>
      </p:sp>
      <p:sp>
        <p:nvSpPr>
          <p:cNvPr id="19" name="TextBox 18">
            <a:extLst>
              <a:ext uri="{FF2B5EF4-FFF2-40B4-BE49-F238E27FC236}">
                <a16:creationId xmlns:a16="http://schemas.microsoft.com/office/drawing/2014/main" id="{464532BC-A815-9FFA-E3EF-7E3B5CCB653F}"/>
              </a:ext>
            </a:extLst>
          </p:cNvPr>
          <p:cNvSpPr txBox="1"/>
          <p:nvPr/>
        </p:nvSpPr>
        <p:spPr>
          <a:xfrm>
            <a:off x="2605449" y="4423703"/>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disagree</a:t>
            </a:r>
          </a:p>
        </p:txBody>
      </p:sp>
      <p:cxnSp>
        <p:nvCxnSpPr>
          <p:cNvPr id="2" name="Straight Arrow Connector 1">
            <a:extLst>
              <a:ext uri="{FF2B5EF4-FFF2-40B4-BE49-F238E27FC236}">
                <a16:creationId xmlns:a16="http://schemas.microsoft.com/office/drawing/2014/main" id="{A99A0925-EE89-C12A-2ADE-8D5EB1639582}"/>
              </a:ext>
              <a:ext uri="{C183D7F6-B498-43B3-948B-1728B52AA6E4}">
                <adec:decorative xmlns:adec="http://schemas.microsoft.com/office/drawing/2017/decorative" val="1"/>
              </a:ext>
            </a:extLst>
          </p:cNvPr>
          <p:cNvCxnSpPr>
            <a:cxnSpLocks/>
          </p:cNvCxnSpPr>
          <p:nvPr/>
        </p:nvCxnSpPr>
        <p:spPr>
          <a:xfrm>
            <a:off x="6035505" y="5350741"/>
            <a:ext cx="4399739"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BBFCE7E-604A-0E8F-321A-8E05B539C3AB}"/>
              </a:ext>
              <a:ext uri="{C183D7F6-B498-43B3-948B-1728B52AA6E4}">
                <adec:decorative xmlns:adec="http://schemas.microsoft.com/office/drawing/2017/decorative" val="1"/>
              </a:ext>
            </a:extLst>
          </p:cNvPr>
          <p:cNvCxnSpPr>
            <a:cxnSpLocks/>
          </p:cNvCxnSpPr>
          <p:nvPr/>
        </p:nvCxnSpPr>
        <p:spPr>
          <a:xfrm>
            <a:off x="4396350" y="5928964"/>
            <a:ext cx="603889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DE31045-46A8-556A-31CA-B48E833581B6}"/>
              </a:ext>
            </a:extLst>
          </p:cNvPr>
          <p:cNvSpPr txBox="1"/>
          <p:nvPr/>
        </p:nvSpPr>
        <p:spPr>
          <a:xfrm>
            <a:off x="6394823" y="5742190"/>
            <a:ext cx="2460930" cy="369332"/>
          </a:xfrm>
          <a:prstGeom prst="rect">
            <a:avLst/>
          </a:prstGeom>
          <a:solidFill>
            <a:srgbClr val="185741"/>
          </a:solidFill>
        </p:spPr>
        <p:txBody>
          <a:bodyPr wrap="none" rtlCol="0">
            <a:spAutoFit/>
          </a:bodyPr>
          <a:lstStyle/>
          <a:p>
            <a:r>
              <a:rPr lang="en-CA" dirty="0">
                <a:solidFill>
                  <a:schemeClr val="accent4">
                    <a:lumMod val="20000"/>
                    <a:lumOff val="80000"/>
                  </a:schemeClr>
                </a:solidFill>
                <a:latin typeface="Arial Nova Light" panose="020B0304020202020204" pitchFamily="34" charset="0"/>
              </a:rPr>
              <a:t>Traditional course work</a:t>
            </a:r>
          </a:p>
        </p:txBody>
      </p:sp>
      <p:sp>
        <p:nvSpPr>
          <p:cNvPr id="22" name="TextBox 21">
            <a:extLst>
              <a:ext uri="{FF2B5EF4-FFF2-40B4-BE49-F238E27FC236}">
                <a16:creationId xmlns:a16="http://schemas.microsoft.com/office/drawing/2014/main" id="{BA8797B8-E1AD-69DF-2540-2F661115FE56}"/>
              </a:ext>
            </a:extLst>
          </p:cNvPr>
          <p:cNvSpPr txBox="1"/>
          <p:nvPr/>
        </p:nvSpPr>
        <p:spPr>
          <a:xfrm>
            <a:off x="7629428" y="5171247"/>
            <a:ext cx="1680140" cy="369332"/>
          </a:xfrm>
          <a:prstGeom prst="rect">
            <a:avLst/>
          </a:prstGeom>
          <a:solidFill>
            <a:srgbClr val="185741"/>
          </a:solidFill>
        </p:spPr>
        <p:txBody>
          <a:bodyPr wrap="none" rtlCol="0">
            <a:spAutoFit/>
          </a:bodyPr>
          <a:lstStyle/>
          <a:p>
            <a:r>
              <a:rPr lang="en-CA" dirty="0">
                <a:solidFill>
                  <a:schemeClr val="accent4">
                    <a:lumMod val="20000"/>
                    <a:lumOff val="80000"/>
                  </a:schemeClr>
                </a:solidFill>
                <a:latin typeface="Arial Nova Light" panose="020B0304020202020204" pitchFamily="34" charset="0"/>
              </a:rPr>
              <a:t>IP, CBR, Thesis</a:t>
            </a:r>
          </a:p>
        </p:txBody>
      </p:sp>
      <p:sp>
        <p:nvSpPr>
          <p:cNvPr id="24" name="Rectangle 23">
            <a:extLst>
              <a:ext uri="{FF2B5EF4-FFF2-40B4-BE49-F238E27FC236}">
                <a16:creationId xmlns:a16="http://schemas.microsoft.com/office/drawing/2014/main" id="{D399B5EA-7DDF-90C2-28B7-F10C7D6B165E}"/>
              </a:ext>
              <a:ext uri="{C183D7F6-B498-43B3-948B-1728B52AA6E4}">
                <adec:decorative xmlns:adec="http://schemas.microsoft.com/office/drawing/2017/decorative" val="1"/>
              </a:ext>
            </a:extLst>
          </p:cNvPr>
          <p:cNvSpPr/>
          <p:nvPr/>
        </p:nvSpPr>
        <p:spPr>
          <a:xfrm>
            <a:off x="824552" y="4931535"/>
            <a:ext cx="10312021" cy="1305492"/>
          </a:xfrm>
          <a:prstGeom prst="rect">
            <a:avLst/>
          </a:prstGeom>
          <a:solidFill>
            <a:srgbClr val="185741"/>
          </a:solidFill>
          <a:ln>
            <a:solidFill>
              <a:srgbClr val="1857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4109734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185741"/>
        </a:solidFill>
        <a:effectLst/>
      </p:bgPr>
    </p:bg>
    <p:spTree>
      <p:nvGrpSpPr>
        <p:cNvPr id="1" name="">
          <a:extLst>
            <a:ext uri="{FF2B5EF4-FFF2-40B4-BE49-F238E27FC236}">
              <a16:creationId xmlns:a16="http://schemas.microsoft.com/office/drawing/2014/main" id="{BF412969-E539-53C2-4C3F-609C283D700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16EF2A-9569-F2D5-1BA1-74E267907CE4}"/>
              </a:ext>
            </a:extLst>
          </p:cNvPr>
          <p:cNvSpPr>
            <a:spLocks noGrp="1"/>
          </p:cNvSpPr>
          <p:nvPr>
            <p:ph idx="1"/>
          </p:nvPr>
        </p:nvSpPr>
        <p:spPr>
          <a:xfrm>
            <a:off x="838200" y="864730"/>
            <a:ext cx="10515600" cy="3009846"/>
          </a:xfrm>
        </p:spPr>
        <p:txBody>
          <a:bodyPr>
            <a:normAutofit/>
          </a:bodyPr>
          <a:lstStyle/>
          <a:p>
            <a:pPr marL="0" indent="0" algn="ctr">
              <a:buNone/>
            </a:pPr>
            <a:endParaRPr lang="en-CA" sz="4400" dirty="0">
              <a:solidFill>
                <a:schemeClr val="accent1">
                  <a:lumMod val="40000"/>
                  <a:lumOff val="60000"/>
                </a:schemeClr>
              </a:solidFill>
            </a:endParaRPr>
          </a:p>
          <a:p>
            <a:pPr marL="0" indent="0" algn="ctr">
              <a:buNone/>
            </a:pPr>
            <a:r>
              <a:rPr lang="en-CA" sz="4400" dirty="0">
                <a:solidFill>
                  <a:schemeClr val="accent1">
                    <a:lumMod val="40000"/>
                    <a:lumOff val="60000"/>
                  </a:schemeClr>
                </a:solidFill>
              </a:rPr>
              <a:t>I prefer variety over singular activities.</a:t>
            </a:r>
            <a:endParaRPr lang="en-CA" sz="3200" dirty="0">
              <a:solidFill>
                <a:schemeClr val="accent1">
                  <a:lumMod val="40000"/>
                  <a:lumOff val="60000"/>
                </a:schemeClr>
              </a:solidFill>
            </a:endParaRPr>
          </a:p>
          <a:p>
            <a:endParaRPr lang="en-CA" sz="2400" dirty="0">
              <a:solidFill>
                <a:schemeClr val="accent1">
                  <a:lumMod val="40000"/>
                  <a:lumOff val="60000"/>
                </a:schemeClr>
              </a:solidFill>
              <a:latin typeface="Arial Nova Light" panose="020B0304020202020204" pitchFamily="34" charset="0"/>
            </a:endParaRPr>
          </a:p>
          <a:p>
            <a:pPr marL="0" indent="0">
              <a:buNone/>
            </a:pPr>
            <a:endParaRPr lang="en-CA" sz="2400" dirty="0">
              <a:solidFill>
                <a:schemeClr val="accent1">
                  <a:lumMod val="40000"/>
                  <a:lumOff val="60000"/>
                </a:schemeClr>
              </a:solidFill>
              <a:latin typeface="Arial Nova Light" panose="020B0304020202020204" pitchFamily="34" charset="0"/>
            </a:endParaRPr>
          </a:p>
          <a:p>
            <a:pPr marL="0" indent="0">
              <a:buNone/>
            </a:pPr>
            <a:endParaRPr lang="en-CA" sz="2000" dirty="0">
              <a:solidFill>
                <a:schemeClr val="accent1">
                  <a:lumMod val="40000"/>
                  <a:lumOff val="60000"/>
                </a:schemeClr>
              </a:solidFill>
              <a:latin typeface="Arial Nova Light" panose="020B0304020202020204" pitchFamily="34" charset="0"/>
            </a:endParaRPr>
          </a:p>
        </p:txBody>
      </p:sp>
      <p:sp>
        <p:nvSpPr>
          <p:cNvPr id="4" name="Oval 3">
            <a:extLst>
              <a:ext uri="{FF2B5EF4-FFF2-40B4-BE49-F238E27FC236}">
                <a16:creationId xmlns:a16="http://schemas.microsoft.com/office/drawing/2014/main" id="{DCCA404F-8ACE-8DEC-C61D-717A4CE5E424}"/>
              </a:ext>
              <a:ext uri="{C183D7F6-B498-43B3-948B-1728B52AA6E4}">
                <adec:decorative xmlns:adec="http://schemas.microsoft.com/office/drawing/2017/decorative" val="1"/>
              </a:ext>
            </a:extLst>
          </p:cNvPr>
          <p:cNvSpPr>
            <a:spLocks noChangeAspect="1"/>
          </p:cNvSpPr>
          <p:nvPr/>
        </p:nvSpPr>
        <p:spPr>
          <a:xfrm>
            <a:off x="1647920" y="3435587"/>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1F69EA97-4B7E-17AB-56CC-A14F52E2CE09}"/>
              </a:ext>
              <a:ext uri="{C183D7F6-B498-43B3-948B-1728B52AA6E4}">
                <adec:decorative xmlns:adec="http://schemas.microsoft.com/office/drawing/2017/decorative" val="1"/>
              </a:ext>
            </a:extLst>
          </p:cNvPr>
          <p:cNvSpPr>
            <a:spLocks noChangeAspect="1"/>
          </p:cNvSpPr>
          <p:nvPr/>
        </p:nvSpPr>
        <p:spPr>
          <a:xfrm>
            <a:off x="2960303"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2C1A302-73A0-D9CC-BB13-87A984F88EA4}"/>
              </a:ext>
              <a:ext uri="{C183D7F6-B498-43B3-948B-1728B52AA6E4}">
                <adec:decorative xmlns:adec="http://schemas.microsoft.com/office/drawing/2017/decorative" val="1"/>
              </a:ext>
            </a:extLst>
          </p:cNvPr>
          <p:cNvSpPr>
            <a:spLocks noChangeAspect="1"/>
          </p:cNvSpPr>
          <p:nvPr/>
        </p:nvSpPr>
        <p:spPr>
          <a:xfrm>
            <a:off x="4396350"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ADEB80A-5D38-0A40-BA68-83B3F6DE521D}"/>
              </a:ext>
              <a:ext uri="{C183D7F6-B498-43B3-948B-1728B52AA6E4}">
                <adec:decorative xmlns:adec="http://schemas.microsoft.com/office/drawing/2017/decorative" val="1"/>
              </a:ext>
            </a:extLst>
          </p:cNvPr>
          <p:cNvSpPr>
            <a:spLocks noChangeAspect="1"/>
          </p:cNvSpPr>
          <p:nvPr/>
        </p:nvSpPr>
        <p:spPr>
          <a:xfrm>
            <a:off x="5832397"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5D95B53-B305-93B0-1A6E-EF26C0D67AC7}"/>
              </a:ext>
              <a:ext uri="{C183D7F6-B498-43B3-948B-1728B52AA6E4}">
                <adec:decorative xmlns:adec="http://schemas.microsoft.com/office/drawing/2017/decorative" val="1"/>
              </a:ext>
            </a:extLst>
          </p:cNvPr>
          <p:cNvSpPr>
            <a:spLocks noChangeAspect="1"/>
          </p:cNvSpPr>
          <p:nvPr/>
        </p:nvSpPr>
        <p:spPr>
          <a:xfrm>
            <a:off x="7268444"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966E0B2-7010-4243-CA4A-0A99E9E9F096}"/>
              </a:ext>
              <a:ext uri="{C183D7F6-B498-43B3-948B-1728B52AA6E4}">
                <adec:decorative xmlns:adec="http://schemas.microsoft.com/office/drawing/2017/decorative" val="1"/>
              </a:ext>
            </a:extLst>
          </p:cNvPr>
          <p:cNvSpPr>
            <a:spLocks noChangeAspect="1"/>
          </p:cNvSpPr>
          <p:nvPr/>
        </p:nvSpPr>
        <p:spPr>
          <a:xfrm>
            <a:off x="8704491" y="3435587"/>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3E0688E-C97C-EA8C-15B5-C976DED1D3C9}"/>
              </a:ext>
              <a:ext uri="{C183D7F6-B498-43B3-948B-1728B52AA6E4}">
                <adec:decorative xmlns:adec="http://schemas.microsoft.com/office/drawing/2017/decorative" val="1"/>
              </a:ext>
            </a:extLst>
          </p:cNvPr>
          <p:cNvSpPr>
            <a:spLocks noChangeAspect="1"/>
          </p:cNvSpPr>
          <p:nvPr/>
        </p:nvSpPr>
        <p:spPr>
          <a:xfrm>
            <a:off x="10140538"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BFEDF93-6AF4-B567-5AEF-77320D065800}"/>
              </a:ext>
            </a:extLst>
          </p:cNvPr>
          <p:cNvSpPr txBox="1"/>
          <p:nvPr/>
        </p:nvSpPr>
        <p:spPr>
          <a:xfrm>
            <a:off x="5563827" y="4405295"/>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neutral</a:t>
            </a:r>
          </a:p>
        </p:txBody>
      </p:sp>
      <p:sp>
        <p:nvSpPr>
          <p:cNvPr id="14" name="TextBox 13">
            <a:extLst>
              <a:ext uri="{FF2B5EF4-FFF2-40B4-BE49-F238E27FC236}">
                <a16:creationId xmlns:a16="http://schemas.microsoft.com/office/drawing/2014/main" id="{54EEC546-FE37-F6C9-A7F2-158946F58D2D}"/>
              </a:ext>
            </a:extLst>
          </p:cNvPr>
          <p:cNvSpPr txBox="1"/>
          <p:nvPr/>
        </p:nvSpPr>
        <p:spPr>
          <a:xfrm>
            <a:off x="1369424" y="4287727"/>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strongly disagree</a:t>
            </a:r>
          </a:p>
        </p:txBody>
      </p:sp>
      <p:sp>
        <p:nvSpPr>
          <p:cNvPr id="15" name="TextBox 14">
            <a:extLst>
              <a:ext uri="{FF2B5EF4-FFF2-40B4-BE49-F238E27FC236}">
                <a16:creationId xmlns:a16="http://schemas.microsoft.com/office/drawing/2014/main" id="{492035D9-6074-4D78-706D-159C1E261E1E}"/>
              </a:ext>
            </a:extLst>
          </p:cNvPr>
          <p:cNvSpPr txBox="1"/>
          <p:nvPr/>
        </p:nvSpPr>
        <p:spPr>
          <a:xfrm>
            <a:off x="9877203" y="4266795"/>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strongly agree</a:t>
            </a:r>
          </a:p>
        </p:txBody>
      </p:sp>
      <p:sp>
        <p:nvSpPr>
          <p:cNvPr id="16" name="TextBox 15">
            <a:extLst>
              <a:ext uri="{FF2B5EF4-FFF2-40B4-BE49-F238E27FC236}">
                <a16:creationId xmlns:a16="http://schemas.microsoft.com/office/drawing/2014/main" id="{8D657657-E45C-2891-F44A-9D44E686A81F}"/>
              </a:ext>
            </a:extLst>
          </p:cNvPr>
          <p:cNvSpPr txBox="1"/>
          <p:nvPr/>
        </p:nvSpPr>
        <p:spPr>
          <a:xfrm>
            <a:off x="8469498" y="4388543"/>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agree</a:t>
            </a:r>
          </a:p>
        </p:txBody>
      </p:sp>
      <p:sp>
        <p:nvSpPr>
          <p:cNvPr id="17" name="TextBox 16">
            <a:extLst>
              <a:ext uri="{FF2B5EF4-FFF2-40B4-BE49-F238E27FC236}">
                <a16:creationId xmlns:a16="http://schemas.microsoft.com/office/drawing/2014/main" id="{390A4AA9-E6DD-0316-050B-D26115330DB4}"/>
              </a:ext>
            </a:extLst>
          </p:cNvPr>
          <p:cNvSpPr txBox="1"/>
          <p:nvPr/>
        </p:nvSpPr>
        <p:spPr>
          <a:xfrm>
            <a:off x="6971532" y="4266795"/>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mildly agree</a:t>
            </a:r>
          </a:p>
        </p:txBody>
      </p:sp>
      <p:sp>
        <p:nvSpPr>
          <p:cNvPr id="18" name="TextBox 17">
            <a:extLst>
              <a:ext uri="{FF2B5EF4-FFF2-40B4-BE49-F238E27FC236}">
                <a16:creationId xmlns:a16="http://schemas.microsoft.com/office/drawing/2014/main" id="{FB912F12-92B6-3680-E27D-F6E783A2A61F}"/>
              </a:ext>
            </a:extLst>
          </p:cNvPr>
          <p:cNvSpPr txBox="1"/>
          <p:nvPr/>
        </p:nvSpPr>
        <p:spPr>
          <a:xfrm>
            <a:off x="4073656" y="4285204"/>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mildly disagree</a:t>
            </a:r>
          </a:p>
        </p:txBody>
      </p:sp>
      <p:sp>
        <p:nvSpPr>
          <p:cNvPr id="19" name="TextBox 18">
            <a:extLst>
              <a:ext uri="{FF2B5EF4-FFF2-40B4-BE49-F238E27FC236}">
                <a16:creationId xmlns:a16="http://schemas.microsoft.com/office/drawing/2014/main" id="{E55D0DD0-8784-BBFA-6C54-60559B08521D}"/>
              </a:ext>
            </a:extLst>
          </p:cNvPr>
          <p:cNvSpPr txBox="1"/>
          <p:nvPr/>
        </p:nvSpPr>
        <p:spPr>
          <a:xfrm>
            <a:off x="2605449" y="4423703"/>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disagree</a:t>
            </a:r>
          </a:p>
        </p:txBody>
      </p:sp>
      <p:cxnSp>
        <p:nvCxnSpPr>
          <p:cNvPr id="2" name="Straight Arrow Connector 1">
            <a:extLst>
              <a:ext uri="{FF2B5EF4-FFF2-40B4-BE49-F238E27FC236}">
                <a16:creationId xmlns:a16="http://schemas.microsoft.com/office/drawing/2014/main" id="{F95175E3-3E50-9170-6142-9BF833F4C70D}"/>
              </a:ext>
              <a:ext uri="{C183D7F6-B498-43B3-948B-1728B52AA6E4}">
                <adec:decorative xmlns:adec="http://schemas.microsoft.com/office/drawing/2017/decorative" val="1"/>
              </a:ext>
            </a:extLst>
          </p:cNvPr>
          <p:cNvCxnSpPr>
            <a:cxnSpLocks/>
          </p:cNvCxnSpPr>
          <p:nvPr/>
        </p:nvCxnSpPr>
        <p:spPr>
          <a:xfrm>
            <a:off x="1945100" y="5340546"/>
            <a:ext cx="8464276" cy="1425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1CD11B8-134E-A4AF-D73E-665FDA77F935}"/>
              </a:ext>
              <a:ext uri="{C183D7F6-B498-43B3-948B-1728B52AA6E4}">
                <adec:decorative xmlns:adec="http://schemas.microsoft.com/office/drawing/2017/decorative" val="1"/>
              </a:ext>
            </a:extLst>
          </p:cNvPr>
          <p:cNvCxnSpPr>
            <a:cxnSpLocks/>
          </p:cNvCxnSpPr>
          <p:nvPr/>
        </p:nvCxnSpPr>
        <p:spPr>
          <a:xfrm flipV="1">
            <a:off x="1945100" y="5928964"/>
            <a:ext cx="8490144" cy="1704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4925CE5-5826-9D2A-0F5F-A62E85F3946F}"/>
              </a:ext>
            </a:extLst>
          </p:cNvPr>
          <p:cNvSpPr txBox="1"/>
          <p:nvPr/>
        </p:nvSpPr>
        <p:spPr>
          <a:xfrm>
            <a:off x="5042775" y="5733582"/>
            <a:ext cx="2460930" cy="369332"/>
          </a:xfrm>
          <a:prstGeom prst="rect">
            <a:avLst/>
          </a:prstGeom>
          <a:solidFill>
            <a:srgbClr val="185741"/>
          </a:solidFill>
        </p:spPr>
        <p:txBody>
          <a:bodyPr wrap="none" rtlCol="0">
            <a:spAutoFit/>
          </a:bodyPr>
          <a:lstStyle/>
          <a:p>
            <a:r>
              <a:rPr lang="en-CA" dirty="0">
                <a:solidFill>
                  <a:schemeClr val="accent4">
                    <a:lumMod val="20000"/>
                    <a:lumOff val="80000"/>
                  </a:schemeClr>
                </a:solidFill>
                <a:latin typeface="Arial Nova Light" panose="020B0304020202020204" pitchFamily="34" charset="0"/>
              </a:rPr>
              <a:t>Traditional course work</a:t>
            </a:r>
          </a:p>
        </p:txBody>
      </p:sp>
      <p:sp>
        <p:nvSpPr>
          <p:cNvPr id="22" name="TextBox 21">
            <a:extLst>
              <a:ext uri="{FF2B5EF4-FFF2-40B4-BE49-F238E27FC236}">
                <a16:creationId xmlns:a16="http://schemas.microsoft.com/office/drawing/2014/main" id="{C07CC72F-467F-6D16-AE95-072B9E11C687}"/>
              </a:ext>
            </a:extLst>
          </p:cNvPr>
          <p:cNvSpPr txBox="1"/>
          <p:nvPr/>
        </p:nvSpPr>
        <p:spPr>
          <a:xfrm>
            <a:off x="3765759" y="5184971"/>
            <a:ext cx="1680140" cy="369332"/>
          </a:xfrm>
          <a:prstGeom prst="rect">
            <a:avLst/>
          </a:prstGeom>
          <a:solidFill>
            <a:srgbClr val="185741"/>
          </a:solidFill>
        </p:spPr>
        <p:txBody>
          <a:bodyPr wrap="none" rtlCol="0">
            <a:spAutoFit/>
          </a:bodyPr>
          <a:lstStyle/>
          <a:p>
            <a:r>
              <a:rPr lang="en-CA" dirty="0">
                <a:solidFill>
                  <a:schemeClr val="accent4">
                    <a:lumMod val="20000"/>
                    <a:lumOff val="80000"/>
                  </a:schemeClr>
                </a:solidFill>
                <a:latin typeface="Arial Nova Light" panose="020B0304020202020204" pitchFamily="34" charset="0"/>
              </a:rPr>
              <a:t>IP, CBR, Thesis</a:t>
            </a:r>
          </a:p>
        </p:txBody>
      </p:sp>
      <p:sp>
        <p:nvSpPr>
          <p:cNvPr id="29" name="Rectangle 28">
            <a:extLst>
              <a:ext uri="{FF2B5EF4-FFF2-40B4-BE49-F238E27FC236}">
                <a16:creationId xmlns:a16="http://schemas.microsoft.com/office/drawing/2014/main" id="{AB1AC5D7-44A7-4122-FD80-91B9EE496D2E}"/>
              </a:ext>
              <a:ext uri="{C183D7F6-B498-43B3-948B-1728B52AA6E4}">
                <adec:decorative xmlns:adec="http://schemas.microsoft.com/office/drawing/2017/decorative" val="1"/>
              </a:ext>
            </a:extLst>
          </p:cNvPr>
          <p:cNvSpPr/>
          <p:nvPr/>
        </p:nvSpPr>
        <p:spPr>
          <a:xfrm>
            <a:off x="824552" y="4931535"/>
            <a:ext cx="10312021" cy="1305492"/>
          </a:xfrm>
          <a:prstGeom prst="rect">
            <a:avLst/>
          </a:prstGeom>
          <a:solidFill>
            <a:srgbClr val="185741"/>
          </a:solidFill>
          <a:ln>
            <a:solidFill>
              <a:srgbClr val="1857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442076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185741"/>
        </a:solidFill>
        <a:effectLst/>
      </p:bgPr>
    </p:bg>
    <p:spTree>
      <p:nvGrpSpPr>
        <p:cNvPr id="1" name="">
          <a:extLst>
            <a:ext uri="{FF2B5EF4-FFF2-40B4-BE49-F238E27FC236}">
              <a16:creationId xmlns:a16="http://schemas.microsoft.com/office/drawing/2014/main" id="{763FDD63-2584-F402-DA36-054B8BE9F99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511FA3-101B-0883-0AD1-FC7CB6D88414}"/>
              </a:ext>
            </a:extLst>
          </p:cNvPr>
          <p:cNvSpPr>
            <a:spLocks noGrp="1"/>
          </p:cNvSpPr>
          <p:nvPr>
            <p:ph idx="1"/>
          </p:nvPr>
        </p:nvSpPr>
        <p:spPr>
          <a:xfrm>
            <a:off x="838200" y="864730"/>
            <a:ext cx="10515600" cy="3009846"/>
          </a:xfrm>
        </p:spPr>
        <p:txBody>
          <a:bodyPr>
            <a:normAutofit/>
          </a:bodyPr>
          <a:lstStyle/>
          <a:p>
            <a:pPr marL="0" indent="0" algn="ctr">
              <a:buNone/>
            </a:pPr>
            <a:endParaRPr lang="en-CA" sz="4400" dirty="0">
              <a:solidFill>
                <a:schemeClr val="accent1">
                  <a:lumMod val="40000"/>
                  <a:lumOff val="60000"/>
                </a:schemeClr>
              </a:solidFill>
            </a:endParaRPr>
          </a:p>
          <a:p>
            <a:pPr marL="0" indent="0" algn="ctr">
              <a:buNone/>
            </a:pPr>
            <a:r>
              <a:rPr lang="en-CA" sz="4400" dirty="0">
                <a:solidFill>
                  <a:schemeClr val="accent1">
                    <a:lumMod val="40000"/>
                    <a:lumOff val="60000"/>
                  </a:schemeClr>
                </a:solidFill>
              </a:rPr>
              <a:t>I prefer predictability over uncertainty.</a:t>
            </a:r>
            <a:endParaRPr lang="en-CA" sz="3200" dirty="0">
              <a:solidFill>
                <a:schemeClr val="accent1">
                  <a:lumMod val="40000"/>
                  <a:lumOff val="60000"/>
                </a:schemeClr>
              </a:solidFill>
            </a:endParaRPr>
          </a:p>
          <a:p>
            <a:endParaRPr lang="en-CA" sz="2400" dirty="0">
              <a:solidFill>
                <a:schemeClr val="accent1">
                  <a:lumMod val="40000"/>
                  <a:lumOff val="60000"/>
                </a:schemeClr>
              </a:solidFill>
              <a:latin typeface="Arial Nova Light" panose="020B0304020202020204" pitchFamily="34" charset="0"/>
            </a:endParaRPr>
          </a:p>
          <a:p>
            <a:pPr marL="0" indent="0">
              <a:buNone/>
            </a:pPr>
            <a:endParaRPr lang="en-CA" sz="2400" dirty="0">
              <a:solidFill>
                <a:schemeClr val="accent1">
                  <a:lumMod val="40000"/>
                  <a:lumOff val="60000"/>
                </a:schemeClr>
              </a:solidFill>
              <a:latin typeface="Arial Nova Light" panose="020B0304020202020204" pitchFamily="34" charset="0"/>
            </a:endParaRPr>
          </a:p>
          <a:p>
            <a:pPr marL="0" indent="0">
              <a:buNone/>
            </a:pPr>
            <a:endParaRPr lang="en-CA" sz="2000" dirty="0">
              <a:solidFill>
                <a:schemeClr val="accent1">
                  <a:lumMod val="40000"/>
                  <a:lumOff val="60000"/>
                </a:schemeClr>
              </a:solidFill>
              <a:latin typeface="Arial Nova Light" panose="020B0304020202020204" pitchFamily="34" charset="0"/>
            </a:endParaRPr>
          </a:p>
        </p:txBody>
      </p:sp>
      <p:sp>
        <p:nvSpPr>
          <p:cNvPr id="4" name="Oval 3">
            <a:extLst>
              <a:ext uri="{FF2B5EF4-FFF2-40B4-BE49-F238E27FC236}">
                <a16:creationId xmlns:a16="http://schemas.microsoft.com/office/drawing/2014/main" id="{F8A79119-E7C0-7ABC-900C-F385606D1DF2}"/>
              </a:ext>
              <a:ext uri="{C183D7F6-B498-43B3-948B-1728B52AA6E4}">
                <adec:decorative xmlns:adec="http://schemas.microsoft.com/office/drawing/2017/decorative" val="1"/>
              </a:ext>
            </a:extLst>
          </p:cNvPr>
          <p:cNvSpPr>
            <a:spLocks noChangeAspect="1"/>
          </p:cNvSpPr>
          <p:nvPr/>
        </p:nvSpPr>
        <p:spPr>
          <a:xfrm>
            <a:off x="1647920" y="3435587"/>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B9EDA307-A501-BF4A-5A31-8AEEE492826A}"/>
              </a:ext>
              <a:ext uri="{C183D7F6-B498-43B3-948B-1728B52AA6E4}">
                <adec:decorative xmlns:adec="http://schemas.microsoft.com/office/drawing/2017/decorative" val="1"/>
              </a:ext>
            </a:extLst>
          </p:cNvPr>
          <p:cNvSpPr>
            <a:spLocks noChangeAspect="1"/>
          </p:cNvSpPr>
          <p:nvPr/>
        </p:nvSpPr>
        <p:spPr>
          <a:xfrm>
            <a:off x="2960303"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0BF475C-744F-99B9-8EEB-5B3F37C728C0}"/>
              </a:ext>
              <a:ext uri="{C183D7F6-B498-43B3-948B-1728B52AA6E4}">
                <adec:decorative xmlns:adec="http://schemas.microsoft.com/office/drawing/2017/decorative" val="1"/>
              </a:ext>
            </a:extLst>
          </p:cNvPr>
          <p:cNvSpPr>
            <a:spLocks noChangeAspect="1"/>
          </p:cNvSpPr>
          <p:nvPr/>
        </p:nvSpPr>
        <p:spPr>
          <a:xfrm>
            <a:off x="4396350"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46E36C4-2F31-1CD8-2530-B1689DAA0983}"/>
              </a:ext>
              <a:ext uri="{C183D7F6-B498-43B3-948B-1728B52AA6E4}">
                <adec:decorative xmlns:adec="http://schemas.microsoft.com/office/drawing/2017/decorative" val="1"/>
              </a:ext>
            </a:extLst>
          </p:cNvPr>
          <p:cNvSpPr>
            <a:spLocks noChangeAspect="1"/>
          </p:cNvSpPr>
          <p:nvPr/>
        </p:nvSpPr>
        <p:spPr>
          <a:xfrm>
            <a:off x="5832397"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A3205EF-E187-5FDC-8350-CFDB6C51248E}"/>
              </a:ext>
              <a:ext uri="{C183D7F6-B498-43B3-948B-1728B52AA6E4}">
                <adec:decorative xmlns:adec="http://schemas.microsoft.com/office/drawing/2017/decorative" val="1"/>
              </a:ext>
            </a:extLst>
          </p:cNvPr>
          <p:cNvSpPr>
            <a:spLocks noChangeAspect="1"/>
          </p:cNvSpPr>
          <p:nvPr/>
        </p:nvSpPr>
        <p:spPr>
          <a:xfrm>
            <a:off x="7268444"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1039153-04D7-03A9-9987-07257C519654}"/>
              </a:ext>
              <a:ext uri="{C183D7F6-B498-43B3-948B-1728B52AA6E4}">
                <adec:decorative xmlns:adec="http://schemas.microsoft.com/office/drawing/2017/decorative" val="1"/>
              </a:ext>
            </a:extLst>
          </p:cNvPr>
          <p:cNvSpPr>
            <a:spLocks noChangeAspect="1"/>
          </p:cNvSpPr>
          <p:nvPr/>
        </p:nvSpPr>
        <p:spPr>
          <a:xfrm>
            <a:off x="8704491" y="3435587"/>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8C0602F-B4DA-970B-C4D3-F57CFB5AF124}"/>
              </a:ext>
              <a:ext uri="{C183D7F6-B498-43B3-948B-1728B52AA6E4}">
                <adec:decorative xmlns:adec="http://schemas.microsoft.com/office/drawing/2017/decorative" val="1"/>
              </a:ext>
            </a:extLst>
          </p:cNvPr>
          <p:cNvSpPr>
            <a:spLocks noChangeAspect="1"/>
          </p:cNvSpPr>
          <p:nvPr/>
        </p:nvSpPr>
        <p:spPr>
          <a:xfrm>
            <a:off x="10140538"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CB36937-DFC7-90BE-C7BF-32241FB1B790}"/>
              </a:ext>
            </a:extLst>
          </p:cNvPr>
          <p:cNvSpPr txBox="1"/>
          <p:nvPr/>
        </p:nvSpPr>
        <p:spPr>
          <a:xfrm>
            <a:off x="5563827" y="4405295"/>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neutral</a:t>
            </a:r>
          </a:p>
        </p:txBody>
      </p:sp>
      <p:sp>
        <p:nvSpPr>
          <p:cNvPr id="14" name="TextBox 13">
            <a:extLst>
              <a:ext uri="{FF2B5EF4-FFF2-40B4-BE49-F238E27FC236}">
                <a16:creationId xmlns:a16="http://schemas.microsoft.com/office/drawing/2014/main" id="{114BD1F1-9C71-8AB8-CE8A-3892C1B12121}"/>
              </a:ext>
            </a:extLst>
          </p:cNvPr>
          <p:cNvSpPr txBox="1"/>
          <p:nvPr/>
        </p:nvSpPr>
        <p:spPr>
          <a:xfrm>
            <a:off x="1369424" y="4287727"/>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strongly disagree</a:t>
            </a:r>
          </a:p>
        </p:txBody>
      </p:sp>
      <p:sp>
        <p:nvSpPr>
          <p:cNvPr id="15" name="TextBox 14">
            <a:extLst>
              <a:ext uri="{FF2B5EF4-FFF2-40B4-BE49-F238E27FC236}">
                <a16:creationId xmlns:a16="http://schemas.microsoft.com/office/drawing/2014/main" id="{8C280847-04BE-197A-58E9-BD0A4EFC3558}"/>
              </a:ext>
            </a:extLst>
          </p:cNvPr>
          <p:cNvSpPr txBox="1"/>
          <p:nvPr/>
        </p:nvSpPr>
        <p:spPr>
          <a:xfrm>
            <a:off x="9877203" y="4266795"/>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strongly agree</a:t>
            </a:r>
          </a:p>
        </p:txBody>
      </p:sp>
      <p:sp>
        <p:nvSpPr>
          <p:cNvPr id="16" name="TextBox 15">
            <a:extLst>
              <a:ext uri="{FF2B5EF4-FFF2-40B4-BE49-F238E27FC236}">
                <a16:creationId xmlns:a16="http://schemas.microsoft.com/office/drawing/2014/main" id="{3ABA3F21-29BA-356B-60F8-502140F112F0}"/>
              </a:ext>
            </a:extLst>
          </p:cNvPr>
          <p:cNvSpPr txBox="1"/>
          <p:nvPr/>
        </p:nvSpPr>
        <p:spPr>
          <a:xfrm>
            <a:off x="8469498" y="4388543"/>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agree</a:t>
            </a:r>
          </a:p>
        </p:txBody>
      </p:sp>
      <p:sp>
        <p:nvSpPr>
          <p:cNvPr id="17" name="TextBox 16">
            <a:extLst>
              <a:ext uri="{FF2B5EF4-FFF2-40B4-BE49-F238E27FC236}">
                <a16:creationId xmlns:a16="http://schemas.microsoft.com/office/drawing/2014/main" id="{67E60245-50D2-8C0E-581E-168A5784B3D8}"/>
              </a:ext>
            </a:extLst>
          </p:cNvPr>
          <p:cNvSpPr txBox="1"/>
          <p:nvPr/>
        </p:nvSpPr>
        <p:spPr>
          <a:xfrm>
            <a:off x="6971532" y="4266795"/>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mildly agree</a:t>
            </a:r>
          </a:p>
        </p:txBody>
      </p:sp>
      <p:sp>
        <p:nvSpPr>
          <p:cNvPr id="18" name="TextBox 17">
            <a:extLst>
              <a:ext uri="{FF2B5EF4-FFF2-40B4-BE49-F238E27FC236}">
                <a16:creationId xmlns:a16="http://schemas.microsoft.com/office/drawing/2014/main" id="{6CDCA3AC-C721-0BB6-FA1D-6C711609286A}"/>
              </a:ext>
            </a:extLst>
          </p:cNvPr>
          <p:cNvSpPr txBox="1"/>
          <p:nvPr/>
        </p:nvSpPr>
        <p:spPr>
          <a:xfrm>
            <a:off x="4073656" y="4285204"/>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mildly disagree</a:t>
            </a:r>
          </a:p>
        </p:txBody>
      </p:sp>
      <p:sp>
        <p:nvSpPr>
          <p:cNvPr id="19" name="TextBox 18">
            <a:extLst>
              <a:ext uri="{FF2B5EF4-FFF2-40B4-BE49-F238E27FC236}">
                <a16:creationId xmlns:a16="http://schemas.microsoft.com/office/drawing/2014/main" id="{9B1EDF59-3721-DA1F-E6D3-9720ABC99D37}"/>
              </a:ext>
            </a:extLst>
          </p:cNvPr>
          <p:cNvSpPr txBox="1"/>
          <p:nvPr/>
        </p:nvSpPr>
        <p:spPr>
          <a:xfrm>
            <a:off x="2605449" y="4423703"/>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disagree</a:t>
            </a:r>
          </a:p>
        </p:txBody>
      </p:sp>
      <p:cxnSp>
        <p:nvCxnSpPr>
          <p:cNvPr id="20" name="Straight Arrow Connector 19">
            <a:extLst>
              <a:ext uri="{FF2B5EF4-FFF2-40B4-BE49-F238E27FC236}">
                <a16:creationId xmlns:a16="http://schemas.microsoft.com/office/drawing/2014/main" id="{5A1E4C62-1261-95FB-0E69-92986165FF19}"/>
              </a:ext>
              <a:ext uri="{C183D7F6-B498-43B3-948B-1728B52AA6E4}">
                <adec:decorative xmlns:adec="http://schemas.microsoft.com/office/drawing/2017/decorative" val="1"/>
              </a:ext>
            </a:extLst>
          </p:cNvPr>
          <p:cNvCxnSpPr>
            <a:cxnSpLocks/>
          </p:cNvCxnSpPr>
          <p:nvPr/>
        </p:nvCxnSpPr>
        <p:spPr>
          <a:xfrm>
            <a:off x="7418070" y="5921171"/>
            <a:ext cx="301964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E05703C-606F-037E-F587-D6DFF0F3B345}"/>
              </a:ext>
            </a:extLst>
          </p:cNvPr>
          <p:cNvSpPr txBox="1"/>
          <p:nvPr/>
        </p:nvSpPr>
        <p:spPr>
          <a:xfrm>
            <a:off x="7701217" y="5724800"/>
            <a:ext cx="2439321" cy="369332"/>
          </a:xfrm>
          <a:prstGeom prst="rect">
            <a:avLst/>
          </a:prstGeom>
          <a:solidFill>
            <a:srgbClr val="185741"/>
          </a:solidFill>
        </p:spPr>
        <p:txBody>
          <a:bodyPr wrap="square" rtlCol="0">
            <a:spAutoFit/>
          </a:bodyPr>
          <a:lstStyle/>
          <a:p>
            <a:pPr algn="ctr"/>
            <a:r>
              <a:rPr lang="en-CA" dirty="0">
                <a:solidFill>
                  <a:schemeClr val="accent4">
                    <a:lumMod val="20000"/>
                    <a:lumOff val="80000"/>
                  </a:schemeClr>
                </a:solidFill>
                <a:latin typeface="Arial Nova Light" panose="020B0304020202020204" pitchFamily="34" charset="0"/>
              </a:rPr>
              <a:t>Traditional course work</a:t>
            </a:r>
          </a:p>
        </p:txBody>
      </p:sp>
      <p:cxnSp>
        <p:nvCxnSpPr>
          <p:cNvPr id="31" name="Straight Arrow Connector 30">
            <a:extLst>
              <a:ext uri="{FF2B5EF4-FFF2-40B4-BE49-F238E27FC236}">
                <a16:creationId xmlns:a16="http://schemas.microsoft.com/office/drawing/2014/main" id="{1B8E68D8-F35B-75B9-072E-25D3E1B03205}"/>
              </a:ext>
              <a:ext uri="{C183D7F6-B498-43B3-948B-1728B52AA6E4}">
                <adec:decorative xmlns:adec="http://schemas.microsoft.com/office/drawing/2017/decorative" val="1"/>
              </a:ext>
            </a:extLst>
          </p:cNvPr>
          <p:cNvCxnSpPr>
            <a:cxnSpLocks/>
          </p:cNvCxnSpPr>
          <p:nvPr/>
        </p:nvCxnSpPr>
        <p:spPr>
          <a:xfrm>
            <a:off x="1699405" y="5450323"/>
            <a:ext cx="873831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F73534D-D5BF-1468-EB98-2FD5C5E69D1D}"/>
              </a:ext>
            </a:extLst>
          </p:cNvPr>
          <p:cNvSpPr txBox="1"/>
          <p:nvPr/>
        </p:nvSpPr>
        <p:spPr>
          <a:xfrm>
            <a:off x="5226990" y="5233769"/>
            <a:ext cx="1805174" cy="369332"/>
          </a:xfrm>
          <a:prstGeom prst="rect">
            <a:avLst/>
          </a:prstGeom>
          <a:solidFill>
            <a:srgbClr val="185741"/>
          </a:solidFill>
        </p:spPr>
        <p:txBody>
          <a:bodyPr wrap="none" rtlCol="0">
            <a:spAutoFit/>
          </a:bodyPr>
          <a:lstStyle/>
          <a:p>
            <a:r>
              <a:rPr lang="en-CA" dirty="0">
                <a:solidFill>
                  <a:schemeClr val="accent4">
                    <a:lumMod val="20000"/>
                    <a:lumOff val="80000"/>
                  </a:schemeClr>
                </a:solidFill>
                <a:latin typeface="Arial Nova Light" panose="020B0304020202020204" pitchFamily="34" charset="0"/>
              </a:rPr>
              <a:t>IP,  CBR, Thesis</a:t>
            </a:r>
          </a:p>
        </p:txBody>
      </p:sp>
      <p:sp>
        <p:nvSpPr>
          <p:cNvPr id="33" name="Rectangle 32">
            <a:extLst>
              <a:ext uri="{FF2B5EF4-FFF2-40B4-BE49-F238E27FC236}">
                <a16:creationId xmlns:a16="http://schemas.microsoft.com/office/drawing/2014/main" id="{7F5DC9C3-FF4C-03F4-653A-B799FA5830B3}"/>
              </a:ext>
              <a:ext uri="{C183D7F6-B498-43B3-948B-1728B52AA6E4}">
                <adec:decorative xmlns:adec="http://schemas.microsoft.com/office/drawing/2017/decorative" val="1"/>
              </a:ext>
            </a:extLst>
          </p:cNvPr>
          <p:cNvSpPr/>
          <p:nvPr/>
        </p:nvSpPr>
        <p:spPr>
          <a:xfrm>
            <a:off x="824552" y="4931535"/>
            <a:ext cx="10312021" cy="1305492"/>
          </a:xfrm>
          <a:prstGeom prst="rect">
            <a:avLst/>
          </a:prstGeom>
          <a:solidFill>
            <a:srgbClr val="185741"/>
          </a:solidFill>
          <a:ln>
            <a:solidFill>
              <a:srgbClr val="1857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46294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185741"/>
        </a:solidFill>
        <a:effectLst/>
      </p:bgPr>
    </p:bg>
    <p:spTree>
      <p:nvGrpSpPr>
        <p:cNvPr id="1" name="">
          <a:extLst>
            <a:ext uri="{FF2B5EF4-FFF2-40B4-BE49-F238E27FC236}">
              <a16:creationId xmlns:a16="http://schemas.microsoft.com/office/drawing/2014/main" id="{0FFC45D0-7F3F-B8EB-C634-5BB129AF29D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8B39A9-DB16-9A34-93D1-EB30E49E3CC6}"/>
              </a:ext>
            </a:extLst>
          </p:cNvPr>
          <p:cNvSpPr>
            <a:spLocks noGrp="1"/>
          </p:cNvSpPr>
          <p:nvPr>
            <p:ph idx="1"/>
          </p:nvPr>
        </p:nvSpPr>
        <p:spPr>
          <a:xfrm>
            <a:off x="838200" y="864730"/>
            <a:ext cx="10515600" cy="3009846"/>
          </a:xfrm>
        </p:spPr>
        <p:txBody>
          <a:bodyPr>
            <a:normAutofit/>
          </a:bodyPr>
          <a:lstStyle/>
          <a:p>
            <a:pPr marL="0" indent="0" algn="ctr">
              <a:buNone/>
            </a:pPr>
            <a:endParaRPr lang="en-CA" sz="4400" dirty="0">
              <a:solidFill>
                <a:schemeClr val="accent1">
                  <a:lumMod val="40000"/>
                  <a:lumOff val="60000"/>
                </a:schemeClr>
              </a:solidFill>
            </a:endParaRPr>
          </a:p>
          <a:p>
            <a:pPr marL="0" indent="0" algn="ctr">
              <a:buNone/>
            </a:pPr>
            <a:r>
              <a:rPr lang="en-CA" sz="4400" dirty="0">
                <a:solidFill>
                  <a:schemeClr val="accent1">
                    <a:lumMod val="40000"/>
                    <a:lumOff val="60000"/>
                  </a:schemeClr>
                </a:solidFill>
              </a:rPr>
              <a:t>Efficiency is very important to me.</a:t>
            </a:r>
            <a:endParaRPr lang="en-CA" sz="3200" dirty="0">
              <a:solidFill>
                <a:schemeClr val="accent1">
                  <a:lumMod val="40000"/>
                  <a:lumOff val="60000"/>
                </a:schemeClr>
              </a:solidFill>
            </a:endParaRPr>
          </a:p>
          <a:p>
            <a:endParaRPr lang="en-CA" sz="2400" dirty="0">
              <a:solidFill>
                <a:schemeClr val="accent1">
                  <a:lumMod val="40000"/>
                  <a:lumOff val="60000"/>
                </a:schemeClr>
              </a:solidFill>
              <a:latin typeface="Arial Nova Light" panose="020B0304020202020204" pitchFamily="34" charset="0"/>
            </a:endParaRPr>
          </a:p>
          <a:p>
            <a:pPr marL="0" indent="0">
              <a:buNone/>
            </a:pPr>
            <a:endParaRPr lang="en-CA" sz="2400" dirty="0">
              <a:solidFill>
                <a:schemeClr val="accent1">
                  <a:lumMod val="40000"/>
                  <a:lumOff val="60000"/>
                </a:schemeClr>
              </a:solidFill>
              <a:latin typeface="Arial Nova Light" panose="020B0304020202020204" pitchFamily="34" charset="0"/>
            </a:endParaRPr>
          </a:p>
          <a:p>
            <a:pPr marL="0" indent="0">
              <a:buNone/>
            </a:pPr>
            <a:endParaRPr lang="en-CA" sz="2000" dirty="0">
              <a:solidFill>
                <a:schemeClr val="accent1">
                  <a:lumMod val="40000"/>
                  <a:lumOff val="60000"/>
                </a:schemeClr>
              </a:solidFill>
              <a:latin typeface="Arial Nova Light" panose="020B0304020202020204" pitchFamily="34" charset="0"/>
            </a:endParaRPr>
          </a:p>
        </p:txBody>
      </p:sp>
      <p:sp>
        <p:nvSpPr>
          <p:cNvPr id="4" name="Oval 3">
            <a:extLst>
              <a:ext uri="{FF2B5EF4-FFF2-40B4-BE49-F238E27FC236}">
                <a16:creationId xmlns:a16="http://schemas.microsoft.com/office/drawing/2014/main" id="{958B45AA-9A12-9294-083E-675D3316B4AB}"/>
              </a:ext>
              <a:ext uri="{C183D7F6-B498-43B3-948B-1728B52AA6E4}">
                <adec:decorative xmlns:adec="http://schemas.microsoft.com/office/drawing/2017/decorative" val="1"/>
              </a:ext>
            </a:extLst>
          </p:cNvPr>
          <p:cNvSpPr>
            <a:spLocks noChangeAspect="1"/>
          </p:cNvSpPr>
          <p:nvPr/>
        </p:nvSpPr>
        <p:spPr>
          <a:xfrm>
            <a:off x="1647920" y="3435587"/>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DCD510F-AE0B-71CF-FE1E-8804ACA2FB49}"/>
              </a:ext>
              <a:ext uri="{C183D7F6-B498-43B3-948B-1728B52AA6E4}">
                <adec:decorative xmlns:adec="http://schemas.microsoft.com/office/drawing/2017/decorative" val="1"/>
              </a:ext>
            </a:extLst>
          </p:cNvPr>
          <p:cNvSpPr>
            <a:spLocks noChangeAspect="1"/>
          </p:cNvSpPr>
          <p:nvPr/>
        </p:nvSpPr>
        <p:spPr>
          <a:xfrm>
            <a:off x="2960303"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7E03E40-ADF8-9BEC-4A9F-2D77FF463EC4}"/>
              </a:ext>
              <a:ext uri="{C183D7F6-B498-43B3-948B-1728B52AA6E4}">
                <adec:decorative xmlns:adec="http://schemas.microsoft.com/office/drawing/2017/decorative" val="1"/>
              </a:ext>
            </a:extLst>
          </p:cNvPr>
          <p:cNvSpPr>
            <a:spLocks noChangeAspect="1"/>
          </p:cNvSpPr>
          <p:nvPr/>
        </p:nvSpPr>
        <p:spPr>
          <a:xfrm>
            <a:off x="4396350"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34C4B93-FB13-C6A8-B688-856446A1D684}"/>
              </a:ext>
              <a:ext uri="{C183D7F6-B498-43B3-948B-1728B52AA6E4}">
                <adec:decorative xmlns:adec="http://schemas.microsoft.com/office/drawing/2017/decorative" val="1"/>
              </a:ext>
            </a:extLst>
          </p:cNvPr>
          <p:cNvSpPr>
            <a:spLocks noChangeAspect="1"/>
          </p:cNvSpPr>
          <p:nvPr/>
        </p:nvSpPr>
        <p:spPr>
          <a:xfrm>
            <a:off x="5832397"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38FD56A-CC7E-985F-2B63-9047570CF80A}"/>
              </a:ext>
              <a:ext uri="{C183D7F6-B498-43B3-948B-1728B52AA6E4}">
                <adec:decorative xmlns:adec="http://schemas.microsoft.com/office/drawing/2017/decorative" val="1"/>
              </a:ext>
            </a:extLst>
          </p:cNvPr>
          <p:cNvSpPr>
            <a:spLocks noChangeAspect="1"/>
          </p:cNvSpPr>
          <p:nvPr/>
        </p:nvSpPr>
        <p:spPr>
          <a:xfrm>
            <a:off x="7268444"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D055D07-7559-6C57-215E-87F93B92CEF0}"/>
              </a:ext>
              <a:ext uri="{C183D7F6-B498-43B3-948B-1728B52AA6E4}">
                <adec:decorative xmlns:adec="http://schemas.microsoft.com/office/drawing/2017/decorative" val="1"/>
              </a:ext>
            </a:extLst>
          </p:cNvPr>
          <p:cNvSpPr>
            <a:spLocks noChangeAspect="1"/>
          </p:cNvSpPr>
          <p:nvPr/>
        </p:nvSpPr>
        <p:spPr>
          <a:xfrm>
            <a:off x="8704491" y="3435587"/>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A1F6DBB-ACC0-789B-AB07-AE1FF709278E}"/>
              </a:ext>
              <a:ext uri="{C183D7F6-B498-43B3-948B-1728B52AA6E4}">
                <adec:decorative xmlns:adec="http://schemas.microsoft.com/office/drawing/2017/decorative" val="1"/>
              </a:ext>
            </a:extLst>
          </p:cNvPr>
          <p:cNvSpPr>
            <a:spLocks noChangeAspect="1"/>
          </p:cNvSpPr>
          <p:nvPr/>
        </p:nvSpPr>
        <p:spPr>
          <a:xfrm>
            <a:off x="10140538"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15CC9DC-798C-DE40-CFB1-51AE185D0E2A}"/>
              </a:ext>
            </a:extLst>
          </p:cNvPr>
          <p:cNvSpPr txBox="1"/>
          <p:nvPr/>
        </p:nvSpPr>
        <p:spPr>
          <a:xfrm>
            <a:off x="5563827" y="4405295"/>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neutral</a:t>
            </a:r>
          </a:p>
        </p:txBody>
      </p:sp>
      <p:sp>
        <p:nvSpPr>
          <p:cNvPr id="14" name="TextBox 13">
            <a:extLst>
              <a:ext uri="{FF2B5EF4-FFF2-40B4-BE49-F238E27FC236}">
                <a16:creationId xmlns:a16="http://schemas.microsoft.com/office/drawing/2014/main" id="{585E9300-C49C-6ECD-08C5-FD4734F692FD}"/>
              </a:ext>
            </a:extLst>
          </p:cNvPr>
          <p:cNvSpPr txBox="1"/>
          <p:nvPr/>
        </p:nvSpPr>
        <p:spPr>
          <a:xfrm>
            <a:off x="1369424" y="4287727"/>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strongly disagree</a:t>
            </a:r>
          </a:p>
        </p:txBody>
      </p:sp>
      <p:sp>
        <p:nvSpPr>
          <p:cNvPr id="15" name="TextBox 14">
            <a:extLst>
              <a:ext uri="{FF2B5EF4-FFF2-40B4-BE49-F238E27FC236}">
                <a16:creationId xmlns:a16="http://schemas.microsoft.com/office/drawing/2014/main" id="{A02F5CA0-5A86-CA2F-AACC-D7D08ED4685B}"/>
              </a:ext>
            </a:extLst>
          </p:cNvPr>
          <p:cNvSpPr txBox="1"/>
          <p:nvPr/>
        </p:nvSpPr>
        <p:spPr>
          <a:xfrm>
            <a:off x="9877203" y="4266795"/>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strongly agree</a:t>
            </a:r>
          </a:p>
        </p:txBody>
      </p:sp>
      <p:sp>
        <p:nvSpPr>
          <p:cNvPr id="16" name="TextBox 15">
            <a:extLst>
              <a:ext uri="{FF2B5EF4-FFF2-40B4-BE49-F238E27FC236}">
                <a16:creationId xmlns:a16="http://schemas.microsoft.com/office/drawing/2014/main" id="{E2F805A1-BFAC-D075-4FC6-236F50A86893}"/>
              </a:ext>
            </a:extLst>
          </p:cNvPr>
          <p:cNvSpPr txBox="1"/>
          <p:nvPr/>
        </p:nvSpPr>
        <p:spPr>
          <a:xfrm>
            <a:off x="8469498" y="4388543"/>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agree</a:t>
            </a:r>
          </a:p>
        </p:txBody>
      </p:sp>
      <p:sp>
        <p:nvSpPr>
          <p:cNvPr id="17" name="TextBox 16">
            <a:extLst>
              <a:ext uri="{FF2B5EF4-FFF2-40B4-BE49-F238E27FC236}">
                <a16:creationId xmlns:a16="http://schemas.microsoft.com/office/drawing/2014/main" id="{FB6EEC16-2EF9-B722-B395-7A0303824E19}"/>
              </a:ext>
            </a:extLst>
          </p:cNvPr>
          <p:cNvSpPr txBox="1"/>
          <p:nvPr/>
        </p:nvSpPr>
        <p:spPr>
          <a:xfrm>
            <a:off x="6971532" y="4266795"/>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mildly agree</a:t>
            </a:r>
          </a:p>
        </p:txBody>
      </p:sp>
      <p:sp>
        <p:nvSpPr>
          <p:cNvPr id="18" name="TextBox 17">
            <a:extLst>
              <a:ext uri="{FF2B5EF4-FFF2-40B4-BE49-F238E27FC236}">
                <a16:creationId xmlns:a16="http://schemas.microsoft.com/office/drawing/2014/main" id="{24F9629C-7F85-0F3B-95CA-69D4983CCCB5}"/>
              </a:ext>
            </a:extLst>
          </p:cNvPr>
          <p:cNvSpPr txBox="1"/>
          <p:nvPr/>
        </p:nvSpPr>
        <p:spPr>
          <a:xfrm>
            <a:off x="4073656" y="4285204"/>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mildly disagree</a:t>
            </a:r>
          </a:p>
        </p:txBody>
      </p:sp>
      <p:sp>
        <p:nvSpPr>
          <p:cNvPr id="19" name="TextBox 18">
            <a:extLst>
              <a:ext uri="{FF2B5EF4-FFF2-40B4-BE49-F238E27FC236}">
                <a16:creationId xmlns:a16="http://schemas.microsoft.com/office/drawing/2014/main" id="{46127B6D-A599-8648-1C97-B096384D3AD0}"/>
              </a:ext>
            </a:extLst>
          </p:cNvPr>
          <p:cNvSpPr txBox="1"/>
          <p:nvPr/>
        </p:nvSpPr>
        <p:spPr>
          <a:xfrm>
            <a:off x="2605449" y="4423703"/>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disagree</a:t>
            </a:r>
          </a:p>
        </p:txBody>
      </p:sp>
      <p:cxnSp>
        <p:nvCxnSpPr>
          <p:cNvPr id="2" name="Straight Arrow Connector 1">
            <a:extLst>
              <a:ext uri="{FF2B5EF4-FFF2-40B4-BE49-F238E27FC236}">
                <a16:creationId xmlns:a16="http://schemas.microsoft.com/office/drawing/2014/main" id="{BE6CB7EB-BC4D-F1CA-3C66-336A2863AA47}"/>
              </a:ext>
              <a:ext uri="{C183D7F6-B498-43B3-948B-1728B52AA6E4}">
                <adec:decorative xmlns:adec="http://schemas.microsoft.com/office/drawing/2017/decorative" val="1"/>
              </a:ext>
            </a:extLst>
          </p:cNvPr>
          <p:cNvCxnSpPr>
            <a:cxnSpLocks/>
          </p:cNvCxnSpPr>
          <p:nvPr/>
        </p:nvCxnSpPr>
        <p:spPr>
          <a:xfrm flipV="1">
            <a:off x="1699405" y="5443845"/>
            <a:ext cx="5866219" cy="647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B66D834-435E-43EC-A9E2-1A5214D3A5F3}"/>
              </a:ext>
              <a:ext uri="{C183D7F6-B498-43B3-948B-1728B52AA6E4}">
                <adec:decorative xmlns:adec="http://schemas.microsoft.com/office/drawing/2017/decorative" val="1"/>
              </a:ext>
            </a:extLst>
          </p:cNvPr>
          <p:cNvCxnSpPr>
            <a:cxnSpLocks/>
          </p:cNvCxnSpPr>
          <p:nvPr/>
        </p:nvCxnSpPr>
        <p:spPr>
          <a:xfrm>
            <a:off x="6096000" y="5921171"/>
            <a:ext cx="434171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4136EF0-6B66-DEEE-D1A1-A5477FED3B19}"/>
              </a:ext>
            </a:extLst>
          </p:cNvPr>
          <p:cNvSpPr txBox="1"/>
          <p:nvPr/>
        </p:nvSpPr>
        <p:spPr>
          <a:xfrm>
            <a:off x="6782936" y="5736505"/>
            <a:ext cx="2924829" cy="369332"/>
          </a:xfrm>
          <a:prstGeom prst="rect">
            <a:avLst/>
          </a:prstGeom>
          <a:solidFill>
            <a:srgbClr val="185741"/>
          </a:solidFill>
        </p:spPr>
        <p:txBody>
          <a:bodyPr wrap="square" rtlCol="0">
            <a:spAutoFit/>
          </a:bodyPr>
          <a:lstStyle/>
          <a:p>
            <a:pPr algn="ctr"/>
            <a:r>
              <a:rPr lang="en-CA" dirty="0">
                <a:solidFill>
                  <a:schemeClr val="accent4">
                    <a:lumMod val="20000"/>
                    <a:lumOff val="80000"/>
                  </a:schemeClr>
                </a:solidFill>
                <a:latin typeface="Arial Nova Light" panose="020B0304020202020204" pitchFamily="34" charset="0"/>
              </a:rPr>
              <a:t>Traditional course work</a:t>
            </a:r>
          </a:p>
        </p:txBody>
      </p:sp>
      <p:sp>
        <p:nvSpPr>
          <p:cNvPr id="22" name="TextBox 21">
            <a:extLst>
              <a:ext uri="{FF2B5EF4-FFF2-40B4-BE49-F238E27FC236}">
                <a16:creationId xmlns:a16="http://schemas.microsoft.com/office/drawing/2014/main" id="{E013FCD2-6BA0-EDF8-42B8-75E625AC8BD1}"/>
              </a:ext>
            </a:extLst>
          </p:cNvPr>
          <p:cNvSpPr txBox="1"/>
          <p:nvPr/>
        </p:nvSpPr>
        <p:spPr>
          <a:xfrm>
            <a:off x="3493763" y="5245545"/>
            <a:ext cx="1805174" cy="369332"/>
          </a:xfrm>
          <a:prstGeom prst="rect">
            <a:avLst/>
          </a:prstGeom>
          <a:solidFill>
            <a:srgbClr val="185741"/>
          </a:solidFill>
        </p:spPr>
        <p:txBody>
          <a:bodyPr wrap="none" rtlCol="0">
            <a:spAutoFit/>
          </a:bodyPr>
          <a:lstStyle/>
          <a:p>
            <a:r>
              <a:rPr lang="en-CA" dirty="0">
                <a:solidFill>
                  <a:schemeClr val="accent4">
                    <a:lumMod val="20000"/>
                    <a:lumOff val="80000"/>
                  </a:schemeClr>
                </a:solidFill>
                <a:latin typeface="Arial Nova Light" panose="020B0304020202020204" pitchFamily="34" charset="0"/>
              </a:rPr>
              <a:t>IP,  CBR, Thesis</a:t>
            </a:r>
          </a:p>
        </p:txBody>
      </p:sp>
      <p:sp>
        <p:nvSpPr>
          <p:cNvPr id="26" name="Rectangle 25">
            <a:extLst>
              <a:ext uri="{FF2B5EF4-FFF2-40B4-BE49-F238E27FC236}">
                <a16:creationId xmlns:a16="http://schemas.microsoft.com/office/drawing/2014/main" id="{46437175-26E4-2D8B-FE94-32EEFFAD369D}"/>
              </a:ext>
              <a:ext uri="{C183D7F6-B498-43B3-948B-1728B52AA6E4}">
                <adec:decorative xmlns:adec="http://schemas.microsoft.com/office/drawing/2017/decorative" val="1"/>
              </a:ext>
            </a:extLst>
          </p:cNvPr>
          <p:cNvSpPr/>
          <p:nvPr/>
        </p:nvSpPr>
        <p:spPr>
          <a:xfrm>
            <a:off x="824552" y="4931535"/>
            <a:ext cx="10312021" cy="1305492"/>
          </a:xfrm>
          <a:prstGeom prst="rect">
            <a:avLst/>
          </a:prstGeom>
          <a:solidFill>
            <a:srgbClr val="185741"/>
          </a:solidFill>
          <a:ln>
            <a:solidFill>
              <a:srgbClr val="1857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846486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185741"/>
        </a:solidFill>
        <a:effectLst/>
      </p:bgPr>
    </p:bg>
    <p:spTree>
      <p:nvGrpSpPr>
        <p:cNvPr id="1" name="">
          <a:extLst>
            <a:ext uri="{FF2B5EF4-FFF2-40B4-BE49-F238E27FC236}">
              <a16:creationId xmlns:a16="http://schemas.microsoft.com/office/drawing/2014/main" id="{E4E662EB-FAA7-2E33-9C72-C3959EC810BD}"/>
            </a:ext>
          </a:extLst>
        </p:cNvPr>
        <p:cNvGrpSpPr/>
        <p:nvPr/>
      </p:nvGrpSpPr>
      <p:grpSpPr>
        <a:xfrm>
          <a:off x="0" y="0"/>
          <a:ext cx="0" cy="0"/>
          <a:chOff x="0" y="0"/>
          <a:chExt cx="0" cy="0"/>
        </a:xfrm>
      </p:grpSpPr>
      <p:cxnSp>
        <p:nvCxnSpPr>
          <p:cNvPr id="23" name="Straight Arrow Connector 22">
            <a:extLst>
              <a:ext uri="{FF2B5EF4-FFF2-40B4-BE49-F238E27FC236}">
                <a16:creationId xmlns:a16="http://schemas.microsoft.com/office/drawing/2014/main" id="{9A91F24E-C89D-AB0C-D9C5-D35E77EBC45E}"/>
              </a:ext>
              <a:ext uri="{C183D7F6-B498-43B3-948B-1728B52AA6E4}">
                <adec:decorative xmlns:adec="http://schemas.microsoft.com/office/drawing/2017/decorative" val="1"/>
              </a:ext>
            </a:extLst>
          </p:cNvPr>
          <p:cNvCxnSpPr>
            <a:cxnSpLocks/>
          </p:cNvCxnSpPr>
          <p:nvPr/>
        </p:nvCxnSpPr>
        <p:spPr>
          <a:xfrm>
            <a:off x="1692702" y="5916579"/>
            <a:ext cx="8698656" cy="918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A953B93-288B-E0A9-8C0B-033D920F052D}"/>
              </a:ext>
            </a:extLst>
          </p:cNvPr>
          <p:cNvSpPr>
            <a:spLocks noGrp="1"/>
          </p:cNvSpPr>
          <p:nvPr>
            <p:ph idx="1"/>
          </p:nvPr>
        </p:nvSpPr>
        <p:spPr>
          <a:xfrm>
            <a:off x="838200" y="864730"/>
            <a:ext cx="10515600" cy="3009846"/>
          </a:xfrm>
        </p:spPr>
        <p:txBody>
          <a:bodyPr>
            <a:normAutofit/>
          </a:bodyPr>
          <a:lstStyle/>
          <a:p>
            <a:pPr marL="0" indent="0" algn="ctr">
              <a:buNone/>
            </a:pPr>
            <a:endParaRPr lang="en-CA" sz="4400" dirty="0">
              <a:solidFill>
                <a:schemeClr val="accent1">
                  <a:lumMod val="40000"/>
                  <a:lumOff val="60000"/>
                </a:schemeClr>
              </a:solidFill>
            </a:endParaRPr>
          </a:p>
          <a:p>
            <a:pPr marL="0" indent="0" algn="ctr">
              <a:buNone/>
            </a:pPr>
            <a:r>
              <a:rPr lang="en-CA" sz="4400" dirty="0">
                <a:solidFill>
                  <a:schemeClr val="accent1">
                    <a:lumMod val="40000"/>
                    <a:lumOff val="60000"/>
                  </a:schemeClr>
                </a:solidFill>
              </a:rPr>
              <a:t>I like working with others.</a:t>
            </a:r>
            <a:endParaRPr lang="en-CA" sz="3200" dirty="0">
              <a:solidFill>
                <a:schemeClr val="accent1">
                  <a:lumMod val="40000"/>
                  <a:lumOff val="60000"/>
                </a:schemeClr>
              </a:solidFill>
            </a:endParaRPr>
          </a:p>
          <a:p>
            <a:endParaRPr lang="en-CA" sz="2400" dirty="0">
              <a:solidFill>
                <a:schemeClr val="accent1">
                  <a:lumMod val="40000"/>
                  <a:lumOff val="60000"/>
                </a:schemeClr>
              </a:solidFill>
              <a:latin typeface="Arial Nova Light" panose="020B0304020202020204" pitchFamily="34" charset="0"/>
            </a:endParaRPr>
          </a:p>
          <a:p>
            <a:pPr marL="0" indent="0">
              <a:buNone/>
            </a:pPr>
            <a:endParaRPr lang="en-CA" sz="2400" dirty="0">
              <a:solidFill>
                <a:schemeClr val="accent1">
                  <a:lumMod val="40000"/>
                  <a:lumOff val="60000"/>
                </a:schemeClr>
              </a:solidFill>
              <a:latin typeface="Arial Nova Light" panose="020B0304020202020204" pitchFamily="34" charset="0"/>
            </a:endParaRPr>
          </a:p>
          <a:p>
            <a:pPr marL="0" indent="0">
              <a:buNone/>
            </a:pPr>
            <a:endParaRPr lang="en-CA" sz="2000" dirty="0">
              <a:solidFill>
                <a:schemeClr val="accent1">
                  <a:lumMod val="40000"/>
                  <a:lumOff val="60000"/>
                </a:schemeClr>
              </a:solidFill>
              <a:latin typeface="Arial Nova Light" panose="020B0304020202020204" pitchFamily="34" charset="0"/>
            </a:endParaRPr>
          </a:p>
        </p:txBody>
      </p:sp>
      <p:sp>
        <p:nvSpPr>
          <p:cNvPr id="4" name="Oval 3">
            <a:extLst>
              <a:ext uri="{FF2B5EF4-FFF2-40B4-BE49-F238E27FC236}">
                <a16:creationId xmlns:a16="http://schemas.microsoft.com/office/drawing/2014/main" id="{9DEB1B2F-89D8-50FE-431A-DA13BB3FD6CA}"/>
              </a:ext>
              <a:ext uri="{C183D7F6-B498-43B3-948B-1728B52AA6E4}">
                <adec:decorative xmlns:adec="http://schemas.microsoft.com/office/drawing/2017/decorative" val="1"/>
              </a:ext>
            </a:extLst>
          </p:cNvPr>
          <p:cNvSpPr>
            <a:spLocks noChangeAspect="1"/>
          </p:cNvSpPr>
          <p:nvPr/>
        </p:nvSpPr>
        <p:spPr>
          <a:xfrm>
            <a:off x="1647920" y="3435587"/>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C959442-BFB6-39AC-0B58-A01928E8C3AB}"/>
              </a:ext>
              <a:ext uri="{C183D7F6-B498-43B3-948B-1728B52AA6E4}">
                <adec:decorative xmlns:adec="http://schemas.microsoft.com/office/drawing/2017/decorative" val="1"/>
              </a:ext>
            </a:extLst>
          </p:cNvPr>
          <p:cNvSpPr>
            <a:spLocks noChangeAspect="1"/>
          </p:cNvSpPr>
          <p:nvPr/>
        </p:nvSpPr>
        <p:spPr>
          <a:xfrm>
            <a:off x="2960303"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49F27F7-302D-EF32-10FF-C241742CC0DD}"/>
              </a:ext>
              <a:ext uri="{C183D7F6-B498-43B3-948B-1728B52AA6E4}">
                <adec:decorative xmlns:adec="http://schemas.microsoft.com/office/drawing/2017/decorative" val="1"/>
              </a:ext>
            </a:extLst>
          </p:cNvPr>
          <p:cNvSpPr>
            <a:spLocks noChangeAspect="1"/>
          </p:cNvSpPr>
          <p:nvPr/>
        </p:nvSpPr>
        <p:spPr>
          <a:xfrm>
            <a:off x="4396350"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3FC9A35-1624-029F-1BE6-78CF28493FC3}"/>
              </a:ext>
              <a:ext uri="{C183D7F6-B498-43B3-948B-1728B52AA6E4}">
                <adec:decorative xmlns:adec="http://schemas.microsoft.com/office/drawing/2017/decorative" val="1"/>
              </a:ext>
            </a:extLst>
          </p:cNvPr>
          <p:cNvSpPr>
            <a:spLocks noChangeAspect="1"/>
          </p:cNvSpPr>
          <p:nvPr/>
        </p:nvSpPr>
        <p:spPr>
          <a:xfrm>
            <a:off x="5832397"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665BBF9-CD4B-8132-6202-7672EDF19A71}"/>
              </a:ext>
              <a:ext uri="{C183D7F6-B498-43B3-948B-1728B52AA6E4}">
                <adec:decorative xmlns:adec="http://schemas.microsoft.com/office/drawing/2017/decorative" val="1"/>
              </a:ext>
            </a:extLst>
          </p:cNvPr>
          <p:cNvSpPr>
            <a:spLocks noChangeAspect="1"/>
          </p:cNvSpPr>
          <p:nvPr/>
        </p:nvSpPr>
        <p:spPr>
          <a:xfrm>
            <a:off x="7268444"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6C4C90B-78F3-5450-E58F-D7304914F602}"/>
              </a:ext>
              <a:ext uri="{C183D7F6-B498-43B3-948B-1728B52AA6E4}">
                <adec:decorative xmlns:adec="http://schemas.microsoft.com/office/drawing/2017/decorative" val="1"/>
              </a:ext>
            </a:extLst>
          </p:cNvPr>
          <p:cNvSpPr>
            <a:spLocks noChangeAspect="1"/>
          </p:cNvSpPr>
          <p:nvPr/>
        </p:nvSpPr>
        <p:spPr>
          <a:xfrm>
            <a:off x="8704491" y="3435587"/>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5DB37CE-C36B-D6D7-A047-40C2E3D35F84}"/>
              </a:ext>
              <a:ext uri="{C183D7F6-B498-43B3-948B-1728B52AA6E4}">
                <adec:decorative xmlns:adec="http://schemas.microsoft.com/office/drawing/2017/decorative" val="1"/>
              </a:ext>
            </a:extLst>
          </p:cNvPr>
          <p:cNvSpPr>
            <a:spLocks noChangeAspect="1"/>
          </p:cNvSpPr>
          <p:nvPr/>
        </p:nvSpPr>
        <p:spPr>
          <a:xfrm>
            <a:off x="10140538"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F9E5015-CD70-CADC-5752-A34608320C42}"/>
              </a:ext>
            </a:extLst>
          </p:cNvPr>
          <p:cNvSpPr txBox="1"/>
          <p:nvPr/>
        </p:nvSpPr>
        <p:spPr>
          <a:xfrm>
            <a:off x="5563827" y="4405295"/>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neutral</a:t>
            </a:r>
          </a:p>
        </p:txBody>
      </p:sp>
      <p:sp>
        <p:nvSpPr>
          <p:cNvPr id="14" name="TextBox 13">
            <a:extLst>
              <a:ext uri="{FF2B5EF4-FFF2-40B4-BE49-F238E27FC236}">
                <a16:creationId xmlns:a16="http://schemas.microsoft.com/office/drawing/2014/main" id="{42EC1283-6EE6-C336-2BDA-39371D76E631}"/>
              </a:ext>
            </a:extLst>
          </p:cNvPr>
          <p:cNvSpPr txBox="1"/>
          <p:nvPr/>
        </p:nvSpPr>
        <p:spPr>
          <a:xfrm>
            <a:off x="1369424" y="4287727"/>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strongly disagree</a:t>
            </a:r>
          </a:p>
        </p:txBody>
      </p:sp>
      <p:sp>
        <p:nvSpPr>
          <p:cNvPr id="15" name="TextBox 14">
            <a:extLst>
              <a:ext uri="{FF2B5EF4-FFF2-40B4-BE49-F238E27FC236}">
                <a16:creationId xmlns:a16="http://schemas.microsoft.com/office/drawing/2014/main" id="{19F8B9FA-5010-FCFB-67D2-1DD9497F6A09}"/>
              </a:ext>
            </a:extLst>
          </p:cNvPr>
          <p:cNvSpPr txBox="1"/>
          <p:nvPr/>
        </p:nvSpPr>
        <p:spPr>
          <a:xfrm>
            <a:off x="9877203" y="4266795"/>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strongly agree</a:t>
            </a:r>
          </a:p>
        </p:txBody>
      </p:sp>
      <p:sp>
        <p:nvSpPr>
          <p:cNvPr id="16" name="TextBox 15">
            <a:extLst>
              <a:ext uri="{FF2B5EF4-FFF2-40B4-BE49-F238E27FC236}">
                <a16:creationId xmlns:a16="http://schemas.microsoft.com/office/drawing/2014/main" id="{48B7CC4D-5C7A-1C2C-03CA-177F2A346B1B}"/>
              </a:ext>
            </a:extLst>
          </p:cNvPr>
          <p:cNvSpPr txBox="1"/>
          <p:nvPr/>
        </p:nvSpPr>
        <p:spPr>
          <a:xfrm>
            <a:off x="8469498" y="4388543"/>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agree</a:t>
            </a:r>
          </a:p>
        </p:txBody>
      </p:sp>
      <p:sp>
        <p:nvSpPr>
          <p:cNvPr id="17" name="TextBox 16">
            <a:extLst>
              <a:ext uri="{FF2B5EF4-FFF2-40B4-BE49-F238E27FC236}">
                <a16:creationId xmlns:a16="http://schemas.microsoft.com/office/drawing/2014/main" id="{0D32B031-E8D9-78D1-3599-4B82A63BA40D}"/>
              </a:ext>
            </a:extLst>
          </p:cNvPr>
          <p:cNvSpPr txBox="1"/>
          <p:nvPr/>
        </p:nvSpPr>
        <p:spPr>
          <a:xfrm>
            <a:off x="6971532" y="4266795"/>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mildly agree</a:t>
            </a:r>
          </a:p>
        </p:txBody>
      </p:sp>
      <p:sp>
        <p:nvSpPr>
          <p:cNvPr id="18" name="TextBox 17">
            <a:extLst>
              <a:ext uri="{FF2B5EF4-FFF2-40B4-BE49-F238E27FC236}">
                <a16:creationId xmlns:a16="http://schemas.microsoft.com/office/drawing/2014/main" id="{8AA986FE-AF84-024F-4E9A-66C099FB4806}"/>
              </a:ext>
            </a:extLst>
          </p:cNvPr>
          <p:cNvSpPr txBox="1"/>
          <p:nvPr/>
        </p:nvSpPr>
        <p:spPr>
          <a:xfrm>
            <a:off x="4073656" y="4285204"/>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mildly disagree</a:t>
            </a:r>
          </a:p>
        </p:txBody>
      </p:sp>
      <p:sp>
        <p:nvSpPr>
          <p:cNvPr id="19" name="TextBox 18">
            <a:extLst>
              <a:ext uri="{FF2B5EF4-FFF2-40B4-BE49-F238E27FC236}">
                <a16:creationId xmlns:a16="http://schemas.microsoft.com/office/drawing/2014/main" id="{91D1A97C-49CE-9597-1CBA-004C0EA29456}"/>
              </a:ext>
            </a:extLst>
          </p:cNvPr>
          <p:cNvSpPr txBox="1"/>
          <p:nvPr/>
        </p:nvSpPr>
        <p:spPr>
          <a:xfrm>
            <a:off x="2605449" y="4423703"/>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disagree</a:t>
            </a:r>
          </a:p>
        </p:txBody>
      </p:sp>
      <p:cxnSp>
        <p:nvCxnSpPr>
          <p:cNvPr id="2" name="Straight Arrow Connector 1">
            <a:extLst>
              <a:ext uri="{FF2B5EF4-FFF2-40B4-BE49-F238E27FC236}">
                <a16:creationId xmlns:a16="http://schemas.microsoft.com/office/drawing/2014/main" id="{A14785D7-1F8B-BFF9-3E6F-0264461D5D38}"/>
              </a:ext>
              <a:ext uri="{C183D7F6-B498-43B3-948B-1728B52AA6E4}">
                <adec:decorative xmlns:adec="http://schemas.microsoft.com/office/drawing/2017/decorative" val="1"/>
              </a:ext>
            </a:extLst>
          </p:cNvPr>
          <p:cNvCxnSpPr>
            <a:cxnSpLocks/>
          </p:cNvCxnSpPr>
          <p:nvPr/>
        </p:nvCxnSpPr>
        <p:spPr>
          <a:xfrm>
            <a:off x="1710720" y="5476809"/>
            <a:ext cx="8698656" cy="918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4428120-E136-B289-206F-5F2C6842F2B3}"/>
              </a:ext>
            </a:extLst>
          </p:cNvPr>
          <p:cNvSpPr txBox="1"/>
          <p:nvPr/>
        </p:nvSpPr>
        <p:spPr>
          <a:xfrm>
            <a:off x="6426757" y="5740950"/>
            <a:ext cx="2924829" cy="369332"/>
          </a:xfrm>
          <a:prstGeom prst="rect">
            <a:avLst/>
          </a:prstGeom>
          <a:solidFill>
            <a:srgbClr val="185741"/>
          </a:solidFill>
        </p:spPr>
        <p:txBody>
          <a:bodyPr wrap="square" rtlCol="0">
            <a:spAutoFit/>
          </a:bodyPr>
          <a:lstStyle/>
          <a:p>
            <a:pPr algn="ctr"/>
            <a:r>
              <a:rPr lang="en-CA" dirty="0">
                <a:solidFill>
                  <a:schemeClr val="accent4">
                    <a:lumMod val="20000"/>
                    <a:lumOff val="80000"/>
                  </a:schemeClr>
                </a:solidFill>
                <a:latin typeface="Arial Nova Light" panose="020B0304020202020204" pitchFamily="34" charset="0"/>
              </a:rPr>
              <a:t>Traditional course work</a:t>
            </a:r>
          </a:p>
        </p:txBody>
      </p:sp>
      <p:sp>
        <p:nvSpPr>
          <p:cNvPr id="22" name="TextBox 21">
            <a:extLst>
              <a:ext uri="{FF2B5EF4-FFF2-40B4-BE49-F238E27FC236}">
                <a16:creationId xmlns:a16="http://schemas.microsoft.com/office/drawing/2014/main" id="{53BDF921-CFC5-6C14-B3FF-51052A3206A5}"/>
              </a:ext>
            </a:extLst>
          </p:cNvPr>
          <p:cNvSpPr txBox="1"/>
          <p:nvPr/>
        </p:nvSpPr>
        <p:spPr>
          <a:xfrm>
            <a:off x="5226990" y="5292143"/>
            <a:ext cx="1805174" cy="369332"/>
          </a:xfrm>
          <a:prstGeom prst="rect">
            <a:avLst/>
          </a:prstGeom>
          <a:solidFill>
            <a:srgbClr val="185741"/>
          </a:solidFill>
        </p:spPr>
        <p:txBody>
          <a:bodyPr wrap="none" rtlCol="0">
            <a:spAutoFit/>
          </a:bodyPr>
          <a:lstStyle/>
          <a:p>
            <a:r>
              <a:rPr lang="en-CA" dirty="0">
                <a:solidFill>
                  <a:schemeClr val="accent4">
                    <a:lumMod val="20000"/>
                    <a:lumOff val="80000"/>
                  </a:schemeClr>
                </a:solidFill>
                <a:latin typeface="Arial Nova Light" panose="020B0304020202020204" pitchFamily="34" charset="0"/>
              </a:rPr>
              <a:t>IP,  CBR, Thesis</a:t>
            </a:r>
          </a:p>
        </p:txBody>
      </p:sp>
      <p:sp>
        <p:nvSpPr>
          <p:cNvPr id="24" name="Rectangle 23">
            <a:extLst>
              <a:ext uri="{FF2B5EF4-FFF2-40B4-BE49-F238E27FC236}">
                <a16:creationId xmlns:a16="http://schemas.microsoft.com/office/drawing/2014/main" id="{D52EA3EC-E1A3-D34C-51D1-0A348A7480B6}"/>
              </a:ext>
              <a:ext uri="{C183D7F6-B498-43B3-948B-1728B52AA6E4}">
                <adec:decorative xmlns:adec="http://schemas.microsoft.com/office/drawing/2017/decorative" val="1"/>
              </a:ext>
            </a:extLst>
          </p:cNvPr>
          <p:cNvSpPr/>
          <p:nvPr/>
        </p:nvSpPr>
        <p:spPr>
          <a:xfrm>
            <a:off x="824552" y="4931535"/>
            <a:ext cx="10312021" cy="1305492"/>
          </a:xfrm>
          <a:prstGeom prst="rect">
            <a:avLst/>
          </a:prstGeom>
          <a:solidFill>
            <a:srgbClr val="185741"/>
          </a:solidFill>
          <a:ln>
            <a:solidFill>
              <a:srgbClr val="1857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787830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85741"/>
        </a:solidFill>
        <a:effectLst/>
      </p:bgPr>
    </p:bg>
    <p:spTree>
      <p:nvGrpSpPr>
        <p:cNvPr id="1" name="">
          <a:extLst>
            <a:ext uri="{FF2B5EF4-FFF2-40B4-BE49-F238E27FC236}">
              <a16:creationId xmlns:a16="http://schemas.microsoft.com/office/drawing/2014/main" id="{FF84343D-70CF-E580-DF44-6986A46C145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E52422-8219-1ACF-3330-30E933205D2D}"/>
              </a:ext>
            </a:extLst>
          </p:cNvPr>
          <p:cNvSpPr>
            <a:spLocks noGrp="1"/>
          </p:cNvSpPr>
          <p:nvPr>
            <p:ph idx="1"/>
          </p:nvPr>
        </p:nvSpPr>
        <p:spPr>
          <a:xfrm>
            <a:off x="838200" y="864730"/>
            <a:ext cx="10515600" cy="3009846"/>
          </a:xfrm>
        </p:spPr>
        <p:txBody>
          <a:bodyPr>
            <a:normAutofit/>
          </a:bodyPr>
          <a:lstStyle/>
          <a:p>
            <a:pPr marL="0" indent="0" algn="ctr">
              <a:buNone/>
            </a:pPr>
            <a:endParaRPr lang="en-CA" sz="4400" dirty="0">
              <a:solidFill>
                <a:schemeClr val="accent1">
                  <a:lumMod val="40000"/>
                  <a:lumOff val="60000"/>
                </a:schemeClr>
              </a:solidFill>
            </a:endParaRPr>
          </a:p>
          <a:p>
            <a:pPr marL="0" indent="0" algn="ctr">
              <a:buNone/>
            </a:pPr>
            <a:r>
              <a:rPr lang="en-CA" sz="4400" dirty="0">
                <a:solidFill>
                  <a:schemeClr val="accent1">
                    <a:lumMod val="40000"/>
                    <a:lumOff val="60000"/>
                  </a:schemeClr>
                </a:solidFill>
              </a:rPr>
              <a:t>I am comfortable being wrong.</a:t>
            </a:r>
            <a:endParaRPr lang="en-CA" sz="3200" dirty="0">
              <a:solidFill>
                <a:schemeClr val="accent1">
                  <a:lumMod val="40000"/>
                  <a:lumOff val="60000"/>
                </a:schemeClr>
              </a:solidFill>
            </a:endParaRPr>
          </a:p>
          <a:p>
            <a:endParaRPr lang="en-CA" sz="2400" dirty="0">
              <a:solidFill>
                <a:schemeClr val="accent1">
                  <a:lumMod val="40000"/>
                  <a:lumOff val="60000"/>
                </a:schemeClr>
              </a:solidFill>
              <a:latin typeface="Arial Nova Light" panose="020B0304020202020204" pitchFamily="34" charset="0"/>
            </a:endParaRPr>
          </a:p>
          <a:p>
            <a:pPr marL="0" indent="0">
              <a:buNone/>
            </a:pPr>
            <a:endParaRPr lang="en-CA" sz="2400" dirty="0">
              <a:solidFill>
                <a:schemeClr val="accent1">
                  <a:lumMod val="40000"/>
                  <a:lumOff val="60000"/>
                </a:schemeClr>
              </a:solidFill>
              <a:latin typeface="Arial Nova Light" panose="020B0304020202020204" pitchFamily="34" charset="0"/>
            </a:endParaRPr>
          </a:p>
          <a:p>
            <a:pPr marL="0" indent="0">
              <a:buNone/>
            </a:pPr>
            <a:endParaRPr lang="en-CA" sz="2000" dirty="0">
              <a:solidFill>
                <a:schemeClr val="accent1">
                  <a:lumMod val="40000"/>
                  <a:lumOff val="60000"/>
                </a:schemeClr>
              </a:solidFill>
              <a:latin typeface="Arial Nova Light" panose="020B0304020202020204" pitchFamily="34" charset="0"/>
            </a:endParaRPr>
          </a:p>
        </p:txBody>
      </p:sp>
      <p:sp>
        <p:nvSpPr>
          <p:cNvPr id="4" name="Oval 3">
            <a:extLst>
              <a:ext uri="{FF2B5EF4-FFF2-40B4-BE49-F238E27FC236}">
                <a16:creationId xmlns:a16="http://schemas.microsoft.com/office/drawing/2014/main" id="{02F9D127-5B3C-4C53-2F76-FCACBB4581FE}"/>
              </a:ext>
              <a:ext uri="{C183D7F6-B498-43B3-948B-1728B52AA6E4}">
                <adec:decorative xmlns:adec="http://schemas.microsoft.com/office/drawing/2017/decorative" val="1"/>
              </a:ext>
            </a:extLst>
          </p:cNvPr>
          <p:cNvSpPr>
            <a:spLocks noChangeAspect="1"/>
          </p:cNvSpPr>
          <p:nvPr/>
        </p:nvSpPr>
        <p:spPr>
          <a:xfrm>
            <a:off x="1647920" y="3435587"/>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B06C9C9-A0EA-CB4D-D03A-9CCBB8650A2A}"/>
              </a:ext>
              <a:ext uri="{C183D7F6-B498-43B3-948B-1728B52AA6E4}">
                <adec:decorative xmlns:adec="http://schemas.microsoft.com/office/drawing/2017/decorative" val="1"/>
              </a:ext>
            </a:extLst>
          </p:cNvPr>
          <p:cNvSpPr>
            <a:spLocks noChangeAspect="1"/>
          </p:cNvSpPr>
          <p:nvPr/>
        </p:nvSpPr>
        <p:spPr>
          <a:xfrm>
            <a:off x="2960303"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FF09E4F-6302-4E8F-25E0-B20B3EC47625}"/>
              </a:ext>
              <a:ext uri="{C183D7F6-B498-43B3-948B-1728B52AA6E4}">
                <adec:decorative xmlns:adec="http://schemas.microsoft.com/office/drawing/2017/decorative" val="1"/>
              </a:ext>
            </a:extLst>
          </p:cNvPr>
          <p:cNvSpPr>
            <a:spLocks noChangeAspect="1"/>
          </p:cNvSpPr>
          <p:nvPr/>
        </p:nvSpPr>
        <p:spPr>
          <a:xfrm>
            <a:off x="4396350"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E1A2552-7F1E-F0ED-F591-FC52BEB35170}"/>
              </a:ext>
              <a:ext uri="{C183D7F6-B498-43B3-948B-1728B52AA6E4}">
                <adec:decorative xmlns:adec="http://schemas.microsoft.com/office/drawing/2017/decorative" val="1"/>
              </a:ext>
            </a:extLst>
          </p:cNvPr>
          <p:cNvSpPr>
            <a:spLocks noChangeAspect="1"/>
          </p:cNvSpPr>
          <p:nvPr/>
        </p:nvSpPr>
        <p:spPr>
          <a:xfrm>
            <a:off x="5832397"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B7F9585-9927-3864-C242-FD69A7B0C6DA}"/>
              </a:ext>
              <a:ext uri="{C183D7F6-B498-43B3-948B-1728B52AA6E4}">
                <adec:decorative xmlns:adec="http://schemas.microsoft.com/office/drawing/2017/decorative" val="1"/>
              </a:ext>
            </a:extLst>
          </p:cNvPr>
          <p:cNvSpPr>
            <a:spLocks noChangeAspect="1"/>
          </p:cNvSpPr>
          <p:nvPr/>
        </p:nvSpPr>
        <p:spPr>
          <a:xfrm>
            <a:off x="7268444"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4E52E3E-E2B5-1E6A-CD25-B2CC434BF10C}"/>
              </a:ext>
              <a:ext uri="{C183D7F6-B498-43B3-948B-1728B52AA6E4}">
                <adec:decorative xmlns:adec="http://schemas.microsoft.com/office/drawing/2017/decorative" val="1"/>
              </a:ext>
            </a:extLst>
          </p:cNvPr>
          <p:cNvSpPr>
            <a:spLocks noChangeAspect="1"/>
          </p:cNvSpPr>
          <p:nvPr/>
        </p:nvSpPr>
        <p:spPr>
          <a:xfrm>
            <a:off x="8704491" y="3435587"/>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4E8C62F-AF00-3510-83A9-F9E2E304B7F3}"/>
              </a:ext>
              <a:ext uri="{C183D7F6-B498-43B3-948B-1728B52AA6E4}">
                <adec:decorative xmlns:adec="http://schemas.microsoft.com/office/drawing/2017/decorative" val="1"/>
              </a:ext>
            </a:extLst>
          </p:cNvPr>
          <p:cNvSpPr>
            <a:spLocks noChangeAspect="1"/>
          </p:cNvSpPr>
          <p:nvPr/>
        </p:nvSpPr>
        <p:spPr>
          <a:xfrm>
            <a:off x="10140538"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3E92A01-1943-DDCE-49DA-7FE90CC64D9A}"/>
              </a:ext>
            </a:extLst>
          </p:cNvPr>
          <p:cNvSpPr txBox="1"/>
          <p:nvPr/>
        </p:nvSpPr>
        <p:spPr>
          <a:xfrm>
            <a:off x="5563827" y="4405295"/>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neutral</a:t>
            </a:r>
          </a:p>
        </p:txBody>
      </p:sp>
      <p:sp>
        <p:nvSpPr>
          <p:cNvPr id="14" name="TextBox 13">
            <a:extLst>
              <a:ext uri="{FF2B5EF4-FFF2-40B4-BE49-F238E27FC236}">
                <a16:creationId xmlns:a16="http://schemas.microsoft.com/office/drawing/2014/main" id="{85713BCA-1E3A-47FA-C286-10321EDBC76A}"/>
              </a:ext>
            </a:extLst>
          </p:cNvPr>
          <p:cNvSpPr txBox="1"/>
          <p:nvPr/>
        </p:nvSpPr>
        <p:spPr>
          <a:xfrm>
            <a:off x="1369424" y="4287727"/>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strongly disagree</a:t>
            </a:r>
          </a:p>
        </p:txBody>
      </p:sp>
      <p:sp>
        <p:nvSpPr>
          <p:cNvPr id="15" name="TextBox 14">
            <a:extLst>
              <a:ext uri="{FF2B5EF4-FFF2-40B4-BE49-F238E27FC236}">
                <a16:creationId xmlns:a16="http://schemas.microsoft.com/office/drawing/2014/main" id="{4845D41C-5550-AF39-1267-7C8AA5A3507F}"/>
              </a:ext>
            </a:extLst>
          </p:cNvPr>
          <p:cNvSpPr txBox="1"/>
          <p:nvPr/>
        </p:nvSpPr>
        <p:spPr>
          <a:xfrm>
            <a:off x="9877203" y="4266795"/>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strongly agree</a:t>
            </a:r>
          </a:p>
        </p:txBody>
      </p:sp>
      <p:sp>
        <p:nvSpPr>
          <p:cNvPr id="16" name="TextBox 15">
            <a:extLst>
              <a:ext uri="{FF2B5EF4-FFF2-40B4-BE49-F238E27FC236}">
                <a16:creationId xmlns:a16="http://schemas.microsoft.com/office/drawing/2014/main" id="{2850E3B0-0A58-23EE-0E88-886587B42327}"/>
              </a:ext>
            </a:extLst>
          </p:cNvPr>
          <p:cNvSpPr txBox="1"/>
          <p:nvPr/>
        </p:nvSpPr>
        <p:spPr>
          <a:xfrm>
            <a:off x="8469498" y="4388543"/>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agree</a:t>
            </a:r>
          </a:p>
        </p:txBody>
      </p:sp>
      <p:sp>
        <p:nvSpPr>
          <p:cNvPr id="17" name="TextBox 16">
            <a:extLst>
              <a:ext uri="{FF2B5EF4-FFF2-40B4-BE49-F238E27FC236}">
                <a16:creationId xmlns:a16="http://schemas.microsoft.com/office/drawing/2014/main" id="{EDC21161-1BA3-8CC4-AA78-53749440F7A1}"/>
              </a:ext>
            </a:extLst>
          </p:cNvPr>
          <p:cNvSpPr txBox="1"/>
          <p:nvPr/>
        </p:nvSpPr>
        <p:spPr>
          <a:xfrm>
            <a:off x="6971532" y="4266795"/>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mildly agree</a:t>
            </a:r>
          </a:p>
        </p:txBody>
      </p:sp>
      <p:sp>
        <p:nvSpPr>
          <p:cNvPr id="18" name="TextBox 17">
            <a:extLst>
              <a:ext uri="{FF2B5EF4-FFF2-40B4-BE49-F238E27FC236}">
                <a16:creationId xmlns:a16="http://schemas.microsoft.com/office/drawing/2014/main" id="{813FDB25-F820-1F0F-B2E4-9FAC6198F2A4}"/>
              </a:ext>
            </a:extLst>
          </p:cNvPr>
          <p:cNvSpPr txBox="1"/>
          <p:nvPr/>
        </p:nvSpPr>
        <p:spPr>
          <a:xfrm>
            <a:off x="4073656" y="4285204"/>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mildly disagree</a:t>
            </a:r>
          </a:p>
        </p:txBody>
      </p:sp>
      <p:sp>
        <p:nvSpPr>
          <p:cNvPr id="19" name="TextBox 18">
            <a:extLst>
              <a:ext uri="{FF2B5EF4-FFF2-40B4-BE49-F238E27FC236}">
                <a16:creationId xmlns:a16="http://schemas.microsoft.com/office/drawing/2014/main" id="{A181A3C2-01B9-5A5C-1C5B-888B613B423D}"/>
              </a:ext>
            </a:extLst>
          </p:cNvPr>
          <p:cNvSpPr txBox="1"/>
          <p:nvPr/>
        </p:nvSpPr>
        <p:spPr>
          <a:xfrm>
            <a:off x="2605449" y="4423703"/>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disagree</a:t>
            </a:r>
          </a:p>
        </p:txBody>
      </p:sp>
      <p:cxnSp>
        <p:nvCxnSpPr>
          <p:cNvPr id="2" name="Straight Arrow Connector 1">
            <a:extLst>
              <a:ext uri="{FF2B5EF4-FFF2-40B4-BE49-F238E27FC236}">
                <a16:creationId xmlns:a16="http://schemas.microsoft.com/office/drawing/2014/main" id="{0432E593-5EB3-CEB8-247D-BDF8FC26B31E}"/>
              </a:ext>
              <a:ext uri="{C183D7F6-B498-43B3-948B-1728B52AA6E4}">
                <adec:decorative xmlns:adec="http://schemas.microsoft.com/office/drawing/2017/decorative" val="1"/>
              </a:ext>
            </a:extLst>
          </p:cNvPr>
          <p:cNvCxnSpPr>
            <a:cxnSpLocks/>
          </p:cNvCxnSpPr>
          <p:nvPr/>
        </p:nvCxnSpPr>
        <p:spPr>
          <a:xfrm>
            <a:off x="1692702" y="5916579"/>
            <a:ext cx="8698656" cy="918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FB00A8A-8331-B4F8-752C-E694A7397648}"/>
              </a:ext>
              <a:ext uri="{C183D7F6-B498-43B3-948B-1728B52AA6E4}">
                <adec:decorative xmlns:adec="http://schemas.microsoft.com/office/drawing/2017/decorative" val="1"/>
              </a:ext>
            </a:extLst>
          </p:cNvPr>
          <p:cNvCxnSpPr>
            <a:cxnSpLocks/>
          </p:cNvCxnSpPr>
          <p:nvPr/>
        </p:nvCxnSpPr>
        <p:spPr>
          <a:xfrm>
            <a:off x="6096000" y="5485993"/>
            <a:ext cx="431337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F94E1B9-3464-9B78-2A68-065B1B1DC297}"/>
              </a:ext>
            </a:extLst>
          </p:cNvPr>
          <p:cNvSpPr txBox="1"/>
          <p:nvPr/>
        </p:nvSpPr>
        <p:spPr>
          <a:xfrm>
            <a:off x="5832397" y="5740950"/>
            <a:ext cx="3519189" cy="369332"/>
          </a:xfrm>
          <a:prstGeom prst="rect">
            <a:avLst/>
          </a:prstGeom>
          <a:solidFill>
            <a:srgbClr val="185741"/>
          </a:solidFill>
        </p:spPr>
        <p:txBody>
          <a:bodyPr wrap="square" rtlCol="0">
            <a:spAutoFit/>
          </a:bodyPr>
          <a:lstStyle/>
          <a:p>
            <a:pPr algn="ctr"/>
            <a:r>
              <a:rPr lang="en-CA" dirty="0">
                <a:solidFill>
                  <a:schemeClr val="accent4">
                    <a:lumMod val="20000"/>
                    <a:lumOff val="80000"/>
                  </a:schemeClr>
                </a:solidFill>
                <a:latin typeface="Arial Nova Light" panose="020B0304020202020204" pitchFamily="34" charset="0"/>
              </a:rPr>
              <a:t>IP, Traditional course work</a:t>
            </a:r>
          </a:p>
        </p:txBody>
      </p:sp>
      <p:sp>
        <p:nvSpPr>
          <p:cNvPr id="22" name="TextBox 21">
            <a:extLst>
              <a:ext uri="{FF2B5EF4-FFF2-40B4-BE49-F238E27FC236}">
                <a16:creationId xmlns:a16="http://schemas.microsoft.com/office/drawing/2014/main" id="{D1532E63-18BC-C28C-9A3C-4FC395414919}"/>
              </a:ext>
            </a:extLst>
          </p:cNvPr>
          <p:cNvSpPr txBox="1"/>
          <p:nvPr/>
        </p:nvSpPr>
        <p:spPr>
          <a:xfrm>
            <a:off x="7646837" y="5305345"/>
            <a:ext cx="1404552" cy="369332"/>
          </a:xfrm>
          <a:prstGeom prst="rect">
            <a:avLst/>
          </a:prstGeom>
          <a:solidFill>
            <a:srgbClr val="185741"/>
          </a:solidFill>
        </p:spPr>
        <p:txBody>
          <a:bodyPr wrap="none" rtlCol="0">
            <a:spAutoFit/>
          </a:bodyPr>
          <a:lstStyle/>
          <a:p>
            <a:r>
              <a:rPr lang="en-CA" dirty="0">
                <a:solidFill>
                  <a:schemeClr val="accent4">
                    <a:lumMod val="20000"/>
                    <a:lumOff val="80000"/>
                  </a:schemeClr>
                </a:solidFill>
                <a:latin typeface="Arial Nova Light" panose="020B0304020202020204" pitchFamily="34" charset="0"/>
              </a:rPr>
              <a:t>CBR, Thesis</a:t>
            </a:r>
          </a:p>
        </p:txBody>
      </p:sp>
      <p:sp>
        <p:nvSpPr>
          <p:cNvPr id="24" name="Rectangle 23">
            <a:extLst>
              <a:ext uri="{FF2B5EF4-FFF2-40B4-BE49-F238E27FC236}">
                <a16:creationId xmlns:a16="http://schemas.microsoft.com/office/drawing/2014/main" id="{01BB50AA-BF73-A44A-9ED2-2FEB53C64E7E}"/>
              </a:ext>
              <a:ext uri="{C183D7F6-B498-43B3-948B-1728B52AA6E4}">
                <adec:decorative xmlns:adec="http://schemas.microsoft.com/office/drawing/2017/decorative" val="1"/>
              </a:ext>
            </a:extLst>
          </p:cNvPr>
          <p:cNvSpPr/>
          <p:nvPr/>
        </p:nvSpPr>
        <p:spPr>
          <a:xfrm>
            <a:off x="824552" y="4931535"/>
            <a:ext cx="10312021" cy="1305492"/>
          </a:xfrm>
          <a:prstGeom prst="rect">
            <a:avLst/>
          </a:prstGeom>
          <a:solidFill>
            <a:srgbClr val="185741"/>
          </a:solidFill>
          <a:ln>
            <a:solidFill>
              <a:srgbClr val="1857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305914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185741"/>
        </a:solidFill>
        <a:effectLst/>
      </p:bgPr>
    </p:bg>
    <p:spTree>
      <p:nvGrpSpPr>
        <p:cNvPr id="1" name="">
          <a:extLst>
            <a:ext uri="{FF2B5EF4-FFF2-40B4-BE49-F238E27FC236}">
              <a16:creationId xmlns:a16="http://schemas.microsoft.com/office/drawing/2014/main" id="{EEC1183D-6D01-99B5-F391-28A6D833F3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B0F616-0ACE-4A6E-5647-4B4AFEB7ED69}"/>
              </a:ext>
            </a:extLst>
          </p:cNvPr>
          <p:cNvSpPr>
            <a:spLocks noGrp="1"/>
          </p:cNvSpPr>
          <p:nvPr>
            <p:ph idx="1"/>
          </p:nvPr>
        </p:nvSpPr>
        <p:spPr>
          <a:xfrm>
            <a:off x="838200" y="864730"/>
            <a:ext cx="10515600" cy="3009846"/>
          </a:xfrm>
        </p:spPr>
        <p:txBody>
          <a:bodyPr>
            <a:normAutofit/>
          </a:bodyPr>
          <a:lstStyle/>
          <a:p>
            <a:pPr marL="0" indent="0" algn="ctr">
              <a:buNone/>
            </a:pPr>
            <a:endParaRPr lang="en-CA" sz="4400" dirty="0">
              <a:solidFill>
                <a:schemeClr val="accent1">
                  <a:lumMod val="40000"/>
                  <a:lumOff val="60000"/>
                </a:schemeClr>
              </a:solidFill>
            </a:endParaRPr>
          </a:p>
          <a:p>
            <a:pPr marL="0" indent="0" algn="ctr">
              <a:buNone/>
            </a:pPr>
            <a:r>
              <a:rPr lang="en-CA" sz="4400" dirty="0">
                <a:solidFill>
                  <a:schemeClr val="accent1">
                    <a:lumMod val="40000"/>
                    <a:lumOff val="60000"/>
                  </a:schemeClr>
                </a:solidFill>
              </a:rPr>
              <a:t>There are professors on campus that do research I am interest in.</a:t>
            </a:r>
            <a:endParaRPr lang="en-CA" sz="3200" dirty="0">
              <a:solidFill>
                <a:schemeClr val="accent1">
                  <a:lumMod val="40000"/>
                  <a:lumOff val="60000"/>
                </a:schemeClr>
              </a:solidFill>
            </a:endParaRPr>
          </a:p>
          <a:p>
            <a:endParaRPr lang="en-CA" sz="2400" dirty="0">
              <a:solidFill>
                <a:schemeClr val="accent1">
                  <a:lumMod val="40000"/>
                  <a:lumOff val="60000"/>
                </a:schemeClr>
              </a:solidFill>
              <a:latin typeface="Arial Nova Light" panose="020B0304020202020204" pitchFamily="34" charset="0"/>
            </a:endParaRPr>
          </a:p>
          <a:p>
            <a:pPr marL="0" indent="0">
              <a:buNone/>
            </a:pPr>
            <a:endParaRPr lang="en-CA" sz="2400" dirty="0">
              <a:solidFill>
                <a:schemeClr val="accent1">
                  <a:lumMod val="40000"/>
                  <a:lumOff val="60000"/>
                </a:schemeClr>
              </a:solidFill>
              <a:latin typeface="Arial Nova Light" panose="020B0304020202020204" pitchFamily="34" charset="0"/>
            </a:endParaRPr>
          </a:p>
          <a:p>
            <a:pPr marL="0" indent="0">
              <a:buNone/>
            </a:pPr>
            <a:endParaRPr lang="en-CA" sz="2000" dirty="0">
              <a:solidFill>
                <a:schemeClr val="accent1">
                  <a:lumMod val="40000"/>
                  <a:lumOff val="60000"/>
                </a:schemeClr>
              </a:solidFill>
              <a:latin typeface="Arial Nova Light" panose="020B0304020202020204" pitchFamily="34" charset="0"/>
            </a:endParaRPr>
          </a:p>
        </p:txBody>
      </p:sp>
      <p:sp>
        <p:nvSpPr>
          <p:cNvPr id="4" name="Oval 3">
            <a:extLst>
              <a:ext uri="{FF2B5EF4-FFF2-40B4-BE49-F238E27FC236}">
                <a16:creationId xmlns:a16="http://schemas.microsoft.com/office/drawing/2014/main" id="{0980ED09-2A3B-B791-DFD1-CA738573DE8C}"/>
              </a:ext>
              <a:ext uri="{C183D7F6-B498-43B3-948B-1728B52AA6E4}">
                <adec:decorative xmlns:adec="http://schemas.microsoft.com/office/drawing/2017/decorative" val="1"/>
              </a:ext>
            </a:extLst>
          </p:cNvPr>
          <p:cNvSpPr>
            <a:spLocks noChangeAspect="1"/>
          </p:cNvSpPr>
          <p:nvPr/>
        </p:nvSpPr>
        <p:spPr>
          <a:xfrm>
            <a:off x="1647920" y="3435587"/>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C5120C15-45B2-3544-0C81-8643165BD467}"/>
              </a:ext>
              <a:ext uri="{C183D7F6-B498-43B3-948B-1728B52AA6E4}">
                <adec:decorative xmlns:adec="http://schemas.microsoft.com/office/drawing/2017/decorative" val="1"/>
              </a:ext>
            </a:extLst>
          </p:cNvPr>
          <p:cNvSpPr>
            <a:spLocks noChangeAspect="1"/>
          </p:cNvSpPr>
          <p:nvPr/>
        </p:nvSpPr>
        <p:spPr>
          <a:xfrm>
            <a:off x="2960303"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77FC58B-F759-0540-A484-13F7044EBA25}"/>
              </a:ext>
              <a:ext uri="{C183D7F6-B498-43B3-948B-1728B52AA6E4}">
                <adec:decorative xmlns:adec="http://schemas.microsoft.com/office/drawing/2017/decorative" val="1"/>
              </a:ext>
            </a:extLst>
          </p:cNvPr>
          <p:cNvSpPr>
            <a:spLocks noChangeAspect="1"/>
          </p:cNvSpPr>
          <p:nvPr/>
        </p:nvSpPr>
        <p:spPr>
          <a:xfrm>
            <a:off x="4396350"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AAC4803-6F83-8958-F201-045D97A6CC93}"/>
              </a:ext>
              <a:ext uri="{C183D7F6-B498-43B3-948B-1728B52AA6E4}">
                <adec:decorative xmlns:adec="http://schemas.microsoft.com/office/drawing/2017/decorative" val="1"/>
              </a:ext>
            </a:extLst>
          </p:cNvPr>
          <p:cNvSpPr>
            <a:spLocks noChangeAspect="1"/>
          </p:cNvSpPr>
          <p:nvPr/>
        </p:nvSpPr>
        <p:spPr>
          <a:xfrm>
            <a:off x="5832397"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021D0CF-7129-CDC6-EFB4-651A31C3A8A1}"/>
              </a:ext>
              <a:ext uri="{C183D7F6-B498-43B3-948B-1728B52AA6E4}">
                <adec:decorative xmlns:adec="http://schemas.microsoft.com/office/drawing/2017/decorative" val="1"/>
              </a:ext>
            </a:extLst>
          </p:cNvPr>
          <p:cNvSpPr>
            <a:spLocks noChangeAspect="1"/>
          </p:cNvSpPr>
          <p:nvPr/>
        </p:nvSpPr>
        <p:spPr>
          <a:xfrm>
            <a:off x="7268444"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6C9564B-F478-9B0F-54AA-F4EC60168271}"/>
              </a:ext>
              <a:ext uri="{C183D7F6-B498-43B3-948B-1728B52AA6E4}">
                <adec:decorative xmlns:adec="http://schemas.microsoft.com/office/drawing/2017/decorative" val="1"/>
              </a:ext>
            </a:extLst>
          </p:cNvPr>
          <p:cNvSpPr>
            <a:spLocks noChangeAspect="1"/>
          </p:cNvSpPr>
          <p:nvPr/>
        </p:nvSpPr>
        <p:spPr>
          <a:xfrm>
            <a:off x="8704491" y="3435587"/>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D5B522A-84D8-F738-E51E-CB138D29C788}"/>
              </a:ext>
              <a:ext uri="{C183D7F6-B498-43B3-948B-1728B52AA6E4}">
                <adec:decorative xmlns:adec="http://schemas.microsoft.com/office/drawing/2017/decorative" val="1"/>
              </a:ext>
            </a:extLst>
          </p:cNvPr>
          <p:cNvSpPr>
            <a:spLocks noChangeAspect="1"/>
          </p:cNvSpPr>
          <p:nvPr/>
        </p:nvSpPr>
        <p:spPr>
          <a:xfrm>
            <a:off x="10140538" y="3429000"/>
            <a:ext cx="594360" cy="594360"/>
          </a:xfrm>
          <a:prstGeom prst="ellipse">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7EA3AC7-75C8-A956-18CC-9F922C4FFBE9}"/>
              </a:ext>
            </a:extLst>
          </p:cNvPr>
          <p:cNvSpPr txBox="1"/>
          <p:nvPr/>
        </p:nvSpPr>
        <p:spPr>
          <a:xfrm>
            <a:off x="5563827" y="4405295"/>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neutral</a:t>
            </a:r>
          </a:p>
        </p:txBody>
      </p:sp>
      <p:sp>
        <p:nvSpPr>
          <p:cNvPr id="14" name="TextBox 13">
            <a:extLst>
              <a:ext uri="{FF2B5EF4-FFF2-40B4-BE49-F238E27FC236}">
                <a16:creationId xmlns:a16="http://schemas.microsoft.com/office/drawing/2014/main" id="{11A14194-1E29-AFA9-451B-4B4A76018531}"/>
              </a:ext>
            </a:extLst>
          </p:cNvPr>
          <p:cNvSpPr txBox="1"/>
          <p:nvPr/>
        </p:nvSpPr>
        <p:spPr>
          <a:xfrm>
            <a:off x="1369424" y="4287727"/>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strongly disagree</a:t>
            </a:r>
          </a:p>
        </p:txBody>
      </p:sp>
      <p:sp>
        <p:nvSpPr>
          <p:cNvPr id="15" name="TextBox 14">
            <a:extLst>
              <a:ext uri="{FF2B5EF4-FFF2-40B4-BE49-F238E27FC236}">
                <a16:creationId xmlns:a16="http://schemas.microsoft.com/office/drawing/2014/main" id="{DE4A2BF8-85DD-A026-E358-F8F2FA19DF0F}"/>
              </a:ext>
            </a:extLst>
          </p:cNvPr>
          <p:cNvSpPr txBox="1"/>
          <p:nvPr/>
        </p:nvSpPr>
        <p:spPr>
          <a:xfrm>
            <a:off x="9877203" y="4266795"/>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strongly agree</a:t>
            </a:r>
          </a:p>
        </p:txBody>
      </p:sp>
      <p:sp>
        <p:nvSpPr>
          <p:cNvPr id="16" name="TextBox 15">
            <a:extLst>
              <a:ext uri="{FF2B5EF4-FFF2-40B4-BE49-F238E27FC236}">
                <a16:creationId xmlns:a16="http://schemas.microsoft.com/office/drawing/2014/main" id="{DCDE84C8-9A67-3774-A47C-A910BA1B7AE2}"/>
              </a:ext>
            </a:extLst>
          </p:cNvPr>
          <p:cNvSpPr txBox="1"/>
          <p:nvPr/>
        </p:nvSpPr>
        <p:spPr>
          <a:xfrm>
            <a:off x="8469498" y="4388543"/>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agree</a:t>
            </a:r>
          </a:p>
        </p:txBody>
      </p:sp>
      <p:sp>
        <p:nvSpPr>
          <p:cNvPr id="17" name="TextBox 16">
            <a:extLst>
              <a:ext uri="{FF2B5EF4-FFF2-40B4-BE49-F238E27FC236}">
                <a16:creationId xmlns:a16="http://schemas.microsoft.com/office/drawing/2014/main" id="{680CAAFD-538B-ADDD-835B-B61D1357BD2A}"/>
              </a:ext>
            </a:extLst>
          </p:cNvPr>
          <p:cNvSpPr txBox="1"/>
          <p:nvPr/>
        </p:nvSpPr>
        <p:spPr>
          <a:xfrm>
            <a:off x="6971532" y="4266795"/>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mildly agree</a:t>
            </a:r>
          </a:p>
        </p:txBody>
      </p:sp>
      <p:sp>
        <p:nvSpPr>
          <p:cNvPr id="18" name="TextBox 17">
            <a:extLst>
              <a:ext uri="{FF2B5EF4-FFF2-40B4-BE49-F238E27FC236}">
                <a16:creationId xmlns:a16="http://schemas.microsoft.com/office/drawing/2014/main" id="{DEE32712-A4EC-CFAD-54F4-45EB0849B2E9}"/>
              </a:ext>
            </a:extLst>
          </p:cNvPr>
          <p:cNvSpPr txBox="1"/>
          <p:nvPr/>
        </p:nvSpPr>
        <p:spPr>
          <a:xfrm>
            <a:off x="4073656" y="4285204"/>
            <a:ext cx="1064346" cy="646331"/>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mildly disagree</a:t>
            </a:r>
          </a:p>
        </p:txBody>
      </p:sp>
      <p:sp>
        <p:nvSpPr>
          <p:cNvPr id="19" name="TextBox 18">
            <a:extLst>
              <a:ext uri="{FF2B5EF4-FFF2-40B4-BE49-F238E27FC236}">
                <a16:creationId xmlns:a16="http://schemas.microsoft.com/office/drawing/2014/main" id="{687373F4-B0F9-B531-3AD4-FE8B9E8FDC9F}"/>
              </a:ext>
            </a:extLst>
          </p:cNvPr>
          <p:cNvSpPr txBox="1"/>
          <p:nvPr/>
        </p:nvSpPr>
        <p:spPr>
          <a:xfrm>
            <a:off x="2605449" y="4423703"/>
            <a:ext cx="1064346" cy="369332"/>
          </a:xfrm>
          <a:prstGeom prst="rect">
            <a:avLst/>
          </a:prstGeom>
          <a:noFill/>
        </p:spPr>
        <p:txBody>
          <a:bodyPr wrap="square" rtlCol="0">
            <a:spAutoFit/>
          </a:bodyPr>
          <a:lstStyle/>
          <a:p>
            <a:pPr algn="ctr"/>
            <a:r>
              <a:rPr lang="en-US" dirty="0">
                <a:solidFill>
                  <a:schemeClr val="bg1"/>
                </a:solidFill>
                <a:latin typeface="Arial Nova Light" panose="020B0304020202020204" pitchFamily="34" charset="0"/>
              </a:rPr>
              <a:t>disagree</a:t>
            </a:r>
          </a:p>
        </p:txBody>
      </p:sp>
      <p:cxnSp>
        <p:nvCxnSpPr>
          <p:cNvPr id="2" name="Straight Arrow Connector 1">
            <a:extLst>
              <a:ext uri="{FF2B5EF4-FFF2-40B4-BE49-F238E27FC236}">
                <a16:creationId xmlns:a16="http://schemas.microsoft.com/office/drawing/2014/main" id="{A535DFD0-693C-4547-71CC-26969AD20E58}"/>
              </a:ext>
              <a:ext uri="{C183D7F6-B498-43B3-948B-1728B52AA6E4}">
                <adec:decorative xmlns:adec="http://schemas.microsoft.com/office/drawing/2017/decorative" val="1"/>
              </a:ext>
            </a:extLst>
          </p:cNvPr>
          <p:cNvCxnSpPr>
            <a:cxnSpLocks/>
          </p:cNvCxnSpPr>
          <p:nvPr/>
        </p:nvCxnSpPr>
        <p:spPr>
          <a:xfrm>
            <a:off x="1692702" y="5916579"/>
            <a:ext cx="8698656" cy="918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9907E02-6125-81B6-5711-3516650A0911}"/>
              </a:ext>
              <a:ext uri="{C183D7F6-B498-43B3-948B-1728B52AA6E4}">
                <adec:decorative xmlns:adec="http://schemas.microsoft.com/office/drawing/2017/decorative" val="1"/>
              </a:ext>
            </a:extLst>
          </p:cNvPr>
          <p:cNvCxnSpPr>
            <a:cxnSpLocks/>
          </p:cNvCxnSpPr>
          <p:nvPr/>
        </p:nvCxnSpPr>
        <p:spPr>
          <a:xfrm>
            <a:off x="7533564" y="5485993"/>
            <a:ext cx="287581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47A073D-7ADB-B6BD-EA84-43F30EA04481}"/>
              </a:ext>
            </a:extLst>
          </p:cNvPr>
          <p:cNvSpPr txBox="1"/>
          <p:nvPr/>
        </p:nvSpPr>
        <p:spPr>
          <a:xfrm>
            <a:off x="4667162" y="5731913"/>
            <a:ext cx="3519189" cy="369332"/>
          </a:xfrm>
          <a:prstGeom prst="rect">
            <a:avLst/>
          </a:prstGeom>
          <a:solidFill>
            <a:srgbClr val="185741"/>
          </a:solidFill>
        </p:spPr>
        <p:txBody>
          <a:bodyPr wrap="square" rtlCol="0">
            <a:spAutoFit/>
          </a:bodyPr>
          <a:lstStyle/>
          <a:p>
            <a:pPr algn="ctr"/>
            <a:r>
              <a:rPr lang="en-CA" dirty="0">
                <a:solidFill>
                  <a:schemeClr val="accent4">
                    <a:lumMod val="20000"/>
                    <a:lumOff val="80000"/>
                  </a:schemeClr>
                </a:solidFill>
                <a:latin typeface="Arial Nova Light" panose="020B0304020202020204" pitchFamily="34" charset="0"/>
              </a:rPr>
              <a:t>IP,  CBR, Traditional course work</a:t>
            </a:r>
          </a:p>
        </p:txBody>
      </p:sp>
      <p:sp>
        <p:nvSpPr>
          <p:cNvPr id="22" name="TextBox 21">
            <a:extLst>
              <a:ext uri="{FF2B5EF4-FFF2-40B4-BE49-F238E27FC236}">
                <a16:creationId xmlns:a16="http://schemas.microsoft.com/office/drawing/2014/main" id="{A545F929-D53C-0837-8111-6F74600B2C8B}"/>
              </a:ext>
            </a:extLst>
          </p:cNvPr>
          <p:cNvSpPr txBox="1"/>
          <p:nvPr/>
        </p:nvSpPr>
        <p:spPr>
          <a:xfrm>
            <a:off x="8595815" y="5288505"/>
            <a:ext cx="822661" cy="369332"/>
          </a:xfrm>
          <a:prstGeom prst="rect">
            <a:avLst/>
          </a:prstGeom>
          <a:solidFill>
            <a:srgbClr val="185741"/>
          </a:solidFill>
        </p:spPr>
        <p:txBody>
          <a:bodyPr wrap="none" rtlCol="0">
            <a:spAutoFit/>
          </a:bodyPr>
          <a:lstStyle/>
          <a:p>
            <a:r>
              <a:rPr lang="en-CA" dirty="0">
                <a:solidFill>
                  <a:schemeClr val="accent4">
                    <a:lumMod val="20000"/>
                    <a:lumOff val="80000"/>
                  </a:schemeClr>
                </a:solidFill>
                <a:latin typeface="Arial Nova Light" panose="020B0304020202020204" pitchFamily="34" charset="0"/>
              </a:rPr>
              <a:t>Thesis</a:t>
            </a:r>
          </a:p>
        </p:txBody>
      </p:sp>
      <p:sp>
        <p:nvSpPr>
          <p:cNvPr id="24" name="Rectangle 23">
            <a:extLst>
              <a:ext uri="{FF2B5EF4-FFF2-40B4-BE49-F238E27FC236}">
                <a16:creationId xmlns:a16="http://schemas.microsoft.com/office/drawing/2014/main" id="{9F5CD27D-3C69-2A3F-1EF3-9A3169E11BD2}"/>
              </a:ext>
              <a:ext uri="{C183D7F6-B498-43B3-948B-1728B52AA6E4}">
                <adec:decorative xmlns:adec="http://schemas.microsoft.com/office/drawing/2017/decorative" val="1"/>
              </a:ext>
            </a:extLst>
          </p:cNvPr>
          <p:cNvSpPr/>
          <p:nvPr/>
        </p:nvSpPr>
        <p:spPr>
          <a:xfrm>
            <a:off x="824552" y="4931535"/>
            <a:ext cx="10312021" cy="1305492"/>
          </a:xfrm>
          <a:prstGeom prst="rect">
            <a:avLst/>
          </a:prstGeom>
          <a:solidFill>
            <a:srgbClr val="185741"/>
          </a:solidFill>
          <a:ln>
            <a:solidFill>
              <a:srgbClr val="1857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818191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34753-F746-DE74-1D28-E82578605A1D}"/>
              </a:ext>
            </a:extLst>
          </p:cNvPr>
          <p:cNvSpPr>
            <a:spLocks noGrp="1"/>
          </p:cNvSpPr>
          <p:nvPr>
            <p:ph type="ctrTitle"/>
          </p:nvPr>
        </p:nvSpPr>
        <p:spPr>
          <a:xfrm>
            <a:off x="1524000" y="2235200"/>
            <a:ext cx="9144000" cy="2387600"/>
          </a:xfrm>
        </p:spPr>
        <p:txBody>
          <a:bodyPr anchor="ctr"/>
          <a:lstStyle/>
          <a:p>
            <a:r>
              <a:rPr lang="en-US"/>
              <a:t>ETHICS AND RESPONSIBILITIES</a:t>
            </a:r>
          </a:p>
        </p:txBody>
      </p:sp>
    </p:spTree>
    <p:extLst>
      <p:ext uri="{BB962C8B-B14F-4D97-AF65-F5344CB8AC3E}">
        <p14:creationId xmlns:p14="http://schemas.microsoft.com/office/powerpoint/2010/main" val="18347653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Ethical considerations in Forensic Science</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199" y="1690688"/>
            <a:ext cx="10515599" cy="4665662"/>
          </a:xfrm>
        </p:spPr>
        <p:txBody>
          <a:bodyPr>
            <a:normAutofit/>
          </a:bodyPr>
          <a:lstStyle/>
          <a:p>
            <a:r>
              <a:rPr lang="en-US" sz="2400" b="1">
                <a:latin typeface="Arial Nova Light" panose="020B0304020202020204" pitchFamily="34" charset="0"/>
              </a:rPr>
              <a:t>Ethics: </a:t>
            </a:r>
            <a:r>
              <a:rPr lang="en-US" sz="2400">
                <a:latin typeface="Arial Nova Light" panose="020B0304020202020204" pitchFamily="34" charset="0"/>
              </a:rPr>
              <a:t>a branch of philosophy concerned with individual conduct within a social structure</a:t>
            </a:r>
          </a:p>
          <a:p>
            <a:pPr marL="0" indent="0">
              <a:buNone/>
            </a:pPr>
            <a:endParaRPr lang="en-US" sz="2400">
              <a:latin typeface="Arial Nova Light" panose="020B0304020202020204" pitchFamily="34" charset="0"/>
            </a:endParaRPr>
          </a:p>
          <a:p>
            <a:pPr lvl="1"/>
            <a:r>
              <a:rPr lang="en-US" sz="2000">
                <a:latin typeface="Arial Nova Light" panose="020B0304020202020204" pitchFamily="34" charset="0"/>
              </a:rPr>
              <a:t>Examines rationality for moral judgements, and attempts to determine what is morally right and wrong, what is just or unjust</a:t>
            </a:r>
          </a:p>
          <a:p>
            <a:endParaRPr lang="en-US" sz="2400">
              <a:latin typeface="Arial Nova Light" panose="020B0304020202020204" pitchFamily="34" charset="0"/>
            </a:endParaRPr>
          </a:p>
          <a:p>
            <a:r>
              <a:rPr lang="en-US" sz="2400">
                <a:latin typeface="Arial Nova Light" panose="020B0304020202020204" pitchFamily="34" charset="0"/>
              </a:rPr>
              <a:t>The words ethics and morality are often used interchangeably in common parlance, but ethics are often “codified” by the social constructs that follow them (e.g., professional societies, universities, etc.)</a:t>
            </a:r>
            <a:br>
              <a:rPr lang="en-US" sz="2400">
                <a:latin typeface="Arial Nova Light" panose="020B0304020202020204" pitchFamily="34" charset="0"/>
              </a:rPr>
            </a:br>
            <a:endParaRPr lang="en-US" sz="2400">
              <a:latin typeface="Arial Nova Light" panose="020B0304020202020204" pitchFamily="34" charset="0"/>
            </a:endParaRPr>
          </a:p>
          <a:p>
            <a:pPr lvl="1"/>
            <a:r>
              <a:rPr lang="en-US" sz="2000">
                <a:latin typeface="Arial Nova Light" panose="020B0304020202020204" pitchFamily="34" charset="0"/>
              </a:rPr>
              <a:t>Ethical considerations, in theory, should be more-or-less agreed upon, by a society</a:t>
            </a:r>
          </a:p>
          <a:p>
            <a:pPr lvl="1"/>
            <a:r>
              <a:rPr lang="en-US" sz="2000">
                <a:latin typeface="Arial Nova Light" panose="020B0304020202020204" pitchFamily="34" charset="0"/>
              </a:rPr>
              <a:t>Ethical considerations should evolve with time and experience</a:t>
            </a:r>
          </a:p>
        </p:txBody>
      </p:sp>
    </p:spTree>
    <p:extLst>
      <p:ext uri="{BB962C8B-B14F-4D97-AF65-F5344CB8AC3E}">
        <p14:creationId xmlns:p14="http://schemas.microsoft.com/office/powerpoint/2010/main" val="2723651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Ethics as a professional forens</a:t>
            </a:r>
            <a:r>
              <a:rPr lang="en-US"/>
              <a:t>ic scientist</a:t>
            </a:r>
            <a:endParaRPr lang="en-US">
              <a:latin typeface="Arial Nova Light" panose="020B0304020202020204" pitchFamily="34" charset="0"/>
            </a:endParaRP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199" y="1690688"/>
            <a:ext cx="10515599" cy="4709724"/>
          </a:xfrm>
        </p:spPr>
        <p:txBody>
          <a:bodyPr>
            <a:normAutofit/>
          </a:bodyPr>
          <a:lstStyle/>
          <a:p>
            <a:r>
              <a:rPr lang="en-US" sz="2400">
                <a:latin typeface="Arial Nova Light" panose="020B0304020202020204" pitchFamily="34" charset="0"/>
              </a:rPr>
              <a:t>Almost all professional organizations use a </a:t>
            </a:r>
            <a:r>
              <a:rPr lang="en-US" sz="2400" i="1">
                <a:latin typeface="Arial Nova Light" panose="020B0304020202020204" pitchFamily="34" charset="0"/>
              </a:rPr>
              <a:t>code of conduct</a:t>
            </a:r>
            <a:r>
              <a:rPr lang="en-US" sz="2400">
                <a:latin typeface="Arial Nova Light" panose="020B0304020202020204" pitchFamily="34" charset="0"/>
              </a:rPr>
              <a:t> or </a:t>
            </a:r>
            <a:r>
              <a:rPr lang="en-US" sz="2400" i="1">
                <a:latin typeface="Arial Nova Light" panose="020B0304020202020204" pitchFamily="34" charset="0"/>
              </a:rPr>
              <a:t>code of ethics</a:t>
            </a:r>
            <a:r>
              <a:rPr lang="en-US" sz="2400">
                <a:latin typeface="Arial Nova Light" panose="020B0304020202020204" pitchFamily="34" charset="0"/>
              </a:rPr>
              <a:t> to provide guidance to their members and set expectations for their </a:t>
            </a:r>
            <a:r>
              <a:rPr lang="en-US" sz="2400" i="1">
                <a:latin typeface="Arial Nova Light" panose="020B0304020202020204" pitchFamily="34" charset="0"/>
              </a:rPr>
              <a:t>customers</a:t>
            </a:r>
          </a:p>
          <a:p>
            <a:pPr marL="457200" lvl="1" indent="0">
              <a:buNone/>
            </a:pPr>
            <a:endParaRPr lang="en-US" sz="2000">
              <a:latin typeface="Arial Nova Light" panose="020B0304020202020204" pitchFamily="34" charset="0"/>
            </a:endParaRPr>
          </a:p>
          <a:p>
            <a:r>
              <a:rPr lang="en-US" sz="2400">
                <a:latin typeface="Arial Nova Light" panose="020B0304020202020204" pitchFamily="34" charset="0"/>
              </a:rPr>
              <a:t>Broadly, two models for “codes”:</a:t>
            </a:r>
          </a:p>
          <a:p>
            <a:pPr lvl="1"/>
            <a:endParaRPr lang="en-US" sz="1000">
              <a:latin typeface="Arial Nova Light" panose="020B0304020202020204" pitchFamily="34" charset="0"/>
            </a:endParaRPr>
          </a:p>
          <a:p>
            <a:pPr lvl="1"/>
            <a:r>
              <a:rPr lang="en-US" sz="2000" b="1">
                <a:latin typeface="Arial Nova Light" panose="020B0304020202020204" pitchFamily="34" charset="0"/>
              </a:rPr>
              <a:t>General Models</a:t>
            </a:r>
            <a:r>
              <a:rPr lang="en-US" sz="2000">
                <a:latin typeface="Arial Nova Light" panose="020B0304020202020204" pitchFamily="34" charset="0"/>
              </a:rPr>
              <a:t>: Often used by large umbrella organizations and </a:t>
            </a:r>
            <a:r>
              <a:rPr lang="en-US" sz="2000" i="1">
                <a:latin typeface="Arial Nova Light" panose="020B0304020202020204" pitchFamily="34" charset="0"/>
              </a:rPr>
              <a:t>societies </a:t>
            </a:r>
            <a:r>
              <a:rPr lang="en-US" sz="2000">
                <a:latin typeface="Arial Nova Light" panose="020B0304020202020204" pitchFamily="34" charset="0"/>
              </a:rPr>
              <a:t>with voluntary membership. E.g., Code of Conduct of the Canadian Society of Forensic Science (CSFS)</a:t>
            </a:r>
          </a:p>
          <a:p>
            <a:pPr lvl="1"/>
            <a:endParaRPr lang="en-US" sz="1000">
              <a:latin typeface="Arial Nova Light" panose="020B0304020202020204" pitchFamily="34" charset="0"/>
            </a:endParaRPr>
          </a:p>
          <a:p>
            <a:pPr lvl="1"/>
            <a:r>
              <a:rPr lang="en-US" sz="2000" b="1">
                <a:latin typeface="Arial Nova Light" panose="020B0304020202020204" pitchFamily="34" charset="0"/>
              </a:rPr>
              <a:t>Specific Models</a:t>
            </a:r>
            <a:r>
              <a:rPr lang="en-US" sz="2000">
                <a:latin typeface="Arial Nova Light" panose="020B0304020202020204" pitchFamily="34" charset="0"/>
              </a:rPr>
              <a:t>: Often used by specific organizations and organization units with employees. E.g., Code of Conduct of the Royal Canadian Mounted Police (RCMP)</a:t>
            </a:r>
          </a:p>
          <a:p>
            <a:endParaRPr lang="en-US" sz="2400">
              <a:latin typeface="Arial Nova Light" panose="020B0304020202020204" pitchFamily="34" charset="0"/>
            </a:endParaRPr>
          </a:p>
          <a:p>
            <a:endParaRPr lang="en-US" sz="2000">
              <a:latin typeface="Arial Nova Light" panose="020B0304020202020204" pitchFamily="34" charset="0"/>
            </a:endParaRPr>
          </a:p>
        </p:txBody>
      </p:sp>
    </p:spTree>
    <p:extLst>
      <p:ext uri="{BB962C8B-B14F-4D97-AF65-F5344CB8AC3E}">
        <p14:creationId xmlns:p14="http://schemas.microsoft.com/office/powerpoint/2010/main" val="40972581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CSFS Rules of Professional Conduct </a:t>
            </a:r>
          </a:p>
        </p:txBody>
      </p:sp>
      <p:graphicFrame>
        <p:nvGraphicFramePr>
          <p:cNvPr id="5" name="Content Placeholder 4">
            <a:extLst>
              <a:ext uri="{FF2B5EF4-FFF2-40B4-BE49-F238E27FC236}">
                <a16:creationId xmlns:a16="http://schemas.microsoft.com/office/drawing/2014/main" id="{27CC5534-24A9-DFE5-4014-C4CB05C2DBCA}"/>
              </a:ext>
            </a:extLst>
          </p:cNvPr>
          <p:cNvGraphicFramePr>
            <a:graphicFrameLocks noGrp="1"/>
          </p:cNvGraphicFramePr>
          <p:nvPr>
            <p:ph idx="1"/>
          </p:nvPr>
        </p:nvGraphicFramePr>
        <p:xfrm>
          <a:off x="838200" y="2526630"/>
          <a:ext cx="10515600" cy="3312160"/>
        </p:xfrm>
        <a:graphic>
          <a:graphicData uri="http://schemas.openxmlformats.org/drawingml/2006/table">
            <a:tbl>
              <a:tblPr firstRow="1" bandRow="1">
                <a:tableStyleId>{5C22544A-7EE6-4342-B048-85BDC9FD1C3A}</a:tableStyleId>
              </a:tblPr>
              <a:tblGrid>
                <a:gridCol w="459259">
                  <a:extLst>
                    <a:ext uri="{9D8B030D-6E8A-4147-A177-3AD203B41FA5}">
                      <a16:colId xmlns:a16="http://schemas.microsoft.com/office/drawing/2014/main" val="474377314"/>
                    </a:ext>
                  </a:extLst>
                </a:gridCol>
                <a:gridCol w="10056341">
                  <a:extLst>
                    <a:ext uri="{9D8B030D-6E8A-4147-A177-3AD203B41FA5}">
                      <a16:colId xmlns:a16="http://schemas.microsoft.com/office/drawing/2014/main" val="514467023"/>
                    </a:ext>
                  </a:extLst>
                </a:gridCol>
              </a:tblGrid>
              <a:tr h="370840">
                <a:tc>
                  <a:txBody>
                    <a:bodyPr/>
                    <a:lstStyle/>
                    <a:p>
                      <a:endParaRPr lang="en-CA" b="0" i="0">
                        <a:solidFill>
                          <a:schemeClr val="tx1"/>
                        </a:solidFill>
                        <a:latin typeface="Arial Nova Light" panose="020B0304020202020204" pitchFamily="34" charset="0"/>
                      </a:endParaRPr>
                    </a:p>
                  </a:txBody>
                  <a:tcPr>
                    <a:solidFill>
                      <a:schemeClr val="bg1"/>
                    </a:solidFill>
                  </a:tcPr>
                </a:tc>
                <a:tc>
                  <a:txBody>
                    <a:bodyPr/>
                    <a:lstStyle/>
                    <a:p>
                      <a:r>
                        <a:rPr lang="en-CA" sz="1800" b="0" i="1" kern="1200">
                          <a:solidFill>
                            <a:schemeClr val="tx1"/>
                          </a:solidFill>
                          <a:effectLst/>
                          <a:latin typeface="Arial Nova Light" panose="020B0304020202020204" pitchFamily="34" charset="0"/>
                          <a:ea typeface="+mn-ea"/>
                          <a:cs typeface="+mn-cs"/>
                        </a:rPr>
                        <a:t>with respect to their responsibilities to the C.S.F.S., shall:</a:t>
                      </a:r>
                    </a:p>
                  </a:txBody>
                  <a:tcPr>
                    <a:solidFill>
                      <a:schemeClr val="bg1"/>
                    </a:solidFill>
                  </a:tcPr>
                </a:tc>
                <a:extLst>
                  <a:ext uri="{0D108BD9-81ED-4DB2-BD59-A6C34878D82A}">
                    <a16:rowId xmlns:a16="http://schemas.microsoft.com/office/drawing/2014/main" val="3698652133"/>
                  </a:ext>
                </a:extLst>
              </a:tr>
              <a:tr h="370840">
                <a:tc>
                  <a:txBody>
                    <a:bodyPr/>
                    <a:lstStyle/>
                    <a:p>
                      <a:r>
                        <a:rPr lang="en-CA" b="0" i="0">
                          <a:solidFill>
                            <a:schemeClr val="tx1"/>
                          </a:solidFill>
                          <a:latin typeface="Arial Nova Light" panose="020B0304020202020204" pitchFamily="34" charset="0"/>
                        </a:rPr>
                        <a:t>1</a:t>
                      </a:r>
                    </a:p>
                  </a:txBody>
                  <a:tcPr>
                    <a:solidFill>
                      <a:schemeClr val="bg1"/>
                    </a:solidFill>
                  </a:tcPr>
                </a:tc>
                <a:tc>
                  <a:txBody>
                    <a:bodyPr/>
                    <a:lstStyle/>
                    <a:p>
                      <a:r>
                        <a:rPr lang="en-CA" sz="1800" b="0" i="0" kern="1200">
                          <a:solidFill>
                            <a:schemeClr val="tx1"/>
                          </a:solidFill>
                          <a:effectLst/>
                          <a:latin typeface="Arial Nova Light" panose="020B0304020202020204" pitchFamily="34" charset="0"/>
                          <a:ea typeface="+mn-ea"/>
                          <a:cs typeface="+mn-cs"/>
                        </a:rPr>
                        <a:t>comply with the By-laws of the Society;</a:t>
                      </a:r>
                      <a:endParaRPr lang="en-CA" b="0" i="0">
                        <a:solidFill>
                          <a:schemeClr val="tx1"/>
                        </a:solidFill>
                        <a:latin typeface="Arial Nova Light" panose="020B0304020202020204" pitchFamily="34" charset="0"/>
                      </a:endParaRPr>
                    </a:p>
                  </a:txBody>
                  <a:tcPr>
                    <a:solidFill>
                      <a:schemeClr val="bg1"/>
                    </a:solidFill>
                  </a:tcPr>
                </a:tc>
                <a:extLst>
                  <a:ext uri="{0D108BD9-81ED-4DB2-BD59-A6C34878D82A}">
                    <a16:rowId xmlns:a16="http://schemas.microsoft.com/office/drawing/2014/main" val="1935245445"/>
                  </a:ext>
                </a:extLst>
              </a:tr>
              <a:tr h="370840">
                <a:tc>
                  <a:txBody>
                    <a:bodyPr/>
                    <a:lstStyle/>
                    <a:p>
                      <a:r>
                        <a:rPr lang="en-CA" b="0" i="0">
                          <a:solidFill>
                            <a:schemeClr val="tx1"/>
                          </a:solidFill>
                          <a:latin typeface="Arial Nova Light" panose="020B0304020202020204" pitchFamily="34" charset="0"/>
                        </a:rPr>
                        <a:t>2</a:t>
                      </a:r>
                    </a:p>
                  </a:txBody>
                  <a:tcPr>
                    <a:solidFill>
                      <a:schemeClr val="bg1"/>
                    </a:solidFill>
                  </a:tcPr>
                </a:tc>
                <a:tc>
                  <a:txBody>
                    <a:bodyPr/>
                    <a:lstStyle/>
                    <a:p>
                      <a:r>
                        <a:rPr lang="en-CA" sz="1800" b="0" i="0" kern="1200">
                          <a:solidFill>
                            <a:schemeClr val="tx1"/>
                          </a:solidFill>
                          <a:effectLst/>
                          <a:latin typeface="Arial Nova Light" panose="020B0304020202020204" pitchFamily="34" charset="0"/>
                          <a:ea typeface="+mn-ea"/>
                          <a:cs typeface="+mn-cs"/>
                        </a:rPr>
                        <a:t>report to the Board, any violation of these “Rules of Professional Conduct” by another member of the Society;</a:t>
                      </a:r>
                      <a:endParaRPr lang="en-CA" b="0" i="0">
                        <a:solidFill>
                          <a:schemeClr val="tx1"/>
                        </a:solidFill>
                        <a:latin typeface="Arial Nova Light" panose="020B0304020202020204" pitchFamily="34" charset="0"/>
                      </a:endParaRPr>
                    </a:p>
                  </a:txBody>
                  <a:tcPr>
                    <a:solidFill>
                      <a:schemeClr val="bg1"/>
                    </a:solidFill>
                  </a:tcPr>
                </a:tc>
                <a:extLst>
                  <a:ext uri="{0D108BD9-81ED-4DB2-BD59-A6C34878D82A}">
                    <a16:rowId xmlns:a16="http://schemas.microsoft.com/office/drawing/2014/main" val="138797721"/>
                  </a:ext>
                </a:extLst>
              </a:tr>
              <a:tr h="370840">
                <a:tc>
                  <a:txBody>
                    <a:bodyPr/>
                    <a:lstStyle/>
                    <a:p>
                      <a:r>
                        <a:rPr lang="en-CA" b="0" i="0">
                          <a:solidFill>
                            <a:schemeClr val="tx1"/>
                          </a:solidFill>
                          <a:latin typeface="Arial Nova Light" panose="020B0304020202020204" pitchFamily="34" charset="0"/>
                        </a:rPr>
                        <a:t>3</a:t>
                      </a:r>
                    </a:p>
                  </a:txBody>
                  <a:tcPr>
                    <a:solidFill>
                      <a:schemeClr val="bg1"/>
                    </a:solidFill>
                  </a:tcPr>
                </a:tc>
                <a:tc>
                  <a:txBody>
                    <a:bodyPr/>
                    <a:lstStyle/>
                    <a:p>
                      <a:r>
                        <a:rPr lang="en-CA" sz="1800" b="0" i="0" kern="1200">
                          <a:solidFill>
                            <a:schemeClr val="tx1"/>
                          </a:solidFill>
                          <a:effectLst/>
                          <a:latin typeface="Arial Nova Light" panose="020B0304020202020204" pitchFamily="34" charset="0"/>
                          <a:ea typeface="+mn-ea"/>
                          <a:cs typeface="+mn-cs"/>
                        </a:rPr>
                        <a:t>accept that their membership in the Society demonstrates an active interest in forensic science however, this membership does not by itself mean that they have the necessary qualifications to practice in their forensic science discipline nor does it mean that they are competent in their forensic science discipline;</a:t>
                      </a:r>
                      <a:endParaRPr lang="en-CA" b="0" i="0">
                        <a:solidFill>
                          <a:schemeClr val="tx1"/>
                        </a:solidFill>
                        <a:latin typeface="Arial Nova Light" panose="020B0304020202020204" pitchFamily="34" charset="0"/>
                      </a:endParaRPr>
                    </a:p>
                  </a:txBody>
                  <a:tcPr>
                    <a:solidFill>
                      <a:schemeClr val="bg1"/>
                    </a:solidFill>
                  </a:tcPr>
                </a:tc>
                <a:extLst>
                  <a:ext uri="{0D108BD9-81ED-4DB2-BD59-A6C34878D82A}">
                    <a16:rowId xmlns:a16="http://schemas.microsoft.com/office/drawing/2014/main" val="1836672594"/>
                  </a:ext>
                </a:extLst>
              </a:tr>
              <a:tr h="370840">
                <a:tc>
                  <a:txBody>
                    <a:bodyPr/>
                    <a:lstStyle/>
                    <a:p>
                      <a:endParaRPr lang="en-CA" b="0" i="0">
                        <a:solidFill>
                          <a:schemeClr val="tx1"/>
                        </a:solidFill>
                        <a:latin typeface="Arial Nova Light" panose="020B0304020202020204" pitchFamily="34" charset="0"/>
                      </a:endParaRPr>
                    </a:p>
                  </a:txBody>
                  <a:tcPr>
                    <a:solidFill>
                      <a:schemeClr val="bg1"/>
                    </a:solidFill>
                  </a:tcPr>
                </a:tc>
                <a:tc>
                  <a:txBody>
                    <a:bodyPr/>
                    <a:lstStyle/>
                    <a:p>
                      <a:endParaRPr lang="en-CA" b="0" i="0">
                        <a:solidFill>
                          <a:schemeClr val="tx1"/>
                        </a:solidFill>
                        <a:latin typeface="Arial Nova Light" panose="020B0304020202020204" pitchFamily="34" charset="0"/>
                      </a:endParaRPr>
                    </a:p>
                  </a:txBody>
                  <a:tcPr>
                    <a:solidFill>
                      <a:schemeClr val="bg1"/>
                    </a:solidFill>
                  </a:tcPr>
                </a:tc>
                <a:extLst>
                  <a:ext uri="{0D108BD9-81ED-4DB2-BD59-A6C34878D82A}">
                    <a16:rowId xmlns:a16="http://schemas.microsoft.com/office/drawing/2014/main" val="1437043105"/>
                  </a:ext>
                </a:extLst>
              </a:tr>
              <a:tr h="370840">
                <a:tc>
                  <a:txBody>
                    <a:bodyPr/>
                    <a:lstStyle/>
                    <a:p>
                      <a:endParaRPr lang="en-CA" b="0" i="0">
                        <a:solidFill>
                          <a:schemeClr val="tx1"/>
                        </a:solidFill>
                        <a:latin typeface="Arial Nova Light" panose="020B0304020202020204" pitchFamily="34" charset="0"/>
                      </a:endParaRPr>
                    </a:p>
                  </a:txBody>
                  <a:tcPr>
                    <a:solidFill>
                      <a:schemeClr val="bg1"/>
                    </a:solidFill>
                  </a:tcPr>
                </a:tc>
                <a:tc>
                  <a:txBody>
                    <a:bodyPr/>
                    <a:lstStyle/>
                    <a:p>
                      <a:endParaRPr lang="en-CA" b="0" i="0">
                        <a:solidFill>
                          <a:schemeClr val="tx1"/>
                        </a:solidFill>
                        <a:latin typeface="Arial Nova Light" panose="020B0304020202020204" pitchFamily="34" charset="0"/>
                      </a:endParaRPr>
                    </a:p>
                  </a:txBody>
                  <a:tcPr>
                    <a:solidFill>
                      <a:schemeClr val="bg1"/>
                    </a:solidFill>
                  </a:tcPr>
                </a:tc>
                <a:extLst>
                  <a:ext uri="{0D108BD9-81ED-4DB2-BD59-A6C34878D82A}">
                    <a16:rowId xmlns:a16="http://schemas.microsoft.com/office/drawing/2014/main" val="862177218"/>
                  </a:ext>
                </a:extLst>
              </a:tr>
            </a:tbl>
          </a:graphicData>
        </a:graphic>
      </p:graphicFrame>
      <p:sp>
        <p:nvSpPr>
          <p:cNvPr id="8" name="TextBox 7">
            <a:extLst>
              <a:ext uri="{FF2B5EF4-FFF2-40B4-BE49-F238E27FC236}">
                <a16:creationId xmlns:a16="http://schemas.microsoft.com/office/drawing/2014/main" id="{5D973B77-E6E4-68CE-95BE-148403CCBF07}"/>
              </a:ext>
            </a:extLst>
          </p:cNvPr>
          <p:cNvSpPr txBox="1"/>
          <p:nvPr/>
        </p:nvSpPr>
        <p:spPr>
          <a:xfrm>
            <a:off x="714631" y="1794745"/>
            <a:ext cx="8281087" cy="461665"/>
          </a:xfrm>
          <a:prstGeom prst="rect">
            <a:avLst/>
          </a:prstGeom>
          <a:noFill/>
        </p:spPr>
        <p:txBody>
          <a:bodyPr wrap="square">
            <a:spAutoFit/>
          </a:bodyPr>
          <a:lstStyle/>
          <a:p>
            <a:r>
              <a:rPr lang="en-CA" sz="2400" kern="1200">
                <a:effectLst/>
                <a:latin typeface="Arial Nova Light" panose="020B0304020202020204" pitchFamily="34" charset="0"/>
              </a:rPr>
              <a:t>Members of the Canadian Society of Forensic Science,</a:t>
            </a:r>
          </a:p>
        </p:txBody>
      </p:sp>
    </p:spTree>
    <p:extLst>
      <p:ext uri="{BB962C8B-B14F-4D97-AF65-F5344CB8AC3E}">
        <p14:creationId xmlns:p14="http://schemas.microsoft.com/office/powerpoint/2010/main" val="40680098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CSFS Rules of Professional Conduct </a:t>
            </a:r>
          </a:p>
        </p:txBody>
      </p:sp>
      <p:graphicFrame>
        <p:nvGraphicFramePr>
          <p:cNvPr id="5" name="Content Placeholder 4">
            <a:extLst>
              <a:ext uri="{FF2B5EF4-FFF2-40B4-BE49-F238E27FC236}">
                <a16:creationId xmlns:a16="http://schemas.microsoft.com/office/drawing/2014/main" id="{27CC5534-24A9-DFE5-4014-C4CB05C2DBCA}"/>
              </a:ext>
            </a:extLst>
          </p:cNvPr>
          <p:cNvGraphicFramePr>
            <a:graphicFrameLocks noGrp="1"/>
          </p:cNvGraphicFramePr>
          <p:nvPr>
            <p:ph idx="1"/>
          </p:nvPr>
        </p:nvGraphicFramePr>
        <p:xfrm>
          <a:off x="838200" y="2526630"/>
          <a:ext cx="10515600" cy="3581400"/>
        </p:xfrm>
        <a:graphic>
          <a:graphicData uri="http://schemas.openxmlformats.org/drawingml/2006/table">
            <a:tbl>
              <a:tblPr firstRow="1" bandRow="1">
                <a:tableStyleId>{5C22544A-7EE6-4342-B048-85BDC9FD1C3A}</a:tableStyleId>
              </a:tblPr>
              <a:tblGrid>
                <a:gridCol w="459259">
                  <a:extLst>
                    <a:ext uri="{9D8B030D-6E8A-4147-A177-3AD203B41FA5}">
                      <a16:colId xmlns:a16="http://schemas.microsoft.com/office/drawing/2014/main" val="474377314"/>
                    </a:ext>
                  </a:extLst>
                </a:gridCol>
                <a:gridCol w="10056341">
                  <a:extLst>
                    <a:ext uri="{9D8B030D-6E8A-4147-A177-3AD203B41FA5}">
                      <a16:colId xmlns:a16="http://schemas.microsoft.com/office/drawing/2014/main" val="514467023"/>
                    </a:ext>
                  </a:extLst>
                </a:gridCol>
              </a:tblGrid>
              <a:tr h="370840">
                <a:tc>
                  <a:txBody>
                    <a:bodyPr/>
                    <a:lstStyle/>
                    <a:p>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1" kern="1200">
                          <a:solidFill>
                            <a:schemeClr val="tx1"/>
                          </a:solidFill>
                          <a:effectLst/>
                          <a:latin typeface="Arial Nova Light" panose="020B0304020202020204" pitchFamily="34" charset="0"/>
                          <a:ea typeface="+mn-ea"/>
                          <a:cs typeface="+mn-cs"/>
                        </a:rPr>
                        <a:t>with respect to their responsibilities to their client, employer or to the court, shall: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8652133"/>
                  </a:ext>
                </a:extLst>
              </a:tr>
              <a:tr h="370840">
                <a:tc>
                  <a:txBody>
                    <a:bodyPr/>
                    <a:lstStyle/>
                    <a:p>
                      <a:r>
                        <a:rPr lang="en-CA" b="0" i="0">
                          <a:solidFill>
                            <a:schemeClr val="tx1"/>
                          </a:solidFill>
                          <a:latin typeface="Arial Nova Light" panose="020B0304020202020204" pitchFamily="34"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0" kern="1200">
                          <a:solidFill>
                            <a:schemeClr val="dk1"/>
                          </a:solidFill>
                          <a:effectLst/>
                          <a:latin typeface="Arial Nova Light" panose="020B0304020202020204" pitchFamily="34" charset="0"/>
                          <a:ea typeface="+mn-ea"/>
                          <a:cs typeface="+mn-cs"/>
                        </a:rPr>
                        <a:t>treat all information from an agency or client with the appropriate confidentiality;</a:t>
                      </a:r>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5245445"/>
                  </a:ext>
                </a:extLst>
              </a:tr>
              <a:tr h="370840">
                <a:tc>
                  <a:txBody>
                    <a:bodyPr/>
                    <a:lstStyle/>
                    <a:p>
                      <a:r>
                        <a:rPr lang="en-CA" b="0" i="0">
                          <a:solidFill>
                            <a:schemeClr val="tx1"/>
                          </a:solidFill>
                          <a:latin typeface="Arial Nova Light" panose="020B0304020202020204" pitchFamily="34"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0" kern="1200">
                          <a:solidFill>
                            <a:schemeClr val="dk1"/>
                          </a:solidFill>
                          <a:effectLst/>
                          <a:latin typeface="Arial Nova Light" panose="020B0304020202020204" pitchFamily="34" charset="0"/>
                          <a:ea typeface="+mn-ea"/>
                          <a:cs typeface="+mn-cs"/>
                        </a:rPr>
                        <a:t>make all reasonable efforts to treat items of potential evidential value with the care and control necessary to ensure their integrity;</a:t>
                      </a:r>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8797721"/>
                  </a:ext>
                </a:extLst>
              </a:tr>
              <a:tr h="370840">
                <a:tc>
                  <a:txBody>
                    <a:bodyPr/>
                    <a:lstStyle/>
                    <a:p>
                      <a:r>
                        <a:rPr lang="en-CA" b="0" i="0">
                          <a:solidFill>
                            <a:schemeClr val="tx1"/>
                          </a:solidFill>
                          <a:latin typeface="Arial Nova Light" panose="020B0304020202020204" pitchFamily="34"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0" kern="1200">
                          <a:solidFill>
                            <a:schemeClr val="tx1"/>
                          </a:solidFill>
                          <a:effectLst/>
                          <a:latin typeface="Arial Nova Light" panose="020B0304020202020204" pitchFamily="34" charset="0"/>
                          <a:ea typeface="+mn-ea"/>
                          <a:cs typeface="+mn-cs"/>
                        </a:rPr>
                        <a:t>t</a:t>
                      </a:r>
                      <a:r>
                        <a:rPr lang="en-CA" sz="1800" b="0" i="0" kern="1200">
                          <a:solidFill>
                            <a:schemeClr val="dk1"/>
                          </a:solidFill>
                          <a:effectLst/>
                          <a:latin typeface="Arial Nova Light" panose="020B0304020202020204" pitchFamily="34" charset="0"/>
                          <a:ea typeface="+mn-ea"/>
                          <a:cs typeface="+mn-cs"/>
                        </a:rPr>
                        <a:t>ake reasonable steps to ensure that all items in a case receive appropriate technical analysis;</a:t>
                      </a:r>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6672594"/>
                  </a:ext>
                </a:extLst>
              </a:tr>
              <a:tr h="370840">
                <a:tc>
                  <a:txBody>
                    <a:bodyPr/>
                    <a:lstStyle/>
                    <a:p>
                      <a:r>
                        <a:rPr lang="en-CA" b="0" i="0">
                          <a:solidFill>
                            <a:schemeClr val="tx1"/>
                          </a:solidFill>
                          <a:latin typeface="Arial Nova Light" panose="020B0304020202020204" pitchFamily="34"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0" kern="1200">
                          <a:solidFill>
                            <a:schemeClr val="dk1"/>
                          </a:solidFill>
                          <a:effectLst/>
                          <a:latin typeface="Arial Nova Light" panose="020B0304020202020204" pitchFamily="34" charset="0"/>
                          <a:ea typeface="+mn-ea"/>
                          <a:cs typeface="+mn-cs"/>
                        </a:rPr>
                        <a:t>a. utilise methods, techniques, standards and controls, provided that they exist, that they are generally accepted and that they are current and;</a:t>
                      </a:r>
                      <a:br>
                        <a:rPr lang="en-CA" b="0" i="0">
                          <a:latin typeface="Arial Nova Light" panose="020B0304020202020204" pitchFamily="34" charset="0"/>
                        </a:rPr>
                      </a:br>
                      <a:r>
                        <a:rPr lang="en-CA" sz="1800" b="0" i="0" kern="1200">
                          <a:solidFill>
                            <a:schemeClr val="dk1"/>
                          </a:solidFill>
                          <a:effectLst/>
                          <a:latin typeface="Arial Nova Light" panose="020B0304020202020204" pitchFamily="34" charset="0"/>
                          <a:ea typeface="+mn-ea"/>
                          <a:cs typeface="+mn-cs"/>
                        </a:rPr>
                        <a:t>b. utilise methods and techniques with standards and controls to conduct examinations and analysis such that they could be reproduced by another qualified and competent person;</a:t>
                      </a:r>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7043105"/>
                  </a:ext>
                </a:extLst>
              </a:tr>
              <a:tr h="370840">
                <a:tc>
                  <a:txBody>
                    <a:bodyPr/>
                    <a:lstStyle/>
                    <a:p>
                      <a:r>
                        <a:rPr lang="en-CA" b="0" i="0">
                          <a:solidFill>
                            <a:schemeClr val="tx1"/>
                          </a:solidFill>
                          <a:latin typeface="Arial Nova Light" panose="020B0304020202020204" pitchFamily="34"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0" kern="1200">
                          <a:solidFill>
                            <a:schemeClr val="dk1"/>
                          </a:solidFill>
                          <a:effectLst/>
                          <a:latin typeface="Arial Nova Light" panose="020B0304020202020204" pitchFamily="34" charset="0"/>
                          <a:ea typeface="+mn-ea"/>
                          <a:cs typeface="+mn-cs"/>
                        </a:rPr>
                        <a:t>make full and complete disclosure as required by law of the findings to the submitting agency or client;</a:t>
                      </a:r>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62177218"/>
                  </a:ext>
                </a:extLst>
              </a:tr>
            </a:tbl>
          </a:graphicData>
        </a:graphic>
      </p:graphicFrame>
      <p:sp>
        <p:nvSpPr>
          <p:cNvPr id="8" name="TextBox 7">
            <a:extLst>
              <a:ext uri="{FF2B5EF4-FFF2-40B4-BE49-F238E27FC236}">
                <a16:creationId xmlns:a16="http://schemas.microsoft.com/office/drawing/2014/main" id="{5D973B77-E6E4-68CE-95BE-148403CCBF07}"/>
              </a:ext>
            </a:extLst>
          </p:cNvPr>
          <p:cNvSpPr txBox="1"/>
          <p:nvPr/>
        </p:nvSpPr>
        <p:spPr>
          <a:xfrm>
            <a:off x="714631" y="1794745"/>
            <a:ext cx="8281087" cy="461665"/>
          </a:xfrm>
          <a:prstGeom prst="rect">
            <a:avLst/>
          </a:prstGeom>
          <a:noFill/>
        </p:spPr>
        <p:txBody>
          <a:bodyPr wrap="square">
            <a:spAutoFit/>
          </a:bodyPr>
          <a:lstStyle/>
          <a:p>
            <a:r>
              <a:rPr lang="en-CA" sz="2400" kern="1200">
                <a:effectLst/>
                <a:latin typeface="Arial Nova Light" panose="020B0304020202020204" pitchFamily="34" charset="0"/>
              </a:rPr>
              <a:t>Members of the Canadian Society of Forensic Science,</a:t>
            </a:r>
          </a:p>
        </p:txBody>
      </p:sp>
    </p:spTree>
    <p:extLst>
      <p:ext uri="{BB962C8B-B14F-4D97-AF65-F5344CB8AC3E}">
        <p14:creationId xmlns:p14="http://schemas.microsoft.com/office/powerpoint/2010/main" val="20964182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CSFS Rules of Professional Conduct </a:t>
            </a:r>
          </a:p>
        </p:txBody>
      </p:sp>
      <p:graphicFrame>
        <p:nvGraphicFramePr>
          <p:cNvPr id="5" name="Content Placeholder 4">
            <a:extLst>
              <a:ext uri="{FF2B5EF4-FFF2-40B4-BE49-F238E27FC236}">
                <a16:creationId xmlns:a16="http://schemas.microsoft.com/office/drawing/2014/main" id="{27CC5534-24A9-DFE5-4014-C4CB05C2DBCA}"/>
              </a:ext>
            </a:extLst>
          </p:cNvPr>
          <p:cNvGraphicFramePr>
            <a:graphicFrameLocks noGrp="1"/>
          </p:cNvGraphicFramePr>
          <p:nvPr>
            <p:ph idx="1"/>
          </p:nvPr>
        </p:nvGraphicFramePr>
        <p:xfrm>
          <a:off x="838200" y="2526630"/>
          <a:ext cx="10515600" cy="3032760"/>
        </p:xfrm>
        <a:graphic>
          <a:graphicData uri="http://schemas.openxmlformats.org/drawingml/2006/table">
            <a:tbl>
              <a:tblPr firstRow="1" bandRow="1">
                <a:tableStyleId>{5C22544A-7EE6-4342-B048-85BDC9FD1C3A}</a:tableStyleId>
              </a:tblPr>
              <a:tblGrid>
                <a:gridCol w="459259">
                  <a:extLst>
                    <a:ext uri="{9D8B030D-6E8A-4147-A177-3AD203B41FA5}">
                      <a16:colId xmlns:a16="http://schemas.microsoft.com/office/drawing/2014/main" val="474377314"/>
                    </a:ext>
                  </a:extLst>
                </a:gridCol>
                <a:gridCol w="10056341">
                  <a:extLst>
                    <a:ext uri="{9D8B030D-6E8A-4147-A177-3AD203B41FA5}">
                      <a16:colId xmlns:a16="http://schemas.microsoft.com/office/drawing/2014/main" val="514467023"/>
                    </a:ext>
                  </a:extLst>
                </a:gridCol>
              </a:tblGrid>
              <a:tr h="370840">
                <a:tc>
                  <a:txBody>
                    <a:bodyPr/>
                    <a:lstStyle/>
                    <a:p>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1" kern="1200">
                          <a:solidFill>
                            <a:schemeClr val="tx1"/>
                          </a:solidFill>
                          <a:effectLst/>
                          <a:latin typeface="Arial Nova Light" panose="020B0304020202020204" pitchFamily="34" charset="0"/>
                          <a:ea typeface="+mn-ea"/>
                          <a:cs typeface="+mn-cs"/>
                        </a:rPr>
                        <a:t>with respect to their responsibilities to their client, employer or to the court, shall: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8652133"/>
                  </a:ext>
                </a:extLst>
              </a:tr>
              <a:tr h="370840">
                <a:tc>
                  <a:txBody>
                    <a:bodyPr/>
                    <a:lstStyle/>
                    <a:p>
                      <a:r>
                        <a:rPr lang="en-CA" b="0" i="0">
                          <a:solidFill>
                            <a:schemeClr val="tx1"/>
                          </a:solidFill>
                          <a:latin typeface="Arial Nova Light" panose="020B0304020202020204" pitchFamily="34"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0" kern="1200">
                          <a:solidFill>
                            <a:schemeClr val="dk1"/>
                          </a:solidFill>
                          <a:effectLst/>
                          <a:latin typeface="Arial Nova Light" panose="020B0304020202020204" pitchFamily="34" charset="0"/>
                          <a:ea typeface="+mn-ea"/>
                          <a:cs typeface="+mn-cs"/>
                        </a:rPr>
                        <a:t>make and keep work notes on all items received, the examinations done, the results obtained and the findings and conclusions made in a timely fashion;</a:t>
                      </a:r>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8797721"/>
                  </a:ext>
                </a:extLst>
              </a:tr>
              <a:tr h="370840">
                <a:tc>
                  <a:txBody>
                    <a:bodyPr/>
                    <a:lstStyle/>
                    <a:p>
                      <a:r>
                        <a:rPr lang="en-CA" b="0" i="0">
                          <a:solidFill>
                            <a:schemeClr val="tx1"/>
                          </a:solidFill>
                          <a:latin typeface="Arial Nova Light" panose="020B0304020202020204" pitchFamily="34"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0" kern="1200">
                          <a:solidFill>
                            <a:schemeClr val="dk1"/>
                          </a:solidFill>
                          <a:effectLst/>
                          <a:latin typeface="Arial Nova Light" panose="020B0304020202020204" pitchFamily="34" charset="0"/>
                          <a:ea typeface="+mn-ea"/>
                          <a:cs typeface="+mn-cs"/>
                        </a:rPr>
                        <a:t>render opinions and conclusions strictly in accordance with the results and findings in the case and only to the extent justified by those results and findings;</a:t>
                      </a:r>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6672594"/>
                  </a:ext>
                </a:extLst>
              </a:tr>
              <a:tr h="370840">
                <a:tc>
                  <a:txBody>
                    <a:bodyPr/>
                    <a:lstStyle/>
                    <a:p>
                      <a:r>
                        <a:rPr lang="en-CA" b="0" i="0">
                          <a:solidFill>
                            <a:schemeClr val="tx1"/>
                          </a:solidFill>
                          <a:latin typeface="Arial Nova Light" panose="020B0304020202020204" pitchFamily="34"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0" kern="1200">
                          <a:solidFill>
                            <a:schemeClr val="dk1"/>
                          </a:solidFill>
                          <a:effectLst/>
                          <a:latin typeface="Arial Nova Light" panose="020B0304020202020204" pitchFamily="34" charset="0"/>
                          <a:ea typeface="+mn-ea"/>
                          <a:cs typeface="+mn-cs"/>
                        </a:rPr>
                        <a:t>make all efforts to testify in a clear, straightforward manner and refuse to extend themselves beyond their field of expertise or level of competence;</a:t>
                      </a:r>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7043105"/>
                  </a:ext>
                </a:extLst>
              </a:tr>
              <a:tr h="370840">
                <a:tc>
                  <a:txBody>
                    <a:bodyPr/>
                    <a:lstStyle/>
                    <a:p>
                      <a:r>
                        <a:rPr lang="en-CA" b="0" i="0">
                          <a:solidFill>
                            <a:schemeClr val="tx1"/>
                          </a:solidFill>
                          <a:latin typeface="Arial Nova Light" panose="020B0304020202020204" pitchFamily="34"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0" kern="1200">
                          <a:solidFill>
                            <a:schemeClr val="dk1"/>
                          </a:solidFill>
                          <a:effectLst/>
                          <a:latin typeface="Arial Nova Light" panose="020B0304020202020204" pitchFamily="34" charset="0"/>
                          <a:ea typeface="+mn-ea"/>
                          <a:cs typeface="+mn-cs"/>
                        </a:rPr>
                        <a:t>not exaggerate, embellish or otherwise misrepresent qualifications when testifying;</a:t>
                      </a:r>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62177218"/>
                  </a:ext>
                </a:extLst>
              </a:tr>
              <a:tr h="370840">
                <a:tc>
                  <a:txBody>
                    <a:bodyPr/>
                    <a:lstStyle/>
                    <a:p>
                      <a:r>
                        <a:rPr lang="en-CA" b="0" i="0">
                          <a:solidFill>
                            <a:schemeClr val="tx1"/>
                          </a:solidFill>
                          <a:latin typeface="Arial Nova Light" panose="020B0304020202020204" pitchFamily="34"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0" kern="1200">
                          <a:solidFill>
                            <a:schemeClr val="dk1"/>
                          </a:solidFill>
                          <a:effectLst/>
                          <a:latin typeface="Arial Nova Light" panose="020B0304020202020204" pitchFamily="34" charset="0"/>
                          <a:ea typeface="+mn-ea"/>
                          <a:cs typeface="+mn-cs"/>
                        </a:rPr>
                        <a:t> be impartial and independent in their analysis, reporting and testimony;</a:t>
                      </a:r>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1697000"/>
                  </a:ext>
                </a:extLst>
              </a:tr>
            </a:tbl>
          </a:graphicData>
        </a:graphic>
      </p:graphicFrame>
      <p:sp>
        <p:nvSpPr>
          <p:cNvPr id="8" name="TextBox 7">
            <a:extLst>
              <a:ext uri="{FF2B5EF4-FFF2-40B4-BE49-F238E27FC236}">
                <a16:creationId xmlns:a16="http://schemas.microsoft.com/office/drawing/2014/main" id="{5D973B77-E6E4-68CE-95BE-148403CCBF07}"/>
              </a:ext>
            </a:extLst>
          </p:cNvPr>
          <p:cNvSpPr txBox="1"/>
          <p:nvPr/>
        </p:nvSpPr>
        <p:spPr>
          <a:xfrm>
            <a:off x="714631" y="1794745"/>
            <a:ext cx="8281087" cy="461665"/>
          </a:xfrm>
          <a:prstGeom prst="rect">
            <a:avLst/>
          </a:prstGeom>
          <a:noFill/>
        </p:spPr>
        <p:txBody>
          <a:bodyPr wrap="square">
            <a:spAutoFit/>
          </a:bodyPr>
          <a:lstStyle/>
          <a:p>
            <a:r>
              <a:rPr lang="en-CA" sz="2400" kern="1200">
                <a:effectLst/>
                <a:latin typeface="Arial Nova Light" panose="020B0304020202020204" pitchFamily="34" charset="0"/>
              </a:rPr>
              <a:t>Members of the Canadian Society of Forensic Science,</a:t>
            </a:r>
          </a:p>
        </p:txBody>
      </p:sp>
    </p:spTree>
    <p:extLst>
      <p:ext uri="{BB962C8B-B14F-4D97-AF65-F5344CB8AC3E}">
        <p14:creationId xmlns:p14="http://schemas.microsoft.com/office/powerpoint/2010/main" val="26267305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CSFS Rules of Professional Conduct </a:t>
            </a:r>
          </a:p>
        </p:txBody>
      </p:sp>
      <p:graphicFrame>
        <p:nvGraphicFramePr>
          <p:cNvPr id="5" name="Content Placeholder 4">
            <a:extLst>
              <a:ext uri="{FF2B5EF4-FFF2-40B4-BE49-F238E27FC236}">
                <a16:creationId xmlns:a16="http://schemas.microsoft.com/office/drawing/2014/main" id="{27CC5534-24A9-DFE5-4014-C4CB05C2DBCA}"/>
              </a:ext>
            </a:extLst>
          </p:cNvPr>
          <p:cNvGraphicFramePr>
            <a:graphicFrameLocks noGrp="1"/>
          </p:cNvGraphicFramePr>
          <p:nvPr>
            <p:ph idx="1"/>
          </p:nvPr>
        </p:nvGraphicFramePr>
        <p:xfrm>
          <a:off x="838200" y="2526630"/>
          <a:ext cx="10515600" cy="3312160"/>
        </p:xfrm>
        <a:graphic>
          <a:graphicData uri="http://schemas.openxmlformats.org/drawingml/2006/table">
            <a:tbl>
              <a:tblPr firstRow="1" bandRow="1">
                <a:tableStyleId>{5C22544A-7EE6-4342-B048-85BDC9FD1C3A}</a:tableStyleId>
              </a:tblPr>
              <a:tblGrid>
                <a:gridCol w="459259">
                  <a:extLst>
                    <a:ext uri="{9D8B030D-6E8A-4147-A177-3AD203B41FA5}">
                      <a16:colId xmlns:a16="http://schemas.microsoft.com/office/drawing/2014/main" val="474377314"/>
                    </a:ext>
                  </a:extLst>
                </a:gridCol>
                <a:gridCol w="10056341">
                  <a:extLst>
                    <a:ext uri="{9D8B030D-6E8A-4147-A177-3AD203B41FA5}">
                      <a16:colId xmlns:a16="http://schemas.microsoft.com/office/drawing/2014/main" val="514467023"/>
                    </a:ext>
                  </a:extLst>
                </a:gridCol>
              </a:tblGrid>
              <a:tr h="370840">
                <a:tc>
                  <a:txBody>
                    <a:bodyPr/>
                    <a:lstStyle/>
                    <a:p>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1" kern="1200">
                          <a:solidFill>
                            <a:schemeClr val="tx1"/>
                          </a:solidFill>
                          <a:effectLst/>
                          <a:latin typeface="Arial Nova Light" panose="020B0304020202020204" pitchFamily="34" charset="0"/>
                          <a:ea typeface="+mn-ea"/>
                          <a:cs typeface="+mn-cs"/>
                        </a:rPr>
                        <a:t>with respect to their responsibilities to the profession of forensic science, shall: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8652133"/>
                  </a:ext>
                </a:extLst>
              </a:tr>
              <a:tr h="370840">
                <a:tc>
                  <a:txBody>
                    <a:bodyPr/>
                    <a:lstStyle/>
                    <a:p>
                      <a:r>
                        <a:rPr lang="en-CA" b="0" i="0">
                          <a:solidFill>
                            <a:schemeClr val="tx1"/>
                          </a:solidFill>
                          <a:latin typeface="Arial Nova Light" panose="020B0304020202020204" pitchFamily="34"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0" kern="1200">
                          <a:solidFill>
                            <a:schemeClr val="dk1"/>
                          </a:solidFill>
                          <a:effectLst/>
                          <a:latin typeface="Arial Nova Light" panose="020B0304020202020204" pitchFamily="34" charset="0"/>
                          <a:ea typeface="+mn-ea"/>
                          <a:cs typeface="+mn-cs"/>
                        </a:rPr>
                        <a:t>carry out their duties in a professional manner and strive to be worthy of the confidence of the public;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8797721"/>
                  </a:ext>
                </a:extLst>
              </a:tr>
              <a:tr h="370840">
                <a:tc>
                  <a:txBody>
                    <a:bodyPr/>
                    <a:lstStyle/>
                    <a:p>
                      <a:r>
                        <a:rPr lang="en-CA" b="0" i="0">
                          <a:solidFill>
                            <a:schemeClr val="tx1"/>
                          </a:solidFill>
                          <a:latin typeface="Arial Nova Light" panose="020B0304020202020204" pitchFamily="34" charset="0"/>
                        </a:rPr>
                        <a:t>15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0" kern="1200">
                          <a:solidFill>
                            <a:schemeClr val="dk1"/>
                          </a:solidFill>
                          <a:effectLst/>
                          <a:latin typeface="Arial Nova Light" panose="020B0304020202020204" pitchFamily="34" charset="0"/>
                          <a:ea typeface="+mn-ea"/>
                          <a:cs typeface="+mn-cs"/>
                        </a:rPr>
                        <a:t>regard and respect their peers with the same standards that they hold for themselves;</a:t>
                      </a:r>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6672594"/>
                  </a:ext>
                </a:extLst>
              </a:tr>
              <a:tr h="370840">
                <a:tc>
                  <a:txBody>
                    <a:bodyPr/>
                    <a:lstStyle/>
                    <a:p>
                      <a:r>
                        <a:rPr lang="en-CA" b="0" i="0">
                          <a:solidFill>
                            <a:schemeClr val="tx1"/>
                          </a:solidFill>
                          <a:latin typeface="Arial Nova Light" panose="020B0304020202020204" pitchFamily="34" charset="0"/>
                        </a:rPr>
                        <a:t>16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0" kern="1200">
                          <a:solidFill>
                            <a:schemeClr val="dk1"/>
                          </a:solidFill>
                          <a:effectLst/>
                          <a:latin typeface="Arial Nova Light" panose="020B0304020202020204" pitchFamily="34" charset="0"/>
                          <a:ea typeface="+mn-ea"/>
                          <a:cs typeface="+mn-cs"/>
                        </a:rPr>
                        <a:t>a. set a reasonable fee for services if it is appropriate to do so, taking care not to set unreasonably high fees for services, not to charge fees for services not done or services that are unnecessary, while being able to reduce or waive fees;</a:t>
                      </a:r>
                      <a:br>
                        <a:rPr lang="en-CA" b="0" i="0">
                          <a:latin typeface="Arial Nova Light" panose="020B0304020202020204" pitchFamily="34" charset="0"/>
                        </a:rPr>
                      </a:br>
                      <a:r>
                        <a:rPr lang="en-CA" sz="1800" b="0" i="0" kern="1200">
                          <a:solidFill>
                            <a:schemeClr val="dk1"/>
                          </a:solidFill>
                          <a:effectLst/>
                          <a:latin typeface="Arial Nova Light" panose="020B0304020202020204" pitchFamily="34" charset="0"/>
                          <a:ea typeface="+mn-ea"/>
                          <a:cs typeface="+mn-cs"/>
                        </a:rPr>
                        <a:t>b. not, under any circumstances, render services on a contingency basis; and</a:t>
                      </a:r>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7043105"/>
                  </a:ext>
                </a:extLst>
              </a:tr>
              <a:tr h="370840">
                <a:tc>
                  <a:txBody>
                    <a:bodyPr/>
                    <a:lstStyle/>
                    <a:p>
                      <a:r>
                        <a:rPr lang="en-CA" b="0" i="0">
                          <a:solidFill>
                            <a:schemeClr val="tx1"/>
                          </a:solidFill>
                          <a:latin typeface="Arial Nova Light" panose="020B0304020202020204" pitchFamily="34" charset="0"/>
                        </a:rPr>
                        <a:t>17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0" kern="1200">
                          <a:solidFill>
                            <a:schemeClr val="dk1"/>
                          </a:solidFill>
                          <a:effectLst/>
                          <a:latin typeface="Arial Nova Light" panose="020B0304020202020204" pitchFamily="34" charset="0"/>
                          <a:ea typeface="+mn-ea"/>
                          <a:cs typeface="+mn-cs"/>
                        </a:rPr>
                        <a:t>strive to maintain and improve their skills and knowledge and to keep current with advances and standards in their discipline.</a:t>
                      </a:r>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62177218"/>
                  </a:ext>
                </a:extLst>
              </a:tr>
              <a:tr h="370840">
                <a:tc>
                  <a:txBody>
                    <a:bodyPr/>
                    <a:lstStyle/>
                    <a:p>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1697000"/>
                  </a:ext>
                </a:extLst>
              </a:tr>
            </a:tbl>
          </a:graphicData>
        </a:graphic>
      </p:graphicFrame>
      <p:sp>
        <p:nvSpPr>
          <p:cNvPr id="8" name="TextBox 7">
            <a:extLst>
              <a:ext uri="{FF2B5EF4-FFF2-40B4-BE49-F238E27FC236}">
                <a16:creationId xmlns:a16="http://schemas.microsoft.com/office/drawing/2014/main" id="{5D973B77-E6E4-68CE-95BE-148403CCBF07}"/>
              </a:ext>
            </a:extLst>
          </p:cNvPr>
          <p:cNvSpPr txBox="1"/>
          <p:nvPr/>
        </p:nvSpPr>
        <p:spPr>
          <a:xfrm>
            <a:off x="714631" y="1794745"/>
            <a:ext cx="8281087" cy="461665"/>
          </a:xfrm>
          <a:prstGeom prst="rect">
            <a:avLst/>
          </a:prstGeom>
          <a:noFill/>
        </p:spPr>
        <p:txBody>
          <a:bodyPr wrap="square">
            <a:spAutoFit/>
          </a:bodyPr>
          <a:lstStyle/>
          <a:p>
            <a:r>
              <a:rPr lang="en-CA" sz="2400" kern="1200">
                <a:effectLst/>
                <a:latin typeface="Arial Nova Light" panose="020B0304020202020204" pitchFamily="34" charset="0"/>
              </a:rPr>
              <a:t>Members of the Canadian Society of Forensic Science,</a:t>
            </a:r>
          </a:p>
        </p:txBody>
      </p:sp>
    </p:spTree>
    <p:extLst>
      <p:ext uri="{BB962C8B-B14F-4D97-AF65-F5344CB8AC3E}">
        <p14:creationId xmlns:p14="http://schemas.microsoft.com/office/powerpoint/2010/main" val="37257258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Applied ethics in professional practice</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201" y="1888397"/>
            <a:ext cx="8073787" cy="4075676"/>
          </a:xfrm>
        </p:spPr>
        <p:txBody>
          <a:bodyPr anchor="ctr">
            <a:normAutofit fontScale="92500"/>
          </a:bodyPr>
          <a:lstStyle/>
          <a:p>
            <a:pPr marL="0" indent="0">
              <a:lnSpc>
                <a:spcPct val="150000"/>
              </a:lnSpc>
              <a:buNone/>
            </a:pPr>
            <a:r>
              <a:rPr lang="en-US" sz="2400" dirty="0">
                <a:latin typeface="Arial Nova Light" panose="020B0304020202020204" pitchFamily="34" charset="0"/>
              </a:rPr>
              <a:t>“It is easy to read a document titled </a:t>
            </a:r>
            <a:r>
              <a:rPr lang="en-US" sz="2400" i="1" dirty="0">
                <a:latin typeface="Arial Nova Light" panose="020B0304020202020204" pitchFamily="34" charset="0"/>
              </a:rPr>
              <a:t>Code of Ethics </a:t>
            </a:r>
            <a:r>
              <a:rPr lang="en-US" sz="2400" dirty="0">
                <a:latin typeface="Arial Nova Light" panose="020B0304020202020204" pitchFamily="34" charset="0"/>
              </a:rPr>
              <a:t>or </a:t>
            </a:r>
            <a:r>
              <a:rPr lang="en-US" sz="2400" i="1" dirty="0">
                <a:latin typeface="Arial Nova Light" panose="020B0304020202020204" pitchFamily="34" charset="0"/>
              </a:rPr>
              <a:t>Standards of Professional Practice, </a:t>
            </a:r>
            <a:r>
              <a:rPr lang="en-US" sz="2400" dirty="0">
                <a:latin typeface="Arial Nova Light" panose="020B0304020202020204" pitchFamily="34" charset="0"/>
              </a:rPr>
              <a:t>nod wisely, and think </a:t>
            </a:r>
            <a:r>
              <a:rPr lang="en-US" sz="2400" i="1" dirty="0">
                <a:latin typeface="Arial Nova Light" panose="020B0304020202020204" pitchFamily="34" charset="0"/>
              </a:rPr>
              <a:t>I agree with all of that and cannot imagine a situation in which there would be a problem with following the practices specified… </a:t>
            </a:r>
            <a:r>
              <a:rPr lang="en-US" sz="2400" dirty="0">
                <a:latin typeface="Arial Nova Light" panose="020B0304020202020204" pitchFamily="34" charset="0"/>
              </a:rPr>
              <a:t>the proper course of action is not always obvious, codes of ethics do not necessarily cover all contingencies, and not all professional standards are necessarily appropriate.” </a:t>
            </a:r>
          </a:p>
          <a:p>
            <a:pPr marL="0" indent="0" algn="r">
              <a:lnSpc>
                <a:spcPct val="114000"/>
              </a:lnSpc>
              <a:buNone/>
            </a:pPr>
            <a:r>
              <a:rPr lang="en-US" sz="1800" dirty="0">
                <a:latin typeface="Arial Nova Light" panose="020B0304020202020204" pitchFamily="34" charset="0"/>
              </a:rPr>
              <a:t>(Barnett, 2001, p.7)</a:t>
            </a:r>
          </a:p>
        </p:txBody>
      </p:sp>
      <p:pic>
        <p:nvPicPr>
          <p:cNvPr id="5" name="Picture 4" descr="A book cover of a book&#10;&#10;AI-generated content may be incorrect.">
            <a:extLst>
              <a:ext uri="{FF2B5EF4-FFF2-40B4-BE49-F238E27FC236}">
                <a16:creationId xmlns:a16="http://schemas.microsoft.com/office/drawing/2014/main" id="{2FFB7482-E749-1F32-B1EC-D13F3E3430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60346" y="1888397"/>
            <a:ext cx="2654377" cy="3855493"/>
          </a:xfrm>
          <a:prstGeom prst="rect">
            <a:avLst/>
          </a:prstGeom>
        </p:spPr>
      </p:pic>
    </p:spTree>
    <p:extLst>
      <p:ext uri="{BB962C8B-B14F-4D97-AF65-F5344CB8AC3E}">
        <p14:creationId xmlns:p14="http://schemas.microsoft.com/office/powerpoint/2010/main" val="22392165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Example 1: Selective Evidence</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200" y="1888396"/>
            <a:ext cx="10515599" cy="3838575"/>
          </a:xfrm>
        </p:spPr>
        <p:txBody>
          <a:bodyPr anchor="t">
            <a:normAutofit/>
          </a:bodyPr>
          <a:lstStyle/>
          <a:p>
            <a:pPr marL="0" indent="0">
              <a:lnSpc>
                <a:spcPct val="150000"/>
              </a:lnSpc>
              <a:buNone/>
            </a:pPr>
            <a:r>
              <a:rPr lang="en-US" sz="2400" b="1" dirty="0">
                <a:latin typeface="Arial Nova Light" panose="020B0304020202020204" pitchFamily="34" charset="0"/>
              </a:rPr>
              <a:t>Scenario: </a:t>
            </a:r>
            <a:r>
              <a:rPr lang="en-US" sz="2400" dirty="0">
                <a:latin typeface="Arial Nova Light" panose="020B0304020202020204" pitchFamily="34" charset="0"/>
              </a:rPr>
              <a:t>You are a consulting forensic scientist hired by the defense to review a report of analysis provided by law enforcement agency. You identify a mistake in the original analysis and provide this finding to the defense. But you also realize there is additional evidence that had not been analyzed by law enforcement OR sent to you by the defense for further examination.</a:t>
            </a:r>
            <a:endParaRPr lang="en-US" sz="1800" dirty="0">
              <a:latin typeface="Arial Nova Light" panose="020B0304020202020204" pitchFamily="34" charset="0"/>
            </a:endParaRPr>
          </a:p>
        </p:txBody>
      </p:sp>
    </p:spTree>
    <p:extLst>
      <p:ext uri="{BB962C8B-B14F-4D97-AF65-F5344CB8AC3E}">
        <p14:creationId xmlns:p14="http://schemas.microsoft.com/office/powerpoint/2010/main" val="2252391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Example 1: Selective Evidence</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200" y="1888396"/>
            <a:ext cx="10515599" cy="3838575"/>
          </a:xfrm>
        </p:spPr>
        <p:txBody>
          <a:bodyPr anchor="t">
            <a:normAutofit/>
          </a:bodyPr>
          <a:lstStyle/>
          <a:p>
            <a:pPr marL="0" indent="0">
              <a:lnSpc>
                <a:spcPct val="150000"/>
              </a:lnSpc>
              <a:buNone/>
            </a:pPr>
            <a:r>
              <a:rPr lang="en-US" sz="2400" b="1" dirty="0">
                <a:latin typeface="Arial Nova Light" panose="020B0304020202020204" pitchFamily="34" charset="0"/>
              </a:rPr>
              <a:t>Ethical consideration: </a:t>
            </a:r>
            <a:r>
              <a:rPr lang="en-US" sz="2400" dirty="0"/>
              <a:t>You</a:t>
            </a:r>
            <a:r>
              <a:rPr lang="en-US" sz="2400" dirty="0">
                <a:latin typeface="Arial Nova Light" panose="020B0304020202020204" pitchFamily="34" charset="0"/>
              </a:rPr>
              <a:t>—hired by the defense—only looked at the analyses that were sent to you. It is possible that analysis of the new evidence would provide new insights. What is your obligation?</a:t>
            </a:r>
            <a:endParaRPr lang="en-US" sz="1800" dirty="0">
              <a:latin typeface="Arial Nova Light" panose="020B0304020202020204" pitchFamily="34" charset="0"/>
            </a:endParaRPr>
          </a:p>
        </p:txBody>
      </p:sp>
    </p:spTree>
    <p:extLst>
      <p:ext uri="{BB962C8B-B14F-4D97-AF65-F5344CB8AC3E}">
        <p14:creationId xmlns:p14="http://schemas.microsoft.com/office/powerpoint/2010/main" val="325763779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Example 1: Selective Evidence</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200" y="1888396"/>
            <a:ext cx="10515599" cy="3838575"/>
          </a:xfrm>
        </p:spPr>
        <p:txBody>
          <a:bodyPr anchor="t">
            <a:normAutofit/>
          </a:bodyPr>
          <a:lstStyle/>
          <a:p>
            <a:pPr marL="0" indent="0">
              <a:lnSpc>
                <a:spcPct val="150000"/>
              </a:lnSpc>
              <a:buNone/>
            </a:pPr>
            <a:r>
              <a:rPr lang="en-US" sz="2400" b="1">
                <a:latin typeface="Arial Nova Light" panose="020B0304020202020204" pitchFamily="34" charset="0"/>
              </a:rPr>
              <a:t>Applicable ethical codes from CSFS:</a:t>
            </a:r>
          </a:p>
          <a:p>
            <a:pPr marL="0" indent="0">
              <a:lnSpc>
                <a:spcPct val="150000"/>
              </a:lnSpc>
              <a:buNone/>
            </a:pPr>
            <a:endParaRPr lang="en-US" sz="1800">
              <a:latin typeface="Arial Nova Light" panose="020B0304020202020204" pitchFamily="34" charset="0"/>
            </a:endParaRPr>
          </a:p>
        </p:txBody>
      </p:sp>
      <p:graphicFrame>
        <p:nvGraphicFramePr>
          <p:cNvPr id="3" name="Content Placeholder 4">
            <a:extLst>
              <a:ext uri="{FF2B5EF4-FFF2-40B4-BE49-F238E27FC236}">
                <a16:creationId xmlns:a16="http://schemas.microsoft.com/office/drawing/2014/main" id="{9A06E68E-F241-0957-91E6-609C54CCD8DE}"/>
              </a:ext>
            </a:extLst>
          </p:cNvPr>
          <p:cNvGraphicFramePr>
            <a:graphicFrameLocks/>
          </p:cNvGraphicFramePr>
          <p:nvPr/>
        </p:nvGraphicFramePr>
        <p:xfrm>
          <a:off x="838200" y="2526630"/>
          <a:ext cx="10515600" cy="1381760"/>
        </p:xfrm>
        <a:graphic>
          <a:graphicData uri="http://schemas.openxmlformats.org/drawingml/2006/table">
            <a:tbl>
              <a:tblPr firstRow="1" bandRow="1">
                <a:tableStyleId>{5C22544A-7EE6-4342-B048-85BDC9FD1C3A}</a:tableStyleId>
              </a:tblPr>
              <a:tblGrid>
                <a:gridCol w="459259">
                  <a:extLst>
                    <a:ext uri="{9D8B030D-6E8A-4147-A177-3AD203B41FA5}">
                      <a16:colId xmlns:a16="http://schemas.microsoft.com/office/drawing/2014/main" val="474377314"/>
                    </a:ext>
                  </a:extLst>
                </a:gridCol>
                <a:gridCol w="10056341">
                  <a:extLst>
                    <a:ext uri="{9D8B030D-6E8A-4147-A177-3AD203B41FA5}">
                      <a16:colId xmlns:a16="http://schemas.microsoft.com/office/drawing/2014/main" val="514467023"/>
                    </a:ext>
                  </a:extLst>
                </a:gridCol>
              </a:tblGrid>
              <a:tr h="370840">
                <a:tc>
                  <a:txBody>
                    <a:bodyPr/>
                    <a:lstStyle/>
                    <a:p>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1" kern="1200">
                          <a:solidFill>
                            <a:schemeClr val="tx1"/>
                          </a:solidFill>
                          <a:effectLst/>
                          <a:latin typeface="Arial Nova Light" panose="020B0304020202020204" pitchFamily="34" charset="0"/>
                          <a:ea typeface="+mn-ea"/>
                          <a:cs typeface="+mn-cs"/>
                        </a:rPr>
                        <a:t>with respect to their responsibilities to their client, employer or to the court, shall: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8652133"/>
                  </a:ext>
                </a:extLst>
              </a:tr>
              <a:tr h="370840">
                <a:tc>
                  <a:txBody>
                    <a:bodyPr/>
                    <a:lstStyle/>
                    <a:p>
                      <a:r>
                        <a:rPr lang="en-CA" b="0" i="0">
                          <a:solidFill>
                            <a:schemeClr val="tx1"/>
                          </a:solidFill>
                          <a:latin typeface="Arial Nova Light" panose="020B0304020202020204" pitchFamily="34"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0" kern="1200">
                          <a:solidFill>
                            <a:schemeClr val="tx1"/>
                          </a:solidFill>
                          <a:effectLst/>
                          <a:latin typeface="Arial Nova Light" panose="020B0304020202020204" pitchFamily="34" charset="0"/>
                          <a:ea typeface="+mn-ea"/>
                          <a:cs typeface="+mn-cs"/>
                        </a:rPr>
                        <a:t>t</a:t>
                      </a:r>
                      <a:r>
                        <a:rPr lang="en-CA" sz="1800" b="0" i="0" kern="1200">
                          <a:solidFill>
                            <a:schemeClr val="dk1"/>
                          </a:solidFill>
                          <a:effectLst/>
                          <a:latin typeface="Arial Nova Light" panose="020B0304020202020204" pitchFamily="34" charset="0"/>
                          <a:ea typeface="+mn-ea"/>
                          <a:cs typeface="+mn-cs"/>
                        </a:rPr>
                        <a:t>ake reasonable steps to </a:t>
                      </a:r>
                      <a:r>
                        <a:rPr lang="en-CA" sz="1800" b="1" i="0" kern="1200">
                          <a:solidFill>
                            <a:schemeClr val="dk1"/>
                          </a:solidFill>
                          <a:effectLst/>
                          <a:latin typeface="Arial Nova Light" panose="020B0304020202020204" pitchFamily="34" charset="0"/>
                          <a:ea typeface="+mn-ea"/>
                          <a:cs typeface="+mn-cs"/>
                        </a:rPr>
                        <a:t>ensure that all items in a case receive appropriate technical analysis</a:t>
                      </a:r>
                      <a:r>
                        <a:rPr lang="en-CA" sz="1800" b="0" i="0" kern="1200">
                          <a:solidFill>
                            <a:schemeClr val="dk1"/>
                          </a:solidFill>
                          <a:effectLst/>
                          <a:latin typeface="Arial Nova Light" panose="020B0304020202020204" pitchFamily="34" charset="0"/>
                          <a:ea typeface="+mn-ea"/>
                          <a:cs typeface="+mn-cs"/>
                        </a:rPr>
                        <a:t>;</a:t>
                      </a:r>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6672594"/>
                  </a:ext>
                </a:extLst>
              </a:tr>
              <a:tr h="370840">
                <a:tc>
                  <a:txBody>
                    <a:bodyPr/>
                    <a:lstStyle/>
                    <a:p>
                      <a:r>
                        <a:rPr lang="en-CA" b="0" i="0">
                          <a:solidFill>
                            <a:schemeClr val="tx1"/>
                          </a:solidFill>
                          <a:latin typeface="Arial Nova Light" panose="020B0304020202020204" pitchFamily="34"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0" kern="1200">
                          <a:solidFill>
                            <a:schemeClr val="dk1"/>
                          </a:solidFill>
                          <a:effectLst/>
                          <a:latin typeface="Arial Nova Light" panose="020B0304020202020204" pitchFamily="34" charset="0"/>
                          <a:ea typeface="+mn-ea"/>
                          <a:cs typeface="+mn-cs"/>
                        </a:rPr>
                        <a:t>render opinions and conclusions strictly in accordance with the results and findings in the case and </a:t>
                      </a:r>
                      <a:r>
                        <a:rPr lang="en-CA" sz="1800" b="1" i="0" kern="1200">
                          <a:solidFill>
                            <a:schemeClr val="dk1"/>
                          </a:solidFill>
                          <a:effectLst/>
                          <a:latin typeface="Arial Nova Light" panose="020B0304020202020204" pitchFamily="34" charset="0"/>
                          <a:ea typeface="+mn-ea"/>
                          <a:cs typeface="+mn-cs"/>
                        </a:rPr>
                        <a:t>only to the extent justified by those results and findings</a:t>
                      </a:r>
                      <a:r>
                        <a:rPr lang="en-CA" sz="1800" b="0" i="0" kern="1200">
                          <a:solidFill>
                            <a:schemeClr val="dk1"/>
                          </a:solidFill>
                          <a:effectLst/>
                          <a:latin typeface="Arial Nova Light" panose="020B0304020202020204" pitchFamily="34" charset="0"/>
                          <a:ea typeface="+mn-ea"/>
                          <a:cs typeface="+mn-cs"/>
                        </a:rPr>
                        <a:t>;</a:t>
                      </a:r>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7043105"/>
                  </a:ext>
                </a:extLst>
              </a:tr>
            </a:tbl>
          </a:graphicData>
        </a:graphic>
      </p:graphicFrame>
    </p:spTree>
    <p:extLst>
      <p:ext uri="{BB962C8B-B14F-4D97-AF65-F5344CB8AC3E}">
        <p14:creationId xmlns:p14="http://schemas.microsoft.com/office/powerpoint/2010/main" val="17692822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Example 1: Selective Evidence</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200" y="1888396"/>
            <a:ext cx="10515599" cy="3838575"/>
          </a:xfrm>
        </p:spPr>
        <p:txBody>
          <a:bodyPr anchor="t">
            <a:normAutofit/>
          </a:bodyPr>
          <a:lstStyle/>
          <a:p>
            <a:pPr marL="0" indent="0">
              <a:lnSpc>
                <a:spcPct val="150000"/>
              </a:lnSpc>
              <a:buNone/>
            </a:pPr>
            <a:r>
              <a:rPr lang="en-US" sz="2400" b="1" dirty="0">
                <a:latin typeface="Arial Nova Light" panose="020B0304020202020204" pitchFamily="34" charset="0"/>
              </a:rPr>
              <a:t>Resolution: </a:t>
            </a:r>
            <a:r>
              <a:rPr lang="en-US" sz="2400" dirty="0"/>
              <a:t>I</a:t>
            </a:r>
            <a:r>
              <a:rPr lang="en-US" sz="2400" dirty="0">
                <a:latin typeface="Arial Nova Light" panose="020B0304020202020204" pitchFamily="34" charset="0"/>
              </a:rPr>
              <a:t> can tell my employer, the defense, that there is additional evidence that has not been evaluated. It is up to my employer and the crown attorney’s office to decide whether such evaluations are necessary—I should avoid commenting on hypothetical analyses and only report findings that I knows are true.</a:t>
            </a:r>
          </a:p>
          <a:p>
            <a:pPr marL="0" indent="0">
              <a:lnSpc>
                <a:spcPct val="150000"/>
              </a:lnSpc>
              <a:buNone/>
            </a:pPr>
            <a:endParaRPr lang="en-US" sz="1800" dirty="0">
              <a:latin typeface="Arial Nova Light" panose="020B0304020202020204" pitchFamily="34" charset="0"/>
            </a:endParaRPr>
          </a:p>
        </p:txBody>
      </p:sp>
    </p:spTree>
    <p:extLst>
      <p:ext uri="{BB962C8B-B14F-4D97-AF65-F5344CB8AC3E}">
        <p14:creationId xmlns:p14="http://schemas.microsoft.com/office/powerpoint/2010/main" val="20404544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Example 2: Rumored incompetence</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200" y="1888396"/>
            <a:ext cx="10515599" cy="3838575"/>
          </a:xfrm>
        </p:spPr>
        <p:txBody>
          <a:bodyPr anchor="t">
            <a:normAutofit/>
          </a:bodyPr>
          <a:lstStyle/>
          <a:p>
            <a:pPr marL="0" indent="0">
              <a:lnSpc>
                <a:spcPct val="150000"/>
              </a:lnSpc>
              <a:buNone/>
            </a:pPr>
            <a:r>
              <a:rPr lang="en-US" sz="2400" b="1" dirty="0">
                <a:latin typeface="Arial Nova Light" panose="020B0304020202020204" pitchFamily="34" charset="0"/>
              </a:rPr>
              <a:t>Scenario: </a:t>
            </a:r>
            <a:r>
              <a:rPr lang="en-US" sz="2400" dirty="0">
                <a:latin typeface="Arial Nova Light" panose="020B0304020202020204" pitchFamily="34" charset="0"/>
              </a:rPr>
              <a:t>A consulting forensic scientist, Jeff, is retained by the crown attorney’s office to work on a major case in which the local laboratory does not have the expertise. Jeff is currently the subject of allegations that, if true, cast doubt on his competence or credibility. </a:t>
            </a:r>
            <a:endParaRPr lang="en-US" sz="1800" dirty="0">
              <a:latin typeface="Arial Nova Light" panose="020B0304020202020204" pitchFamily="34" charset="0"/>
            </a:endParaRPr>
          </a:p>
        </p:txBody>
      </p:sp>
    </p:spTree>
    <p:extLst>
      <p:ext uri="{BB962C8B-B14F-4D97-AF65-F5344CB8AC3E}">
        <p14:creationId xmlns:p14="http://schemas.microsoft.com/office/powerpoint/2010/main" val="41940651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Example 2: Rumored incompetence</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200" y="1888396"/>
            <a:ext cx="10515599" cy="3838575"/>
          </a:xfrm>
        </p:spPr>
        <p:txBody>
          <a:bodyPr anchor="t">
            <a:normAutofit/>
          </a:bodyPr>
          <a:lstStyle/>
          <a:p>
            <a:pPr marL="0" indent="0">
              <a:lnSpc>
                <a:spcPct val="150000"/>
              </a:lnSpc>
              <a:buNone/>
            </a:pPr>
            <a:r>
              <a:rPr lang="en-US" sz="2400" b="1" dirty="0">
                <a:latin typeface="Arial Nova Light" panose="020B0304020202020204" pitchFamily="34" charset="0"/>
              </a:rPr>
              <a:t>Ethical consideration: </a:t>
            </a:r>
            <a:r>
              <a:rPr lang="en-US" sz="2400" dirty="0">
                <a:latin typeface="Arial Nova Light" panose="020B0304020202020204" pitchFamily="34" charset="0"/>
              </a:rPr>
              <a:t>If </a:t>
            </a:r>
            <a:r>
              <a:rPr lang="en-US" sz="2400" dirty="0"/>
              <a:t>you </a:t>
            </a:r>
            <a:r>
              <a:rPr lang="en-US" sz="2400" dirty="0">
                <a:latin typeface="Arial Nova Light" panose="020B0304020202020204" pitchFamily="34" charset="0"/>
              </a:rPr>
              <a:t>were a forensic scientist working at the local laboratory, should you inform the crown attorney’s office about the allegations against Jeff? Should you inform the defense? What is your obligation. </a:t>
            </a:r>
            <a:endParaRPr lang="en-US" sz="1800" dirty="0">
              <a:latin typeface="Arial Nova Light" panose="020B0304020202020204" pitchFamily="34" charset="0"/>
            </a:endParaRPr>
          </a:p>
        </p:txBody>
      </p:sp>
    </p:spTree>
    <p:extLst>
      <p:ext uri="{BB962C8B-B14F-4D97-AF65-F5344CB8AC3E}">
        <p14:creationId xmlns:p14="http://schemas.microsoft.com/office/powerpoint/2010/main" val="11525115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Example 2: Rumored incompetence</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200" y="1888396"/>
            <a:ext cx="10515599" cy="3838575"/>
          </a:xfrm>
        </p:spPr>
        <p:txBody>
          <a:bodyPr anchor="t">
            <a:normAutofit/>
          </a:bodyPr>
          <a:lstStyle/>
          <a:p>
            <a:pPr marL="0" indent="0">
              <a:lnSpc>
                <a:spcPct val="150000"/>
              </a:lnSpc>
              <a:buNone/>
            </a:pPr>
            <a:r>
              <a:rPr lang="en-US" sz="2400" b="1">
                <a:latin typeface="Arial Nova Light" panose="020B0304020202020204" pitchFamily="34" charset="0"/>
              </a:rPr>
              <a:t>Applicable ethical codes from CSFS:</a:t>
            </a:r>
          </a:p>
          <a:p>
            <a:pPr marL="0" indent="0">
              <a:lnSpc>
                <a:spcPct val="150000"/>
              </a:lnSpc>
              <a:buNone/>
            </a:pPr>
            <a:endParaRPr lang="en-US" sz="1800">
              <a:latin typeface="Arial Nova Light" panose="020B0304020202020204" pitchFamily="34" charset="0"/>
            </a:endParaRPr>
          </a:p>
        </p:txBody>
      </p:sp>
      <p:graphicFrame>
        <p:nvGraphicFramePr>
          <p:cNvPr id="3" name="Content Placeholder 4">
            <a:extLst>
              <a:ext uri="{FF2B5EF4-FFF2-40B4-BE49-F238E27FC236}">
                <a16:creationId xmlns:a16="http://schemas.microsoft.com/office/drawing/2014/main" id="{9A06E68E-F241-0957-91E6-609C54CCD8DE}"/>
              </a:ext>
            </a:extLst>
          </p:cNvPr>
          <p:cNvGraphicFramePr>
            <a:graphicFrameLocks/>
          </p:cNvGraphicFramePr>
          <p:nvPr/>
        </p:nvGraphicFramePr>
        <p:xfrm>
          <a:off x="838200" y="2526630"/>
          <a:ext cx="10515600" cy="1854200"/>
        </p:xfrm>
        <a:graphic>
          <a:graphicData uri="http://schemas.openxmlformats.org/drawingml/2006/table">
            <a:tbl>
              <a:tblPr firstRow="1" bandRow="1">
                <a:tableStyleId>{5C22544A-7EE6-4342-B048-85BDC9FD1C3A}</a:tableStyleId>
              </a:tblPr>
              <a:tblGrid>
                <a:gridCol w="459259">
                  <a:extLst>
                    <a:ext uri="{9D8B030D-6E8A-4147-A177-3AD203B41FA5}">
                      <a16:colId xmlns:a16="http://schemas.microsoft.com/office/drawing/2014/main" val="474377314"/>
                    </a:ext>
                  </a:extLst>
                </a:gridCol>
                <a:gridCol w="10056341">
                  <a:extLst>
                    <a:ext uri="{9D8B030D-6E8A-4147-A177-3AD203B41FA5}">
                      <a16:colId xmlns:a16="http://schemas.microsoft.com/office/drawing/2014/main" val="514467023"/>
                    </a:ext>
                  </a:extLst>
                </a:gridCol>
              </a:tblGrid>
              <a:tr h="370840">
                <a:tc>
                  <a:txBody>
                    <a:bodyPr/>
                    <a:lstStyle/>
                    <a:p>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1" kern="1200">
                          <a:solidFill>
                            <a:schemeClr val="tx1"/>
                          </a:solidFill>
                          <a:effectLst/>
                          <a:latin typeface="Arial Nova Light" panose="020B0304020202020204" pitchFamily="34" charset="0"/>
                          <a:ea typeface="+mn-ea"/>
                          <a:cs typeface="+mn-cs"/>
                        </a:rPr>
                        <a:t>with respect to their responsibilities to their client, employer or to the court, shall: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8652133"/>
                  </a:ext>
                </a:extLst>
              </a:tr>
              <a:tr h="370840">
                <a:tc>
                  <a:txBody>
                    <a:bodyPr/>
                    <a:lstStyle/>
                    <a:p>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b="0" i="0">
                          <a:solidFill>
                            <a:schemeClr val="tx1"/>
                          </a:solidFill>
                          <a:latin typeface="Arial Nova Light" panose="020B0304020202020204" pitchFamily="34" charset="0"/>
                        </a:rPr>
                        <a:t>none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6672594"/>
                  </a:ext>
                </a:extLst>
              </a:tr>
              <a:tr h="370840">
                <a:tc>
                  <a:txBody>
                    <a:bodyPr/>
                    <a:lstStyle/>
                    <a:p>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7043105"/>
                  </a:ext>
                </a:extLst>
              </a:tr>
              <a:tr h="370840">
                <a:tc>
                  <a:txBody>
                    <a:bodyPr/>
                    <a:lstStyle/>
                    <a:p>
                      <a:endParaRPr lang="en-CA" b="0" i="0">
                        <a:solidFill>
                          <a:schemeClr val="tx1"/>
                        </a:solidFill>
                        <a:latin typeface="Arial Nova Light" panose="020B03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b="0" i="1" kern="1200">
                          <a:solidFill>
                            <a:schemeClr val="tx1"/>
                          </a:solidFill>
                          <a:effectLst/>
                          <a:latin typeface="Arial Nova Light" panose="020B0304020202020204" pitchFamily="34" charset="0"/>
                          <a:ea typeface="+mn-ea"/>
                          <a:cs typeface="+mn-cs"/>
                        </a:rPr>
                        <a:t>with respect to their responsibilities to the profession of forensic science, shall: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06319658"/>
                  </a:ext>
                </a:extLst>
              </a:tr>
              <a:tr h="370840">
                <a:tc>
                  <a:txBody>
                    <a:bodyPr/>
                    <a:lstStyle/>
                    <a:p>
                      <a:r>
                        <a:rPr lang="en-CA" b="0" i="0">
                          <a:solidFill>
                            <a:schemeClr val="tx1"/>
                          </a:solidFill>
                          <a:latin typeface="Arial Nova Light" panose="020B0304020202020204" pitchFamily="34"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CA" sz="1800" b="0" i="0" kern="1200">
                          <a:solidFill>
                            <a:schemeClr val="dk1"/>
                          </a:solidFill>
                          <a:effectLst/>
                          <a:latin typeface="Arial Nova Light" panose="020B0304020202020204" pitchFamily="34" charset="0"/>
                          <a:ea typeface="+mn-ea"/>
                          <a:cs typeface="+mn-cs"/>
                        </a:rPr>
                        <a:t>carry out their duties in a professional manner and strive to be </a:t>
                      </a:r>
                      <a:r>
                        <a:rPr lang="en-CA" sz="1800" b="1" i="0" kern="1200">
                          <a:solidFill>
                            <a:schemeClr val="dk1"/>
                          </a:solidFill>
                          <a:effectLst/>
                          <a:latin typeface="Arial Nova Light" panose="020B0304020202020204" pitchFamily="34" charset="0"/>
                          <a:ea typeface="+mn-ea"/>
                          <a:cs typeface="+mn-cs"/>
                        </a:rPr>
                        <a:t>worthy of the confidence of the public</a:t>
                      </a:r>
                      <a:r>
                        <a:rPr lang="en-CA" sz="1800" b="0" i="0" kern="1200">
                          <a:solidFill>
                            <a:schemeClr val="dk1"/>
                          </a:solidFill>
                          <a:effectLst/>
                          <a:latin typeface="Arial Nova Light" panose="020B0304020202020204" pitchFamily="34" charset="0"/>
                          <a:ea typeface="+mn-ea"/>
                          <a:cs typeface="+mn-cs"/>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3548358"/>
                  </a:ext>
                </a:extLst>
              </a:tr>
            </a:tbl>
          </a:graphicData>
        </a:graphic>
      </p:graphicFrame>
    </p:spTree>
    <p:extLst>
      <p:ext uri="{BB962C8B-B14F-4D97-AF65-F5344CB8AC3E}">
        <p14:creationId xmlns:p14="http://schemas.microsoft.com/office/powerpoint/2010/main" val="410359642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Example 2: Rumored incompetence</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200" y="1888396"/>
            <a:ext cx="10515599" cy="3838575"/>
          </a:xfrm>
        </p:spPr>
        <p:txBody>
          <a:bodyPr anchor="t">
            <a:normAutofit/>
          </a:bodyPr>
          <a:lstStyle/>
          <a:p>
            <a:pPr marL="0" indent="0">
              <a:lnSpc>
                <a:spcPct val="150000"/>
              </a:lnSpc>
              <a:buNone/>
            </a:pPr>
            <a:r>
              <a:rPr lang="en-US" sz="2400" b="1" dirty="0">
                <a:latin typeface="Arial Nova Light" panose="020B0304020202020204" pitchFamily="34" charset="0"/>
              </a:rPr>
              <a:t>Resolution: </a:t>
            </a:r>
            <a:r>
              <a:rPr lang="en-US" sz="2400" dirty="0">
                <a:latin typeface="Arial Nova Light" panose="020B0304020202020204" pitchFamily="34" charset="0"/>
              </a:rPr>
              <a:t>Unclear. Likely depends on what the allegations are against Jeff, how I came to be aware of the allegations, etc. </a:t>
            </a:r>
            <a:r>
              <a:rPr lang="en-US" sz="2400">
                <a:latin typeface="Arial Nova Light" panose="020B0304020202020204" pitchFamily="34" charset="0"/>
              </a:rPr>
              <a:t>To me, this </a:t>
            </a:r>
            <a:r>
              <a:rPr lang="en-US" sz="2400" dirty="0">
                <a:latin typeface="Arial Nova Light" panose="020B0304020202020204" pitchFamily="34" charset="0"/>
              </a:rPr>
              <a:t>is an ethical scenario where there is no obvious path-forward.</a:t>
            </a:r>
            <a:endParaRPr lang="en-US" sz="2400" b="1" dirty="0">
              <a:latin typeface="Arial Nova Light" panose="020B0304020202020204" pitchFamily="34" charset="0"/>
            </a:endParaRPr>
          </a:p>
          <a:p>
            <a:pPr marL="0" indent="0">
              <a:lnSpc>
                <a:spcPct val="150000"/>
              </a:lnSpc>
              <a:buNone/>
            </a:pPr>
            <a:endParaRPr lang="en-US" sz="1800" dirty="0">
              <a:latin typeface="Arial Nova Light" panose="020B0304020202020204" pitchFamily="34" charset="0"/>
            </a:endParaRPr>
          </a:p>
        </p:txBody>
      </p:sp>
    </p:spTree>
    <p:extLst>
      <p:ext uri="{BB962C8B-B14F-4D97-AF65-F5344CB8AC3E}">
        <p14:creationId xmlns:p14="http://schemas.microsoft.com/office/powerpoint/2010/main" val="20552846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Some example “Codes of Ethics”</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199" y="1690688"/>
            <a:ext cx="10515599" cy="3838575"/>
          </a:xfrm>
        </p:spPr>
        <p:txBody>
          <a:bodyPr>
            <a:normAutofit fontScale="92500"/>
          </a:bodyPr>
          <a:lstStyle/>
          <a:p>
            <a:pPr marL="0" indent="0">
              <a:buNone/>
            </a:pPr>
            <a:endParaRPr lang="en-US" sz="2400">
              <a:latin typeface="Arial Nova Light" panose="020B0304020202020204" pitchFamily="34" charset="0"/>
            </a:endParaRPr>
          </a:p>
          <a:p>
            <a:pPr marL="457200" indent="-457200">
              <a:buFont typeface="+mj-lt"/>
              <a:buAutoNum type="arabicPeriod"/>
            </a:pPr>
            <a:r>
              <a:rPr lang="en-US" sz="2400">
                <a:latin typeface="Arial Nova Light" panose="020B0304020202020204" pitchFamily="34" charset="0"/>
                <a:hlinkClick r:id="rId2"/>
              </a:rPr>
              <a:t>https://www.csfs.ca/become-a-member/code-of-conduct/</a:t>
            </a:r>
            <a:br>
              <a:rPr lang="en-US" sz="2400">
                <a:latin typeface="Arial Nova Light" panose="020B0304020202020204" pitchFamily="34" charset="0"/>
              </a:rPr>
            </a:br>
            <a:endParaRPr lang="en-US" sz="2400">
              <a:latin typeface="Arial Nova Light" panose="020B0304020202020204" pitchFamily="34" charset="0"/>
            </a:endParaRPr>
          </a:p>
          <a:p>
            <a:pPr marL="457200" indent="-457200">
              <a:buFont typeface="+mj-lt"/>
              <a:buAutoNum type="arabicPeriod"/>
            </a:pPr>
            <a:r>
              <a:rPr lang="en-US" sz="2400">
                <a:latin typeface="Arial Nova Light" panose="020B0304020202020204" pitchFamily="34" charset="0"/>
                <a:hlinkClick r:id="rId3"/>
              </a:rPr>
              <a:t>https://www.acfi.ca/our-commitment/code-of-professional-ethics-and-conduct/</a:t>
            </a:r>
            <a:br>
              <a:rPr lang="en-US" sz="2400">
                <a:latin typeface="Arial Nova Light" panose="020B0304020202020204" pitchFamily="34" charset="0"/>
              </a:rPr>
            </a:br>
            <a:endParaRPr lang="en-US" sz="2400">
              <a:latin typeface="Arial Nova Light" panose="020B0304020202020204" pitchFamily="34" charset="0"/>
            </a:endParaRPr>
          </a:p>
          <a:p>
            <a:pPr marL="457200" indent="-457200">
              <a:buFont typeface="+mj-lt"/>
              <a:buAutoNum type="arabicPeriod"/>
            </a:pPr>
            <a:r>
              <a:rPr lang="en-US" sz="2400">
                <a:latin typeface="Arial Nova Light" panose="020B0304020202020204" pitchFamily="34" charset="0"/>
                <a:hlinkClick r:id="rId4"/>
              </a:rPr>
              <a:t>https://www.abft.org/code-of-ethics/</a:t>
            </a:r>
            <a:br>
              <a:rPr lang="en-US" sz="2400">
                <a:latin typeface="Arial Nova Light" panose="020B0304020202020204" pitchFamily="34" charset="0"/>
              </a:rPr>
            </a:br>
            <a:endParaRPr lang="en-US" sz="2400">
              <a:latin typeface="Arial Nova Light" panose="020B0304020202020204" pitchFamily="34" charset="0"/>
            </a:endParaRPr>
          </a:p>
          <a:p>
            <a:pPr marL="457200" indent="-457200">
              <a:buFont typeface="+mj-lt"/>
              <a:buAutoNum type="arabicPeriod"/>
            </a:pPr>
            <a:r>
              <a:rPr lang="en-US" sz="2400">
                <a:latin typeface="Arial Nova Light" panose="020B0304020202020204" pitchFamily="34" charset="0"/>
                <a:hlinkClick r:id="rId5"/>
              </a:rPr>
              <a:t>https://www.wildlifeforensicscience.org/mission/ethical-guidelines/</a:t>
            </a:r>
            <a:r>
              <a:rPr lang="en-US" sz="2400">
                <a:latin typeface="Arial Nova Light" panose="020B0304020202020204" pitchFamily="34" charset="0"/>
              </a:rPr>
              <a:t>   </a:t>
            </a:r>
            <a:br>
              <a:rPr lang="en-US" sz="2400">
                <a:latin typeface="Arial Nova Light" panose="020B0304020202020204" pitchFamily="34" charset="0"/>
              </a:rPr>
            </a:br>
            <a:endParaRPr lang="en-US" sz="2400">
              <a:latin typeface="Arial Nova Light" panose="020B0304020202020204" pitchFamily="34" charset="0"/>
            </a:endParaRPr>
          </a:p>
          <a:p>
            <a:pPr marL="457200" indent="-457200">
              <a:buFont typeface="+mj-lt"/>
              <a:buAutoNum type="arabicPeriod"/>
            </a:pPr>
            <a:r>
              <a:rPr lang="en-US" sz="2400">
                <a:latin typeface="Arial Nova Light" panose="020B0304020202020204" pitchFamily="34" charset="0"/>
                <a:hlinkClick r:id="rId6"/>
              </a:rPr>
              <a:t>https://www.csofs.org/about-us/governance/code-of-conduct/</a:t>
            </a:r>
            <a:endParaRPr lang="en-US" sz="2400">
              <a:latin typeface="Arial Nova Light" panose="020B0304020202020204" pitchFamily="34" charset="0"/>
            </a:endParaRPr>
          </a:p>
          <a:p>
            <a:endParaRPr lang="en-US" sz="2400">
              <a:latin typeface="Arial Nova Light" panose="020B0304020202020204" pitchFamily="34" charset="0"/>
            </a:endParaRPr>
          </a:p>
        </p:txBody>
      </p:sp>
    </p:spTree>
    <p:extLst>
      <p:ext uri="{BB962C8B-B14F-4D97-AF65-F5344CB8AC3E}">
        <p14:creationId xmlns:p14="http://schemas.microsoft.com/office/powerpoint/2010/main" val="10025119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Ethics as a researcher</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199" y="1690688"/>
            <a:ext cx="10515599" cy="4709724"/>
          </a:xfrm>
        </p:spPr>
        <p:txBody>
          <a:bodyPr>
            <a:normAutofit/>
          </a:bodyPr>
          <a:lstStyle/>
          <a:p>
            <a:r>
              <a:rPr lang="en-US" sz="2400" dirty="0">
                <a:latin typeface="Arial Nova Light" panose="020B0304020202020204" pitchFamily="34" charset="0"/>
              </a:rPr>
              <a:t>The goal of research activity is to extend knowledge and understanding through disciplined inquiry and systematic investigation</a:t>
            </a:r>
          </a:p>
          <a:p>
            <a:endParaRPr lang="en-US" sz="2400" dirty="0">
              <a:latin typeface="Arial Nova Light" panose="020B0304020202020204" pitchFamily="34" charset="0"/>
            </a:endParaRPr>
          </a:p>
          <a:p>
            <a:r>
              <a:rPr lang="en-US" sz="2400" i="1" dirty="0">
                <a:latin typeface="Arial Nova Light" panose="020B0304020202020204" pitchFamily="34" charset="0"/>
              </a:rPr>
              <a:t>“Research is a step into the unknown.” TCPS2-2022 (p.13)</a:t>
            </a:r>
          </a:p>
          <a:p>
            <a:pPr marL="457200" lvl="1" indent="0">
              <a:buNone/>
            </a:pPr>
            <a:endParaRPr lang="en-US" sz="2000" dirty="0">
              <a:latin typeface="Arial Nova Light" panose="020B0304020202020204" pitchFamily="34" charset="0"/>
            </a:endParaRPr>
          </a:p>
          <a:p>
            <a:r>
              <a:rPr lang="en-US" sz="2400" dirty="0">
                <a:latin typeface="Arial Nova Light" panose="020B0304020202020204" pitchFamily="34" charset="0"/>
              </a:rPr>
              <a:t>Because research is exploring ideas that are not yet understood, there are often risks to participants; risks can be trivial or profound</a:t>
            </a:r>
          </a:p>
          <a:p>
            <a:endParaRPr lang="en-US" sz="2400" dirty="0">
              <a:latin typeface="Arial Nova Light" panose="020B0304020202020204" pitchFamily="34" charset="0"/>
            </a:endParaRPr>
          </a:p>
          <a:p>
            <a:r>
              <a:rPr lang="en-US" sz="2400" dirty="0">
                <a:latin typeface="Arial Nova Light" panose="020B0304020202020204" pitchFamily="34" charset="0"/>
              </a:rPr>
              <a:t>Because research is so diverse, there is no-single “code of ethics” document; there are some institutional mechanisms to encourage research is conducted ethically, and guidelines for responsible researchers to follow </a:t>
            </a:r>
            <a:endParaRPr lang="en-US" sz="2000" dirty="0">
              <a:latin typeface="Arial Nova Light" panose="020B0304020202020204" pitchFamily="34" charset="0"/>
            </a:endParaRPr>
          </a:p>
          <a:p>
            <a:endParaRPr lang="en-US" sz="2400" dirty="0">
              <a:latin typeface="Arial Nova Light" panose="020B0304020202020204" pitchFamily="34" charset="0"/>
            </a:endParaRPr>
          </a:p>
          <a:p>
            <a:endParaRPr lang="en-US" sz="2000" dirty="0">
              <a:latin typeface="Arial Nova Light" panose="020B0304020202020204" pitchFamily="34" charset="0"/>
            </a:endParaRPr>
          </a:p>
        </p:txBody>
      </p:sp>
    </p:spTree>
    <p:extLst>
      <p:ext uri="{BB962C8B-B14F-4D97-AF65-F5344CB8AC3E}">
        <p14:creationId xmlns:p14="http://schemas.microsoft.com/office/powerpoint/2010/main" val="3363167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Research Ethics Board</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199" y="1690688"/>
            <a:ext cx="10515599" cy="4709724"/>
          </a:xfrm>
        </p:spPr>
        <p:txBody>
          <a:bodyPr>
            <a:normAutofit/>
          </a:bodyPr>
          <a:lstStyle/>
          <a:p>
            <a:r>
              <a:rPr lang="en-US" sz="2400">
                <a:latin typeface="Arial Nova Light" panose="020B0304020202020204" pitchFamily="34" charset="0"/>
              </a:rPr>
              <a:t>One of the main mechanisms in place to encourage ethical research are </a:t>
            </a:r>
            <a:r>
              <a:rPr lang="en-US" sz="2400" b="1">
                <a:latin typeface="Arial Nova Light" panose="020B0304020202020204" pitchFamily="34" charset="0"/>
              </a:rPr>
              <a:t>research ethics boards</a:t>
            </a:r>
          </a:p>
          <a:p>
            <a:endParaRPr lang="en-US" sz="2400" b="1">
              <a:latin typeface="Arial Nova Light" panose="020B0304020202020204" pitchFamily="34" charset="0"/>
            </a:endParaRPr>
          </a:p>
          <a:p>
            <a:r>
              <a:rPr lang="en-US" sz="2400" b="1">
                <a:latin typeface="Arial Nova Light" panose="020B0304020202020204" pitchFamily="34" charset="0"/>
              </a:rPr>
              <a:t>Research ethics board (REB): </a:t>
            </a:r>
            <a:r>
              <a:rPr lang="en-US" sz="2400">
                <a:latin typeface="Arial Nova Light" panose="020B0304020202020204" pitchFamily="34" charset="0"/>
              </a:rPr>
              <a:t>A multidisciplinary committee that reviews all research proposals involving human participants to ensure the projects meet the highest ethical standards and that safeguards are implemented to protect participants and/or communities.</a:t>
            </a:r>
          </a:p>
          <a:p>
            <a:endParaRPr lang="en-US" sz="2400">
              <a:latin typeface="Arial Nova Light" panose="020B0304020202020204" pitchFamily="34" charset="0"/>
            </a:endParaRPr>
          </a:p>
          <a:p>
            <a:r>
              <a:rPr lang="en-US" sz="2400">
                <a:latin typeface="Arial Nova Light" panose="020B0304020202020204" pitchFamily="34" charset="0"/>
              </a:rPr>
              <a:t>At Trent, the REB is composed of faculty, graduate students and community members</a:t>
            </a:r>
          </a:p>
          <a:p>
            <a:endParaRPr lang="en-US" sz="2000">
              <a:latin typeface="Arial Nova Light" panose="020B0304020202020204" pitchFamily="34" charset="0"/>
            </a:endParaRPr>
          </a:p>
          <a:p>
            <a:endParaRPr lang="en-US" sz="2400">
              <a:latin typeface="Arial Nova Light" panose="020B0304020202020204" pitchFamily="34" charset="0"/>
            </a:endParaRPr>
          </a:p>
          <a:p>
            <a:endParaRPr lang="en-US" sz="2000">
              <a:latin typeface="Arial Nova Light" panose="020B0304020202020204" pitchFamily="34" charset="0"/>
            </a:endParaRPr>
          </a:p>
        </p:txBody>
      </p:sp>
    </p:spTree>
    <p:extLst>
      <p:ext uri="{BB962C8B-B14F-4D97-AF65-F5344CB8AC3E}">
        <p14:creationId xmlns:p14="http://schemas.microsoft.com/office/powerpoint/2010/main" val="1338562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Research Ethics Board</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199" y="1690688"/>
            <a:ext cx="10515599" cy="4709724"/>
          </a:xfrm>
        </p:spPr>
        <p:txBody>
          <a:bodyPr>
            <a:normAutofit/>
          </a:bodyPr>
          <a:lstStyle/>
          <a:p>
            <a:r>
              <a:rPr lang="en-US" sz="2400">
                <a:latin typeface="Arial Nova Light" panose="020B0304020202020204" pitchFamily="34" charset="0"/>
              </a:rPr>
              <a:t>Every institutions REB may have slightly different protocols and responsibilities. At Trent, the REB is expected to (1-3):</a:t>
            </a:r>
            <a:br>
              <a:rPr lang="en-US" sz="2400">
                <a:latin typeface="Arial Nova Light" panose="020B0304020202020204" pitchFamily="34" charset="0"/>
              </a:rPr>
            </a:br>
            <a:endParaRPr lang="en-US" sz="2400">
              <a:latin typeface="Arial Nova Light" panose="020B0304020202020204" pitchFamily="34" charset="0"/>
            </a:endParaRPr>
          </a:p>
          <a:p>
            <a:pPr marL="342900" indent="-342900" algn="l">
              <a:buFont typeface="+mj-lt"/>
              <a:buAutoNum type="arabicPeriod"/>
            </a:pPr>
            <a:r>
              <a:rPr lang="en-CA" sz="1800">
                <a:solidFill>
                  <a:srgbClr val="0B2318"/>
                </a:solidFill>
                <a:effectLst/>
                <a:highlight>
                  <a:srgbClr val="FFFFFF"/>
                </a:highlight>
                <a:latin typeface="Arial Nova Light" panose="020B0304020202020204" pitchFamily="34" charset="0"/>
              </a:rPr>
              <a:t>Conduct ethics reviews of proposals from members of Trent University, and others who conduct research involving human participants at Trent, to determine conformance with the whole of the Tri-Council Policy Statement: “Ethical Conduct for Research Involving Human Subjects”, within the context of the University’s responsibility to ensure that research meets high scientific and scholarly standards;</a:t>
            </a:r>
          </a:p>
          <a:p>
            <a:pPr marL="342900" indent="-342900" algn="l">
              <a:buFont typeface="+mj-lt"/>
              <a:buAutoNum type="arabicPeriod"/>
            </a:pPr>
            <a:r>
              <a:rPr lang="en-CA" sz="1800">
                <a:solidFill>
                  <a:srgbClr val="0B2318"/>
                </a:solidFill>
                <a:effectLst/>
                <a:highlight>
                  <a:srgbClr val="FFFFFF"/>
                </a:highlight>
                <a:latin typeface="Arial Nova Light" panose="020B0304020202020204" pitchFamily="34" charset="0"/>
              </a:rPr>
              <a:t>Delegate course-related, non-funded, minimal risk research to the relevant department, school or graduate program ethics review body for review and approval; and oversee that review process;</a:t>
            </a:r>
          </a:p>
          <a:p>
            <a:pPr marL="342900" indent="-342900" algn="l">
              <a:buFont typeface="+mj-lt"/>
              <a:buAutoNum type="arabicPeriod"/>
            </a:pPr>
            <a:r>
              <a:rPr lang="en-CA" sz="1800">
                <a:solidFill>
                  <a:srgbClr val="0B2318"/>
                </a:solidFill>
                <a:effectLst/>
                <a:highlight>
                  <a:srgbClr val="FFFFFF"/>
                </a:highlight>
                <a:latin typeface="Arial Nova Light" panose="020B0304020202020204" pitchFamily="34" charset="0"/>
              </a:rPr>
              <a:t>Terminate any research that it considers to be threatening or causing distress to the participants, deviates from the approved protocol, or has not been approved by the appropriate body;</a:t>
            </a:r>
          </a:p>
          <a:p>
            <a:pPr marL="0" indent="0">
              <a:buNone/>
            </a:pPr>
            <a:endParaRPr lang="en-US" sz="2000">
              <a:latin typeface="Arial Nova Light" panose="020B0304020202020204" pitchFamily="34" charset="0"/>
            </a:endParaRPr>
          </a:p>
        </p:txBody>
      </p:sp>
    </p:spTree>
    <p:extLst>
      <p:ext uri="{BB962C8B-B14F-4D97-AF65-F5344CB8AC3E}">
        <p14:creationId xmlns:p14="http://schemas.microsoft.com/office/powerpoint/2010/main" val="3606584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Research Ethics Board</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199" y="1690688"/>
            <a:ext cx="10515599" cy="4709724"/>
          </a:xfrm>
        </p:spPr>
        <p:txBody>
          <a:bodyPr>
            <a:normAutofit/>
          </a:bodyPr>
          <a:lstStyle/>
          <a:p>
            <a:r>
              <a:rPr lang="en-US" sz="2400">
                <a:latin typeface="Arial Nova Light" panose="020B0304020202020204" pitchFamily="34" charset="0"/>
              </a:rPr>
              <a:t>Every institutions REB may have slightly different protocols and responsibilities. At Trent, the REB is expected to (4-7):</a:t>
            </a:r>
            <a:br>
              <a:rPr lang="en-US" sz="2400">
                <a:latin typeface="Arial Nova Light" panose="020B0304020202020204" pitchFamily="34" charset="0"/>
              </a:rPr>
            </a:br>
            <a:endParaRPr lang="en-US" sz="2400">
              <a:latin typeface="Arial Nova Light" panose="020B0304020202020204" pitchFamily="34" charset="0"/>
            </a:endParaRPr>
          </a:p>
          <a:p>
            <a:pPr marL="342900" indent="-342900" algn="l">
              <a:buFont typeface="+mj-lt"/>
              <a:buAutoNum type="arabicPeriod" startAt="4"/>
            </a:pPr>
            <a:r>
              <a:rPr lang="en-CA" sz="1800">
                <a:solidFill>
                  <a:srgbClr val="0B2318"/>
                </a:solidFill>
                <a:effectLst/>
                <a:highlight>
                  <a:srgbClr val="FFFFFF"/>
                </a:highlight>
                <a:latin typeface="Arial Nova Light" panose="020B0304020202020204" pitchFamily="34" charset="0"/>
              </a:rPr>
              <a:t>Ensure that departments, schools, and graduate programs are familiar with, and adhere to the Trent University Senate Policy for Research Involving Human Participants;</a:t>
            </a:r>
          </a:p>
          <a:p>
            <a:pPr marL="342900" indent="-342900" algn="l">
              <a:buFont typeface="+mj-lt"/>
              <a:buAutoNum type="arabicPeriod" startAt="4"/>
            </a:pPr>
            <a:r>
              <a:rPr lang="en-CA" sz="1800">
                <a:solidFill>
                  <a:srgbClr val="0B2318"/>
                </a:solidFill>
                <a:effectLst/>
                <a:highlight>
                  <a:srgbClr val="FFFFFF"/>
                </a:highlight>
                <a:latin typeface="Arial Nova Light" panose="020B0304020202020204" pitchFamily="34" charset="0"/>
              </a:rPr>
              <a:t>Act as an advisory body for the University, educating the community on ethics in research and providing guidance on the ethics review process;</a:t>
            </a:r>
          </a:p>
          <a:p>
            <a:pPr marL="342900" indent="-342900" algn="l">
              <a:buFont typeface="+mj-lt"/>
              <a:buAutoNum type="arabicPeriod" startAt="4"/>
            </a:pPr>
            <a:r>
              <a:rPr lang="en-CA" sz="1800">
                <a:solidFill>
                  <a:srgbClr val="0B2318"/>
                </a:solidFill>
                <a:effectLst/>
                <a:highlight>
                  <a:srgbClr val="FFFFFF"/>
                </a:highlight>
                <a:latin typeface="Arial Nova Light" panose="020B0304020202020204" pitchFamily="34" charset="0"/>
              </a:rPr>
              <a:t>Report at least once a year to Senate on its activities, including a list of protocols reviewed and approved; and</a:t>
            </a:r>
          </a:p>
          <a:p>
            <a:pPr marL="342900" indent="-342900" algn="l">
              <a:buFont typeface="+mj-lt"/>
              <a:buAutoNum type="arabicPeriod" startAt="4"/>
            </a:pPr>
            <a:r>
              <a:rPr lang="en-CA" sz="1800">
                <a:solidFill>
                  <a:srgbClr val="0B2318"/>
                </a:solidFill>
                <a:effectLst/>
                <a:highlight>
                  <a:srgbClr val="FFFFFF"/>
                </a:highlight>
                <a:latin typeface="Arial Nova Light" panose="020B0304020202020204" pitchFamily="34" charset="0"/>
              </a:rPr>
              <a:t>Ensure that departments advise students about the relevant aspects of ethics in research and the paramount need to treat participants ethically and respectfully.</a:t>
            </a:r>
          </a:p>
          <a:p>
            <a:endParaRPr lang="en-US" sz="2400">
              <a:latin typeface="Arial Nova Light" panose="020B0304020202020204" pitchFamily="34" charset="0"/>
            </a:endParaRPr>
          </a:p>
          <a:p>
            <a:endParaRPr lang="en-US" sz="2000">
              <a:latin typeface="Arial Nova Light" panose="020B0304020202020204" pitchFamily="34" charset="0"/>
            </a:endParaRPr>
          </a:p>
          <a:p>
            <a:endParaRPr lang="en-US" sz="2400">
              <a:latin typeface="Arial Nova Light" panose="020B0304020202020204" pitchFamily="34" charset="0"/>
            </a:endParaRPr>
          </a:p>
          <a:p>
            <a:endParaRPr lang="en-US" sz="2000">
              <a:latin typeface="Arial Nova Light" panose="020B0304020202020204" pitchFamily="34" charset="0"/>
            </a:endParaRPr>
          </a:p>
        </p:txBody>
      </p:sp>
    </p:spTree>
    <p:extLst>
      <p:ext uri="{BB962C8B-B14F-4D97-AF65-F5344CB8AC3E}">
        <p14:creationId xmlns:p14="http://schemas.microsoft.com/office/powerpoint/2010/main" val="2579633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Research Ethics Guidance Documents</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199" y="1690688"/>
            <a:ext cx="10515599" cy="4709724"/>
          </a:xfrm>
        </p:spPr>
        <p:txBody>
          <a:bodyPr>
            <a:normAutofit/>
          </a:bodyPr>
          <a:lstStyle/>
          <a:p>
            <a:r>
              <a:rPr lang="en-CA" sz="2400" dirty="0">
                <a:latin typeface="Arial Nova Light" panose="020B0304020202020204" pitchFamily="34" charset="0"/>
              </a:rPr>
              <a:t>The Canadian Interagency Advisory Panel on Research Ethics has provided a policy guideline for researchers conducting research in Canada and Canadians doing research abroad: Tri-Council Policy Statement (TCPS)</a:t>
            </a:r>
          </a:p>
          <a:p>
            <a:endParaRPr lang="en-CA" sz="2400" dirty="0">
              <a:latin typeface="Arial Nova Light" panose="020B0304020202020204" pitchFamily="34" charset="0"/>
            </a:endParaRPr>
          </a:p>
          <a:p>
            <a:r>
              <a:rPr lang="en-CA" sz="2400" dirty="0">
                <a:latin typeface="Arial Nova Light" panose="020B0304020202020204" pitchFamily="34" charset="0"/>
              </a:rPr>
              <a:t>If you are considering doing research involving humans (including surveys), you </a:t>
            </a:r>
            <a:r>
              <a:rPr lang="en-CA" sz="2400" b="1" dirty="0">
                <a:latin typeface="Arial Nova Light" panose="020B0304020202020204" pitchFamily="34" charset="0"/>
              </a:rPr>
              <a:t>must complete TCPS training</a:t>
            </a:r>
            <a:r>
              <a:rPr lang="en-CA" sz="2400" dirty="0">
                <a:latin typeface="Arial Nova Light" panose="020B0304020202020204" pitchFamily="34" charset="0"/>
              </a:rPr>
              <a:t> prior to starting your research</a:t>
            </a:r>
          </a:p>
          <a:p>
            <a:pPr marL="0" indent="0">
              <a:buNone/>
            </a:pPr>
            <a:endParaRPr lang="en-US" sz="2400" dirty="0">
              <a:latin typeface="Arial Nova Light" panose="020B0304020202020204" pitchFamily="34" charset="0"/>
            </a:endParaRPr>
          </a:p>
          <a:p>
            <a:r>
              <a:rPr lang="en-US" sz="2400" b="1" dirty="0">
                <a:latin typeface="Arial Nova Light" panose="020B0304020202020204" pitchFamily="34" charset="0"/>
              </a:rPr>
              <a:t>TCPS Highlights: </a:t>
            </a:r>
            <a:r>
              <a:rPr lang="en-US" sz="2400" dirty="0">
                <a:latin typeface="Arial Nova Light" panose="020B0304020202020204" pitchFamily="34" charset="0"/>
              </a:rPr>
              <a:t>Defines the core principles that shape the the policy. Covers topics including: the process of acquiring consent for research, fairness and equity considerations, privacy and confidentiality, and considerations for working with first nations, </a:t>
            </a:r>
            <a:r>
              <a:rPr lang="en-US" sz="2400" dirty="0" err="1">
                <a:latin typeface="Arial Nova Light" panose="020B0304020202020204" pitchFamily="34" charset="0"/>
              </a:rPr>
              <a:t>inuit</a:t>
            </a:r>
            <a:r>
              <a:rPr lang="en-US" sz="2400" dirty="0">
                <a:latin typeface="Arial Nova Light" panose="020B0304020202020204" pitchFamily="34" charset="0"/>
              </a:rPr>
              <a:t> and </a:t>
            </a:r>
            <a:r>
              <a:rPr lang="en-US" sz="2400" dirty="0" err="1">
                <a:latin typeface="Arial Nova Light" panose="020B0304020202020204" pitchFamily="34" charset="0"/>
              </a:rPr>
              <a:t>metis</a:t>
            </a:r>
            <a:r>
              <a:rPr lang="en-US" sz="2400" dirty="0">
                <a:latin typeface="Arial Nova Light" panose="020B0304020202020204" pitchFamily="34" charset="0"/>
              </a:rPr>
              <a:t> peoples of Canada.</a:t>
            </a:r>
          </a:p>
          <a:p>
            <a:endParaRPr lang="en-US" sz="2000" dirty="0">
              <a:latin typeface="Arial Nova Light" panose="020B0304020202020204" pitchFamily="34" charset="0"/>
            </a:endParaRPr>
          </a:p>
          <a:p>
            <a:endParaRPr lang="en-US" sz="2400" dirty="0">
              <a:latin typeface="Arial Nova Light" panose="020B0304020202020204" pitchFamily="34" charset="0"/>
            </a:endParaRPr>
          </a:p>
          <a:p>
            <a:endParaRPr lang="en-US" sz="2000" dirty="0">
              <a:latin typeface="Arial Nova Light" panose="020B0304020202020204" pitchFamily="34" charset="0"/>
            </a:endParaRPr>
          </a:p>
        </p:txBody>
      </p:sp>
    </p:spTree>
    <p:extLst>
      <p:ext uri="{BB962C8B-B14F-4D97-AF65-F5344CB8AC3E}">
        <p14:creationId xmlns:p14="http://schemas.microsoft.com/office/powerpoint/2010/main" val="4043782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Research Ethics Guidance Documents</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199" y="1690688"/>
            <a:ext cx="10515599" cy="4709724"/>
          </a:xfrm>
        </p:spPr>
        <p:txBody>
          <a:bodyPr>
            <a:normAutofit/>
          </a:bodyPr>
          <a:lstStyle/>
          <a:p>
            <a:r>
              <a:rPr lang="en-CA" sz="2400" dirty="0">
                <a:latin typeface="Arial Nova Light" panose="020B0304020202020204" pitchFamily="34" charset="0"/>
              </a:rPr>
              <a:t>The U.S. National Academies has a guidance document titled “On Being a Scientist: A guide to conduct in research” from 2009</a:t>
            </a:r>
          </a:p>
          <a:p>
            <a:pPr marL="0" indent="0">
              <a:buNone/>
            </a:pPr>
            <a:endParaRPr lang="en-CA" sz="2400" dirty="0">
              <a:latin typeface="Arial Nova Light" panose="020B0304020202020204" pitchFamily="34" charset="0"/>
            </a:endParaRPr>
          </a:p>
          <a:p>
            <a:r>
              <a:rPr lang="en-CA" sz="2400" dirty="0">
                <a:latin typeface="Arial Nova Light" panose="020B0304020202020204" pitchFamily="34" charset="0"/>
              </a:rPr>
              <a:t>This document does explore several important but “grey” topics faced by active scientist: ensuring laboratory safety, sharing of research results, authorship and allocation of credit / intellectual property</a:t>
            </a:r>
          </a:p>
          <a:p>
            <a:pPr marL="0" indent="0">
              <a:buNone/>
            </a:pPr>
            <a:endParaRPr lang="en-US" sz="2000" dirty="0">
              <a:latin typeface="Arial Nova Light" panose="020B0304020202020204" pitchFamily="34" charset="0"/>
            </a:endParaRPr>
          </a:p>
          <a:p>
            <a:endParaRPr lang="en-US" sz="2400" dirty="0">
              <a:latin typeface="Arial Nova Light" panose="020B0304020202020204" pitchFamily="34" charset="0"/>
            </a:endParaRPr>
          </a:p>
          <a:p>
            <a:endParaRPr lang="en-US" sz="2000" dirty="0">
              <a:latin typeface="Arial Nova Light" panose="020B0304020202020204" pitchFamily="34" charset="0"/>
            </a:endParaRPr>
          </a:p>
        </p:txBody>
      </p:sp>
    </p:spTree>
    <p:extLst>
      <p:ext uri="{BB962C8B-B14F-4D97-AF65-F5344CB8AC3E}">
        <p14:creationId xmlns:p14="http://schemas.microsoft.com/office/powerpoint/2010/main" val="2597107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E56E-4B91-C5F1-17B9-428B4CBB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56581-DB3A-FDE1-DC00-BCD3ABA23DB8}"/>
              </a:ext>
            </a:extLst>
          </p:cNvPr>
          <p:cNvSpPr>
            <a:spLocks noGrp="1"/>
          </p:cNvSpPr>
          <p:nvPr>
            <p:ph type="title"/>
          </p:nvPr>
        </p:nvSpPr>
        <p:spPr/>
        <p:txBody>
          <a:bodyPr/>
          <a:lstStyle/>
          <a:p>
            <a:r>
              <a:rPr lang="en-US">
                <a:latin typeface="Arial Nova Light" panose="020B0304020202020204" pitchFamily="34" charset="0"/>
              </a:rPr>
              <a:t>Research Ethics Guidance Documents</a:t>
            </a:r>
          </a:p>
        </p:txBody>
      </p:sp>
      <p:sp>
        <p:nvSpPr>
          <p:cNvPr id="6" name="Content Placeholder 5">
            <a:extLst>
              <a:ext uri="{FF2B5EF4-FFF2-40B4-BE49-F238E27FC236}">
                <a16:creationId xmlns:a16="http://schemas.microsoft.com/office/drawing/2014/main" id="{94AFE482-806A-1C52-2B2E-9AA16AD8072C}"/>
              </a:ext>
            </a:extLst>
          </p:cNvPr>
          <p:cNvSpPr>
            <a:spLocks noGrp="1"/>
          </p:cNvSpPr>
          <p:nvPr>
            <p:ph idx="1"/>
          </p:nvPr>
        </p:nvSpPr>
        <p:spPr>
          <a:xfrm>
            <a:off x="838199" y="1690688"/>
            <a:ext cx="10515599" cy="4709724"/>
          </a:xfrm>
        </p:spPr>
        <p:txBody>
          <a:bodyPr>
            <a:normAutofit/>
          </a:bodyPr>
          <a:lstStyle/>
          <a:p>
            <a:pPr marL="0" indent="0">
              <a:buNone/>
            </a:pPr>
            <a:r>
              <a:rPr lang="en-CA" sz="2400" dirty="0">
                <a:latin typeface="Arial Nova Light" panose="020B0304020202020204" pitchFamily="34" charset="0"/>
              </a:rPr>
              <a:t>Links to documents:</a:t>
            </a:r>
          </a:p>
          <a:p>
            <a:pPr marL="0" indent="0">
              <a:buNone/>
            </a:pPr>
            <a:endParaRPr lang="en-CA" sz="1800" dirty="0">
              <a:latin typeface="Arial Nova Light" panose="020B0304020202020204" pitchFamily="34" charset="0"/>
            </a:endParaRPr>
          </a:p>
          <a:p>
            <a:r>
              <a:rPr lang="en-CA" sz="2400" dirty="0">
                <a:hlinkClick r:id="rId3"/>
              </a:rPr>
              <a:t>Trent Research Ethics Board</a:t>
            </a:r>
            <a:endParaRPr lang="en-CA" sz="2400" dirty="0">
              <a:latin typeface="Arial Nova Light" panose="020B0304020202020204" pitchFamily="34" charset="0"/>
              <a:hlinkClick r:id="rId4"/>
            </a:endParaRPr>
          </a:p>
          <a:p>
            <a:r>
              <a:rPr lang="en-CA" sz="2400" dirty="0">
                <a:latin typeface="Arial Nova Light" panose="020B0304020202020204" pitchFamily="34" charset="0"/>
                <a:hlinkClick r:id="rId4"/>
              </a:rPr>
              <a:t>TCPS 2 (2022)</a:t>
            </a:r>
            <a:r>
              <a:rPr lang="en-CA" sz="2400" dirty="0">
                <a:latin typeface="Arial Nova Light" panose="020B0304020202020204" pitchFamily="34" charset="0"/>
              </a:rPr>
              <a:t> (Canada, Tri-council Policy Statement)</a:t>
            </a:r>
            <a:endParaRPr lang="en-US" sz="1600" dirty="0">
              <a:latin typeface="Arial Nova Light" panose="020B0304020202020204" pitchFamily="34" charset="0"/>
            </a:endParaRPr>
          </a:p>
          <a:p>
            <a:r>
              <a:rPr lang="en-US" sz="2400" dirty="0">
                <a:latin typeface="Arial Nova Light" panose="020B0304020202020204" pitchFamily="34" charset="0"/>
                <a:hlinkClick r:id="rId5"/>
              </a:rPr>
              <a:t>On being a scientist (2009)</a:t>
            </a:r>
            <a:r>
              <a:rPr lang="en-US" sz="2400" dirty="0">
                <a:latin typeface="Arial Nova Light" panose="020B0304020202020204" pitchFamily="34" charset="0"/>
              </a:rPr>
              <a:t> (US National Academy of Science)</a:t>
            </a:r>
          </a:p>
          <a:p>
            <a:r>
              <a:rPr lang="en-US" sz="2400" dirty="0">
                <a:hlinkClick r:id="rId6"/>
              </a:rPr>
              <a:t>On being a scientist (2026)</a:t>
            </a:r>
            <a:r>
              <a:rPr lang="en-US" sz="2400" dirty="0"/>
              <a:t> (US National Academy of Science)</a:t>
            </a:r>
            <a:endParaRPr lang="en-US" sz="2400" dirty="0">
              <a:latin typeface="Arial Nova Light" panose="020B0304020202020204" pitchFamily="34" charset="0"/>
            </a:endParaRPr>
          </a:p>
          <a:p>
            <a:pPr marL="0" indent="0">
              <a:buNone/>
            </a:pPr>
            <a:endParaRPr lang="en-US" sz="2000" dirty="0">
              <a:latin typeface="Arial Nova Light" panose="020B0304020202020204" pitchFamily="34" charset="0"/>
            </a:endParaRPr>
          </a:p>
          <a:p>
            <a:pPr marL="0" indent="0">
              <a:buNone/>
            </a:pPr>
            <a:r>
              <a:rPr lang="en-US" sz="2400" dirty="0"/>
              <a:t>Link to Training (get a certificate): </a:t>
            </a:r>
            <a:r>
              <a:rPr lang="en-US" sz="2400" dirty="0">
                <a:hlinkClick r:id="rId7"/>
              </a:rPr>
              <a:t>https://tcps2core.ca/welcome</a:t>
            </a:r>
            <a:r>
              <a:rPr lang="en-US" sz="2400" dirty="0"/>
              <a:t> </a:t>
            </a:r>
            <a:endParaRPr lang="en-US" sz="2400" dirty="0">
              <a:latin typeface="Arial Nova Light" panose="020B0304020202020204" pitchFamily="34" charset="0"/>
            </a:endParaRPr>
          </a:p>
        </p:txBody>
      </p:sp>
    </p:spTree>
    <p:extLst>
      <p:ext uri="{BB962C8B-B14F-4D97-AF65-F5344CB8AC3E}">
        <p14:creationId xmlns:p14="http://schemas.microsoft.com/office/powerpoint/2010/main" val="213133113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44FE3-C3C5-530E-D3FB-C4514679EF2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35EA2D0-3F1B-6BC0-EE31-84DAD8BEB18F}"/>
              </a:ext>
            </a:extLst>
          </p:cNvPr>
          <p:cNvSpPr>
            <a:spLocks noGrp="1"/>
          </p:cNvSpPr>
          <p:nvPr>
            <p:ph idx="1"/>
          </p:nvPr>
        </p:nvSpPr>
        <p:spPr>
          <a:xfrm>
            <a:off x="838200" y="3175000"/>
            <a:ext cx="10515599" cy="2971412"/>
          </a:xfrm>
        </p:spPr>
        <p:txBody>
          <a:bodyPr>
            <a:normAutofit/>
          </a:bodyPr>
          <a:lstStyle/>
          <a:p>
            <a:pPr marL="0" indent="0">
              <a:buNone/>
            </a:pPr>
            <a:r>
              <a:rPr lang="en-CA" sz="2400" dirty="0">
                <a:latin typeface="Arial Nova Light" panose="020B0304020202020204" pitchFamily="34" charset="0"/>
              </a:rPr>
              <a:t>Good luck with content quizzes 5a and 5b!</a:t>
            </a:r>
          </a:p>
          <a:p>
            <a:pPr marL="0" indent="0">
              <a:buNone/>
            </a:pPr>
            <a:r>
              <a:rPr lang="en-CA" sz="2400" dirty="0">
                <a:latin typeface="Arial Nova Light" panose="020B0304020202020204" pitchFamily="34" charset="0"/>
              </a:rPr>
              <a:t>(Due November 5th at 11:59 PM)</a:t>
            </a:r>
            <a:endParaRPr lang="en-US" sz="2400" dirty="0">
              <a:latin typeface="Arial Nova Light" panose="020B0304020202020204" pitchFamily="34" charset="0"/>
            </a:endParaRPr>
          </a:p>
        </p:txBody>
      </p:sp>
    </p:spTree>
    <p:extLst>
      <p:ext uri="{BB962C8B-B14F-4D97-AF65-F5344CB8AC3E}">
        <p14:creationId xmlns:p14="http://schemas.microsoft.com/office/powerpoint/2010/main" val="402807483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3757</TotalTime>
  <Words>5085</Words>
  <Application>Microsoft Macintosh PowerPoint</Application>
  <PresentationFormat>Widescreen</PresentationFormat>
  <Paragraphs>489</Paragraphs>
  <Slides>88</Slides>
  <Notes>13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88</vt:i4>
      </vt:variant>
    </vt:vector>
  </HeadingPairs>
  <TitlesOfParts>
    <vt:vector size="95" baseType="lpstr">
      <vt:lpstr>Aptos</vt:lpstr>
      <vt:lpstr>Arial</vt:lpstr>
      <vt:lpstr>Arial Nova Light</vt:lpstr>
      <vt:lpstr>Calibri</vt:lpstr>
      <vt:lpstr>Calibri Light</vt:lpstr>
      <vt:lpstr>1_Office Theme</vt:lpstr>
      <vt:lpstr>2_Office Theme</vt:lpstr>
      <vt:lpstr>Research 101</vt:lpstr>
      <vt:lpstr>What is research?</vt:lpstr>
      <vt:lpstr>Reasons people conduct research</vt:lpstr>
      <vt:lpstr>Methods vs Methodology</vt:lpstr>
      <vt:lpstr>General steps in the craft of research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Opioid Epidemic </vt:lpstr>
      <vt:lpstr>How forensic science labs identify drugs</vt:lpstr>
      <vt:lpstr>How forensic science labs identify drugs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a research proposal?</vt:lpstr>
      <vt:lpstr>Parts of a research proposal/plan</vt:lpstr>
      <vt:lpstr>Research Teams</vt:lpstr>
      <vt:lpstr>Research Teams</vt:lpstr>
      <vt:lpstr>Research at Trent – UG Classes</vt:lpstr>
      <vt:lpstr>Research at Trent – UG Classes</vt:lpstr>
      <vt:lpstr>Research at Trent – UG Classes</vt:lpstr>
      <vt:lpstr>Research at Trent – UG Classes</vt:lpstr>
      <vt:lpstr>Research at Trent – UG Work</vt:lpstr>
      <vt:lpstr>Research at Trent – Graduate School</vt:lpstr>
      <vt:lpstr>Advisors and mentors</vt:lpstr>
      <vt:lpstr>Research at Trent University – Faculty </vt:lpstr>
      <vt:lpstr>Research at Trent University – Faculty </vt:lpstr>
      <vt:lpstr>Research at Trent University – Faculty </vt:lpstr>
      <vt:lpstr>Research at Trent University – Faculty </vt:lpstr>
      <vt:lpstr>Research at Trent University – Faculty </vt:lpstr>
      <vt:lpstr>Research at Trent University – Faculty </vt:lpstr>
      <vt:lpstr>Research at Trent University – Faculty </vt:lpstr>
      <vt:lpstr>Research at Trent University – Faculty </vt:lpstr>
      <vt:lpstr>Research at Trent University – Faculty </vt:lpstr>
      <vt:lpstr>Approaching a faculty advisor</vt:lpstr>
      <vt:lpstr>Approaching a faculty advisor</vt:lpstr>
      <vt:lpstr>On informational interviews</vt:lpstr>
      <vt:lpstr>Working in a research lab</vt:lpstr>
      <vt:lpstr>Things to ponder (leading to 4th year)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ETHICS AND RESPONSIBILITIES</vt:lpstr>
      <vt:lpstr>Ethical considerations in Forensic Science</vt:lpstr>
      <vt:lpstr>Ethics as a professional forensic scientist</vt:lpstr>
      <vt:lpstr>CSFS Rules of Professional Conduct </vt:lpstr>
      <vt:lpstr>CSFS Rules of Professional Conduct </vt:lpstr>
      <vt:lpstr>CSFS Rules of Professional Conduct </vt:lpstr>
      <vt:lpstr>CSFS Rules of Professional Conduct </vt:lpstr>
      <vt:lpstr>Applied ethics in professional practice</vt:lpstr>
      <vt:lpstr>Example 1: Selective Evidence</vt:lpstr>
      <vt:lpstr>Example 1: Selective Evidence</vt:lpstr>
      <vt:lpstr>Example 1: Selective Evidence</vt:lpstr>
      <vt:lpstr>Example 1: Selective Evidence</vt:lpstr>
      <vt:lpstr>Example 2: Rumored incompetence</vt:lpstr>
      <vt:lpstr>Example 2: Rumored incompetence</vt:lpstr>
      <vt:lpstr>Example 2: Rumored incompetence</vt:lpstr>
      <vt:lpstr>Example 2: Rumored incompetence</vt:lpstr>
      <vt:lpstr>Some example “Codes of Ethics”</vt:lpstr>
      <vt:lpstr>Ethics as a researcher</vt:lpstr>
      <vt:lpstr>Research Ethics Board</vt:lpstr>
      <vt:lpstr>Research Ethics Board</vt:lpstr>
      <vt:lpstr>Research Ethics Board</vt:lpstr>
      <vt:lpstr>Research Ethics Guidance Documents</vt:lpstr>
      <vt:lpstr>Research Ethics Guidance Documents</vt:lpstr>
      <vt:lpstr>Research Ethics Guidance Documents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Arun Moorthy</cp:lastModifiedBy>
  <cp:revision>6</cp:revision>
  <dcterms:created xsi:type="dcterms:W3CDTF">2024-07-16T19:37:01Z</dcterms:created>
  <dcterms:modified xsi:type="dcterms:W3CDTF">2026-10-12T22:23:49Z</dcterms:modified>
</cp:coreProperties>
</file>